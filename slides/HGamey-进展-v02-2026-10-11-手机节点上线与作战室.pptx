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这一版" id="{2c82a530-6f17-a27c-e29f-ec27bfe0d211}">
          <p14:sldIdLst>
            <p14:sldId id="256"/>
            <p14:sldId id="257"/>
          </p14:sldIdLst>
        </p14:section>
        <p14:section name="全局" id="{f2218a67-555e-4792-52fb-ed12001c53ad}">
          <p14:sldIdLst>
            <p14:sldId id="258"/>
            <p14:sldId id="259"/>
          </p14:sldIdLst>
        </p14:section>
        <p14:section name="手机节点与作战室" id="{63e6eb5c-6f1d-0f2b-18f4-895ae121c34c}">
          <p14:sldIdLst>
            <p14:sldId id="260"/>
            <p14:sldId id="261"/>
          </p14:sldIdLst>
        </p14:section>
        <p14:section name="今天的改动" id="{822ff846-d9a0-5e36-aca9-c61839cdd4a1}">
          <p14:sldIdLst>
            <p14:sldId id="262"/>
            <p14:sldId id="263"/>
          </p14:sldIdLst>
        </p14:section>
        <p14:section name="已有的真机结果" id="{7a1e2627-d888-6102-9b2a-e08921f35e54}">
          <p14:sldIdLst>
            <p14:sldId id="264"/>
            <p14:sldId id="265"/>
            <p14:sldId id="266"/>
          </p14:sldIdLst>
        </p14:section>
        <p14:section name="下一步" id="{5f7d4d33-866f-8762-d109-7a717f1ba415}">
          <p14:sldIdLst>
            <p14:sldId id="267"/>
          </p14:sldIdLst>
        </p14:section>
        <p14:section name="同事与协调" id="{614e27fb-0487-5ed9-b922-bea0584a5d4e}">
          <p14:sldIdLst>
            <p14:sldId id="268"/>
          </p14:sldIdLst>
        </p14:section>
        <p14:section name="附录" id="{bd5d093b-9be6-a169-f070-45177ae8bdb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这一版的成果：手机节点（phone.liyao.space）上线、作战室实况看板、10-11 当天合并的一批 PR。数字来源写在每页备注里；PR 数由 collect.py 现查 GitHub。人名只写 GitHub 账号。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手机节点：HGamey/harness-ops #1–#6。作战室：harness-ops #2。今天合并数：collect.py，作者 BH3GEI、10-11（太平洋时间）合并。提前停：BH3GEI/phonefarm #78，11 组历史数据（每组 10 次测量）离线重放，110 次省 33 次；真机还没验证。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来源：~/projects/_wt/ROADMAP.md「总蓝图」（10-11 14:00 owner 认可）。阶段 0：手机节点 harness-ops #1–#6；判官自检 BH3GEI/phonefarm #80 #84 #88、refbench #4，真机校准在跑。阶段 1：一帧步骤清单 PF #85。阶段 3：提前停 PF #78、出方案接口 GOL #39、云端出方案 GOL #47、上机前守门 GOL #46（缺省关，准不准还没数据）。阶段 4：零人工接入 PF #83（真机未验证）。阶段 5：作战室 harness-ops #2。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参照 diagrams/01-harness-overview。新加：外部进程/对比模式（GOL #39 #40 #44）、云端 pi + Kimi（GOL #47）、上机前守门（GOL #46，用 TypeSafe Jev 估「值不值得花一次真机评测」，缺省不开、可只记不挡）、设备锁（PF #77 #81 #87、GOL #41）、提前停与判官自检（PF #78 #80 #84 #88）、新游戏零人工接入（PF #83 #89、GOL #45）。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来源：HGamey/harness-ops node/node_service.py 与 pf-node。/jobs 给开发机 agent 发真机任务（pf-node 客户端）；/mcp 给云端出方案只读查询手机状态（白名单工具，GOL #47 的 pi + Kimi 用）；/dash 作战室（独立查看密码）。节点只听本机端口，经 Cloudflare Tunnel 出网，要令牌。自更新：harness-ops #3 #4 #5；任务重启修复 #1。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截图：10-11 14:27 PDT 的作战室（https://phone.liyao.space/dash，只读）。当时设备锁在 open 手里，judge、speed 排队；judge 在跑判官校准。看板测量时不截图、不读前台应用，避免干扰测量。来源 harness-ops #2。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清单由 collect.py 现查（auto.our_today）。真机未验证的：PF #78（提前停）、#80（判官自检）、#83（新游戏接入）、GOL #45、#46（守门准不准还没数据）。PF #76：修复前 Rust 路径上的判定没有把功耗比较和温度上限算进去。PF #86：ftrace 全局缓冲被常开事件冲满，10 秒采集只剩约 1 秒，改到私有实例里采。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来源：BH3GEI/phonefarm #78 描述里的回放表（11 组完整 5v5，每组 10 臂；「次测量」= 臂）。规则：每跑完一臂，算剩下的轮次取任何值时各指标「显著改善」的置换检验 p 值下界；全部 ≥ α_win 就必然不保留，当场停。只截「必然不保留」一侧，保留的永远跑满，不是序贯检验，错误率不变。真机没验证。图里「留下」的两组是已知有效的旧开关（loop_v1 DDR boost、refbench 带宽开关）。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图：fig/quality.html，数据 phonefarm knobs/evidence/09_upop/quality_diff.json（逐像素平均绝对差 MAD）。裁图：knobs/evidence/09_upop/{tree,stairs,sign}_a_b_ref.png，每张从上到下：游戏自带放大、我们的算子、原生画面。我们的算子目前是 2×2 双线性，只是占位。来源 BH3GEI/phonefarm #64。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裁图来源：phonefarm knobs/evidence/09_upop/{tree,stairs,sign}_a_b_ref.png（转成 JPEG 以减小体积）。同位置、同视角、同一时辰；渲染精度「低」。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来源：STATUS.md「灰档真超分算子 upop A/B」，BH3GEI/phonefarm #64。原始数：frame_p95 19.661 → 19.624 ms（p_lose 0.571）、fps_mean 59.178 → 59.269（0.881）、power 2.789 → 2.903 W（0.278）。5v5 精确置换检验，α_lose = 0.05。anantheparty 在 .github #11 指出：按预先冻结的非劣效界看属于证据不足；+3.3 dB / +0.22 ms 是 refbench 帧时 + 19 张静态帧画质。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来源：ROADMAP.md「总蓝图」与判断规则：原神查不出值得去的步骤就换游戏；开关 2 轮无收益就转系统参数/超分并写明「此路无收益」；手机使用顺序 判官 → onboard → core → 其他。阶段完成时出新一版 deck（v03：判官准确率；v04：原神多余步骤报告……）。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同事 PR 由 collect.py 现查（auto.colleague_prs）。分组是人工归类。草稿 PR 描述里写明没有动手机（No phone… 0 tokens）。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auto.our_today 生成（作者 BH3GEI、当天合并、太平洋时间）。标题过长时截断，全文见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HGamey 进展 v02 · 2026-10-11 · 手机节点上线与作战室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HGamey 进展 v02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手机节点上线、作战室，以及今天合并的 32 个改动</a:t>
            </a:r>
            <a:endParaRPr lang="en-US" sz="2000" dirty="0"/>
          </a:p>
        </p:txBody>
      </p:sp>
      <p:sp>
        <p:nvSpPr>
          <p:cNvPr id="5" name="line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2026-10-11 · BH3GEI · 上一版 v01：同日「近一个月进展」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这一版：手机能远程排队用了，提速和找多余步骤的工具也备好了</a:t>
            </a:r>
            <a:endParaRPr lang="en-US" sz="2800" dirty="0"/>
          </a:p>
        </p:txBody>
      </p:sp>
      <p:sp>
        <p:nvSpPr>
          <p:cNvPr id="4" name="card0"/>
          <p:cNvSpPr/>
          <p:nvPr/>
        </p:nvSpPr>
        <p:spPr>
          <a:xfrm>
            <a:off x="548640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ard0-big"/>
          <p:cNvSpPr txBox="1"/>
          <p:nvPr/>
        </p:nvSpPr>
        <p:spPr>
          <a:xfrm>
            <a:off x="777240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上线</a:t>
            </a:r>
            <a:endParaRPr lang="en-US" sz="4000" dirty="0"/>
          </a:p>
        </p:txBody>
      </p:sp>
      <p:sp>
        <p:nvSpPr>
          <p:cNvPr id="6" name="card0-label"/>
          <p:cNvSpPr txBox="1"/>
          <p:nvPr/>
        </p:nvSpPr>
        <p:spPr>
          <a:xfrm>
            <a:off x="777240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手机节点</a:t>
            </a:r>
            <a:endParaRPr lang="en-US" sz="1500" dirty="0"/>
          </a:p>
        </p:txBody>
      </p:sp>
      <p:sp>
        <p:nvSpPr>
          <p:cNvPr id="7" name="card0-text"/>
          <p:cNvSpPr txBox="1"/>
          <p:nvPr/>
        </p:nvSpPr>
        <p:spPr>
          <a:xfrm>
            <a:off x="777240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开发机上的 agent 和云端出方案都经同一个加密入口用手机，碰手机的命令自己排队</a:t>
            </a:r>
            <a:endParaRPr lang="en-US" sz="1300" dirty="0"/>
          </a:p>
        </p:txBody>
      </p:sp>
      <p:sp>
        <p:nvSpPr>
          <p:cNvPr id="8" name="card1"/>
          <p:cNvSpPr/>
          <p:nvPr/>
        </p:nvSpPr>
        <p:spPr>
          <a:xfrm>
            <a:off x="3390824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ard1-big"/>
          <p:cNvSpPr txBox="1"/>
          <p:nvPr/>
        </p:nvSpPr>
        <p:spPr>
          <a:xfrm>
            <a:off x="3619424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作战室</a:t>
            </a:r>
            <a:endParaRPr lang="en-US" sz="3400" dirty="0"/>
          </a:p>
        </p:txBody>
      </p:sp>
      <p:sp>
        <p:nvSpPr>
          <p:cNvPr id="10" name="card1-label"/>
          <p:cNvSpPr txBox="1"/>
          <p:nvPr/>
        </p:nvSpPr>
        <p:spPr>
          <a:xfrm>
            <a:off x="3619424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实况看板</a:t>
            </a:r>
            <a:endParaRPr lang="en-US" sz="1500" dirty="0"/>
          </a:p>
        </p:txBody>
      </p:sp>
      <p:sp>
        <p:nvSpPr>
          <p:cNvPr id="11" name="card1-text"/>
          <p:cNvSpPr txBox="1"/>
          <p:nvPr/>
        </p:nvSpPr>
        <p:spPr>
          <a:xfrm>
            <a:off x="3619424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手机温度、谁在用手机、排队、实时日志一页看完；只读，不打扰测量</a:t>
            </a:r>
            <a:endParaRPr lang="en-US" sz="1300" dirty="0"/>
          </a:p>
        </p:txBody>
      </p:sp>
      <p:sp>
        <p:nvSpPr>
          <p:cNvPr id="12" name="card2"/>
          <p:cNvSpPr/>
          <p:nvPr/>
        </p:nvSpPr>
        <p:spPr>
          <a:xfrm>
            <a:off x="6233008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2-big"/>
          <p:cNvSpPr txBox="1"/>
          <p:nvPr/>
        </p:nvSpPr>
        <p:spPr>
          <a:xfrm>
            <a:off x="6461608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32</a:t>
            </a:r>
            <a:endParaRPr lang="en-US" sz="4000" dirty="0"/>
          </a:p>
        </p:txBody>
      </p:sp>
      <p:sp>
        <p:nvSpPr>
          <p:cNvPr id="14" name="card2-label"/>
          <p:cNvSpPr txBox="1"/>
          <p:nvPr/>
        </p:nvSpPr>
        <p:spPr>
          <a:xfrm>
            <a:off x="6461608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个改动今天合并</a:t>
            </a:r>
            <a:endParaRPr lang="en-US" sz="1500" dirty="0"/>
          </a:p>
        </p:txBody>
      </p:sp>
      <p:sp>
        <p:nvSpPr>
          <p:cNvPr id="15" name="card2-text"/>
          <p:cNvSpPr txBox="1"/>
          <p:nvPr/>
        </p:nvSpPr>
        <p:spPr>
          <a:xfrm>
            <a:off x="6461608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设备锁、判官自检、提前停、新游戏接入、云端出方案、找多余步骤的工具</a:t>
            </a:r>
            <a:endParaRPr lang="en-US" sz="1300" dirty="0"/>
          </a:p>
        </p:txBody>
      </p:sp>
      <p:sp>
        <p:nvSpPr>
          <p:cNvPr id="16" name="card3"/>
          <p:cNvSpPr/>
          <p:nvPr/>
        </p:nvSpPr>
        <p:spPr>
          <a:xfrm>
            <a:off x="9075191" y="1325880"/>
            <a:ext cx="2567864" cy="3611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card3-big"/>
          <p:cNvSpPr txBox="1"/>
          <p:nvPr/>
        </p:nvSpPr>
        <p:spPr>
          <a:xfrm>
            <a:off x="9303791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省 30%</a:t>
            </a:r>
            <a:endParaRPr lang="en-US" sz="3400" dirty="0"/>
          </a:p>
        </p:txBody>
      </p:sp>
      <p:sp>
        <p:nvSpPr>
          <p:cNvPr id="18" name="card3-label"/>
          <p:cNvSpPr txBox="1"/>
          <p:nvPr/>
        </p:nvSpPr>
        <p:spPr>
          <a:xfrm>
            <a:off x="9303791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测量次数（提前停）</a:t>
            </a:r>
            <a:endParaRPr lang="en-US" sz="1500" dirty="0"/>
          </a:p>
        </p:txBody>
      </p:sp>
      <p:sp>
        <p:nvSpPr>
          <p:cNvPr id="19" name="card3-text"/>
          <p:cNvSpPr txBox="1"/>
          <p:nvPr/>
        </p:nvSpPr>
        <p:spPr>
          <a:xfrm>
            <a:off x="9303791" y="3200400"/>
            <a:ext cx="2110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注定留不下的候选当场停，结论和跑满完全一致；目前是用历史数据重放验证的</a:t>
            </a:r>
            <a:endParaRPr lang="en-US" sz="1300" dirty="0"/>
          </a:p>
        </p:txBody>
      </p:sp>
      <p:sp>
        <p:nvSpPr>
          <p:cNvPr id="20" name="bottom-bg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bottom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下一步：不改原神代码，让 AI 找出画面里多余的步骤并去掉，在真机上证明更省电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总蓝图六步：地基和检查在做，后面几步的部件已经备好</a:t>
            </a:r>
            <a:endParaRPr lang="en-US" sz="2800" dirty="0"/>
          </a:p>
        </p:txBody>
      </p:sp>
      <p:pic>
        <p:nvPicPr>
          <p:cNvPr id="4" name="fig" descr="/Users/yao/projects/_wt/ppt/docs/slides/src/progress/fig/out/blue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2064"/>
            <a:ext cx="11094415" cy="4345313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◐ 进行中　◔ 部件就位：代码已合并、还没在这一步真用　○ 未开始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harness 全貌：出方案的、被测的都能插拔，今天又补上五块</a:t>
            </a:r>
            <a:endParaRPr lang="en-US" sz="2800" dirty="0"/>
          </a:p>
        </p:txBody>
      </p:sp>
      <p:pic>
        <p:nvPicPr>
          <p:cNvPr id="4" name="fig" descr="/Users/yao/projects/_wt/ppt/docs/slides/src/progress/fig/out/ha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188720"/>
            <a:ext cx="9144000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黄色「新」= 这次新加的部分；好坏始终由 harness 判定，出方案的一方改不了规则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手机节点：所有人经一个加密入口，排队用同一台手机</a:t>
            </a:r>
            <a:endParaRPr lang="en-US" sz="2800" dirty="0"/>
          </a:p>
        </p:txBody>
      </p:sp>
      <p:pic>
        <p:nvPicPr>
          <p:cNvPr id="4" name="fig" descr="/Users/yao/projects/_wt/ppt/docs/slides/src/progress/fig/out/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11" y="1188720"/>
            <a:ext cx="9975273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开发机和手机不必在一起；节点合并代码后自己编译更新，不再从开发机传文件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作战室：谁在用手机、温度多少、在跑什么，一页看完</a:t>
            </a:r>
            <a:endParaRPr lang="en-US" sz="2800" dirty="0"/>
          </a:p>
        </p:txBody>
      </p:sp>
      <p:pic>
        <p:nvPicPr>
          <p:cNvPr id="4" name="shot0" descr="/Users/yao/projects/_wt/ppt/docs/slides/src/progress/img/warroom-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793" y="1188720"/>
            <a:ext cx="5445558" cy="4572000"/>
          </a:xfrm>
          <a:prstGeom prst="rect">
            <a:avLst/>
          </a:prstGeom>
        </p:spPr>
      </p:pic>
      <p:sp>
        <p:nvSpPr>
          <p:cNvPr id="5" name="shot0-frame"/>
          <p:cNvSpPr/>
          <p:nvPr/>
        </p:nvSpPr>
        <p:spPr>
          <a:xfrm>
            <a:off x="1699793" y="1188720"/>
            <a:ext cx="5445558" cy="4572000"/>
          </a:xfrm>
          <a:prstGeom prst="rect">
            <a:avLst/>
          </a:prstGeom>
          <a:ln w="9525">
            <a:solidFill>
              <a:srgbClr val="D8DCE2"/>
            </a:solidFill>
            <a:prstDash val="solid"/>
          </a:ln>
        </p:spPr>
      </p:sp>
      <p:sp>
        <p:nvSpPr>
          <p:cNvPr id="6" name="shot0-l"/>
          <p:cNvSpPr txBox="1"/>
          <p:nvPr/>
        </p:nvSpPr>
        <p:spPr>
          <a:xfrm>
            <a:off x="548640" y="5852160"/>
            <a:ext cx="77478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电脑上：手机状态、设备锁与排队、任务、实时日志、实验结果</a:t>
            </a:r>
            <a:endParaRPr lang="en-US" sz="1300" dirty="0"/>
          </a:p>
        </p:txBody>
      </p:sp>
      <p:pic>
        <p:nvPicPr>
          <p:cNvPr id="7" name="shot1" descr="/Users/yao/projects/_wt/ppt/docs/slides/src/progress/img/warroom-mobile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309" y="1188720"/>
            <a:ext cx="1620982" cy="4572000"/>
          </a:xfrm>
          <a:prstGeom prst="rect">
            <a:avLst/>
          </a:prstGeom>
        </p:spPr>
      </p:pic>
      <p:sp>
        <p:nvSpPr>
          <p:cNvPr id="8" name="shot1-frame"/>
          <p:cNvSpPr/>
          <p:nvPr/>
        </p:nvSpPr>
        <p:spPr>
          <a:xfrm>
            <a:off x="9319309" y="1188720"/>
            <a:ext cx="1620982" cy="4572000"/>
          </a:xfrm>
          <a:prstGeom prst="rect">
            <a:avLst/>
          </a:prstGeom>
          <a:ln w="9525">
            <a:solidFill>
              <a:srgbClr val="D8DCE2"/>
            </a:solidFill>
            <a:prstDash val="solid"/>
          </a:ln>
        </p:spPr>
      </p:sp>
      <p:sp>
        <p:nvSpPr>
          <p:cNvPr id="9" name="shot1-l"/>
          <p:cNvSpPr txBox="1"/>
          <p:nvPr/>
        </p:nvSpPr>
        <p:spPr>
          <a:xfrm>
            <a:off x="8616545" y="5852160"/>
            <a:ext cx="3026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手机上看（上半屏）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今天合并 32 个改动：手机更好排队、判官能自检、测量更快</a:t>
            </a:r>
            <a:endParaRPr lang="en-US" sz="2800" dirty="0"/>
          </a:p>
        </p:txBody>
      </p:sp>
      <p:graphicFrame>
        <p:nvGraphicFramePr>
          <p:cNvPr id="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  <a:gridCol w="286207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做了什么（大白话）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手机节点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远程用手机的入口、作战室、节点自己更新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harness-ops #1–#6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设备锁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碰手机的命令自己拿锁、排队、放锁；修了两处漏拿和编译问题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PF #77 #81 #87 · GOL #41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判官自检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用答案已知的考题考判官，看它判得准不准；开场先把手机归位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PF #80 #84 #88 · refbench #4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测得更快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注定留不下的候选提前停；出方案和等手机降温同时进行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PF #78 #82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测得更准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耗电和温度上限此前没算进判定，已补上；采集缓冲被挤爆的问题修好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PF #76 #86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新游戏接入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没见过的游戏零人工接进来；收尾确认手机静音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PF #83 #89 · GOL #45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出方案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统一出方案接口、多个方案对比、指定层数代数、云端出方案、上机前守门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GOL #39 #40 #42 – #44 #46 #47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找多余步骤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读出游戏一帧里的全部步骤，离线找可能多余的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PF #85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其他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新平台只需实现一个设备接口；v01 PPT 与图表系统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PF #79 · docs #6 #7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PF = BH3GEI/phonefarm，GOL = HGamey/game_opt_loop。标「真机未验证」的见附录与备注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提前停：注定留不下的候选当场停，省下三成测量，结论不变</a:t>
            </a:r>
            <a:endParaRPr lang="en-US" sz="2800" dirty="0"/>
          </a:p>
        </p:txBody>
      </p:sp>
      <p:pic>
        <p:nvPicPr>
          <p:cNvPr id="4" name="fig" descr="/Users/yao/projects/_wt/ppt/docs/slides/src/progress/fig/out/cur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188720"/>
            <a:ext cx="1005840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我们的放大算子比游戏自带的更接近原生画面，最多接近 5 倍</a:t>
            </a:r>
            <a:endParaRPr lang="en-US" sz="2800" dirty="0"/>
          </a:p>
        </p:txBody>
      </p:sp>
      <p:pic>
        <p:nvPicPr>
          <p:cNvPr id="4" name="fig" descr="/Users/yao/projects/_wt/ppt/docs/slides/src/progress/fig/out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356" y="1188720"/>
            <a:ext cx="9298983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原神大世界，同一位置、同一视角、同一时辰；渲染精度调低后，分别用游戏自带放大和我们的算子放大，再和原生最高画质比。条越短越接近原生。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真机截图：我们的放大更清楚，接近原生画面</a:t>
            </a:r>
            <a:endParaRPr lang="en-US" sz="2800" dirty="0"/>
          </a:p>
        </p:txBody>
      </p:sp>
      <p:pic>
        <p:nvPicPr>
          <p:cNvPr id="4" name="crop0" descr="/Users/yao/projects/_wt/ppt/docs/slides/src/progress/img/tree_a_b_re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869" y="1188720"/>
            <a:ext cx="3048000" cy="4572000"/>
          </a:xfrm>
          <a:prstGeom prst="rect">
            <a:avLst/>
          </a:prstGeom>
        </p:spPr>
      </p:pic>
      <p:pic>
        <p:nvPicPr>
          <p:cNvPr id="5" name="crop1" descr="/Users/yao/projects/_wt/ppt/docs/slides/src/progress/img/stairs_a_b_re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208" y="1188720"/>
            <a:ext cx="3048000" cy="4572000"/>
          </a:xfrm>
          <a:prstGeom prst="rect">
            <a:avLst/>
          </a:prstGeom>
        </p:spPr>
      </p:pic>
      <p:pic>
        <p:nvPicPr>
          <p:cNvPr id="6" name="crop2" descr="/Users/yao/projects/_wt/ppt/docs/slides/src/progress/img/sign_a_b_re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546" y="1188720"/>
            <a:ext cx="3048000" cy="4572000"/>
          </a:xfrm>
          <a:prstGeom prst="rect">
            <a:avLst/>
          </a:prstGeom>
        </p:spPr>
      </p:pic>
      <p:sp>
        <p:nvSpPr>
          <p:cNvPr id="7" name="rl0"/>
          <p:cNvSpPr txBox="1"/>
          <p:nvPr/>
        </p:nvSpPr>
        <p:spPr>
          <a:xfrm>
            <a:off x="548640" y="1188720"/>
            <a:ext cx="1051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游戏自带</a:t>
            </a:r>
            <a:endParaRPr lang="en-US" sz="1500" dirty="0"/>
          </a:p>
        </p:txBody>
      </p:sp>
      <p:sp>
        <p:nvSpPr>
          <p:cNvPr id="8" name="rl1"/>
          <p:cNvSpPr txBox="1"/>
          <p:nvPr/>
        </p:nvSpPr>
        <p:spPr>
          <a:xfrm>
            <a:off x="548640" y="2712720"/>
            <a:ext cx="1051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我们的</a:t>
            </a:r>
            <a:endParaRPr lang="en-US" sz="1500" dirty="0"/>
          </a:p>
        </p:txBody>
      </p:sp>
      <p:sp>
        <p:nvSpPr>
          <p:cNvPr id="9" name="rl2"/>
          <p:cNvSpPr txBox="1"/>
          <p:nvPr/>
        </p:nvSpPr>
        <p:spPr>
          <a:xfrm>
            <a:off x="548640" y="4236720"/>
            <a:ext cx="1051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原生</a:t>
            </a:r>
            <a:endParaRPr lang="en-US" sz="1500" dirty="0"/>
          </a:p>
        </p:txBody>
      </p:sp>
      <p:sp>
        <p:nvSpPr>
          <p:cNvPr id="10" name="crop-cap"/>
          <p:cNvSpPr txBox="1"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原神真机截图局部：树、楼梯、招牌。每列从上到下：游戏自带放大、我们的算子、原生最高画质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换上我们的算子后，卡不卡、帧率、耗电都没测出变差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原神大世界，换前换后交替各测 5 次，测量时停止充电</a:t>
            </a:r>
            <a:endParaRPr lang="en-US" sz="1500" dirty="0"/>
          </a:p>
        </p:txBody>
      </p:sp>
      <p:graphicFrame>
        <p:nvGraphicFramePr>
          <p:cNvPr id="1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1645920"/>
                <a:gridCol w="2679192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指标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游戏自带放大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我们的算子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变化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测出变差了吗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卡顿（最慢那 5% 帧）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19.66 毫秒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19.62 毫秒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−0.2%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没有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每秒帧数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59.18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59.27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+0.2%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没有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整机耗电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2.79 瓦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2.90 瓦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+4.1%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没有（在波动范围内）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「没测出变差」不等于「证明了不变差」：对外的案例要按更严的标准重测（见下一步）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下一步：不改原神代码，让 AI 去掉画面里多余的步骤</a:t>
            </a:r>
            <a:endParaRPr lang="en-US" sz="2800" dirty="0"/>
          </a:p>
        </p:txBody>
      </p:sp>
      <p:sp>
        <p:nvSpPr>
          <p:cNvPr id="4" name="lead-bg"/>
          <p:cNvSpPr/>
          <p:nvPr/>
        </p:nvSpPr>
        <p:spPr>
          <a:xfrm>
            <a:off x="548640" y="1188720"/>
            <a:ext cx="11094415" cy="5943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lead"/>
          <p:cNvSpPr txBox="1"/>
          <p:nvPr/>
        </p:nvSpPr>
        <p:spPr>
          <a:xfrm>
            <a:off x="822960" y="11887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主线：在原神上做成，再换一个没见过的游戏全自动重做一遍</a:t>
            </a:r>
            <a:endParaRPr lang="en-US" sz="1600" dirty="0"/>
          </a:p>
        </p:txBody>
      </p:sp>
      <p:sp>
        <p:nvSpPr>
          <p:cNvPr id="6" name="st0-bg"/>
          <p:cNvSpPr/>
          <p:nvPr/>
        </p:nvSpPr>
        <p:spPr>
          <a:xfrm>
            <a:off x="548640" y="196596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t0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0-n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0-h"/>
          <p:cNvSpPr txBox="1"/>
          <p:nvPr/>
        </p:nvSpPr>
        <p:spPr>
          <a:xfrm>
            <a:off x="146304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判官先过体检</a:t>
            </a:r>
            <a:endParaRPr lang="en-US" sz="1700" dirty="0"/>
          </a:p>
        </p:txBody>
      </p:sp>
      <p:sp>
        <p:nvSpPr>
          <p:cNvPr id="10" name="st0-b"/>
          <p:cNvSpPr txBox="1"/>
          <p:nvPr/>
        </p:nvSpPr>
        <p:spPr>
          <a:xfrm>
            <a:off x="4663440" y="196596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用答案已知的考题在真机上考判官，得出它判得准不准</a:t>
            </a:r>
            <a:endParaRPr lang="en-US" sz="1350" dirty="0"/>
          </a:p>
        </p:txBody>
      </p:sp>
      <p:sp>
        <p:nvSpPr>
          <p:cNvPr id="11" name="st0-s-bg"/>
          <p:cNvSpPr/>
          <p:nvPr/>
        </p:nvSpPr>
        <p:spPr>
          <a:xfrm>
            <a:off x="10271455" y="214884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st0-s"/>
          <p:cNvSpPr txBox="1"/>
          <p:nvPr/>
        </p:nvSpPr>
        <p:spPr>
          <a:xfrm>
            <a:off x="10271455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13" name="st1-bg"/>
          <p:cNvSpPr/>
          <p:nvPr/>
        </p:nvSpPr>
        <p:spPr>
          <a:xfrm>
            <a:off x="548640" y="283464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st1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1-n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t1-h"/>
          <p:cNvSpPr txBox="1"/>
          <p:nvPr/>
        </p:nvSpPr>
        <p:spPr>
          <a:xfrm>
            <a:off x="146304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拆开原神的一帧</a:t>
            </a:r>
            <a:endParaRPr lang="en-US" sz="1700" dirty="0"/>
          </a:p>
        </p:txBody>
      </p:sp>
      <p:sp>
        <p:nvSpPr>
          <p:cNvPr id="17" name="st1-b"/>
          <p:cNvSpPr txBox="1"/>
          <p:nvPr/>
        </p:nvSpPr>
        <p:spPr>
          <a:xfrm>
            <a:off x="4663440" y="283464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列出每一步做了什么、花多少，找出多余的步骤</a:t>
            </a:r>
            <a:endParaRPr lang="en-US" sz="1350" dirty="0"/>
          </a:p>
        </p:txBody>
      </p:sp>
      <p:sp>
        <p:nvSpPr>
          <p:cNvPr id="18" name="st1-s-bg"/>
          <p:cNvSpPr/>
          <p:nvPr/>
        </p:nvSpPr>
        <p:spPr>
          <a:xfrm>
            <a:off x="10271455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9" name="st1-s"/>
          <p:cNvSpPr txBox="1"/>
          <p:nvPr/>
        </p:nvSpPr>
        <p:spPr>
          <a:xfrm>
            <a:off x="10271455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20" name="st2-bg"/>
          <p:cNvSpPr/>
          <p:nvPr/>
        </p:nvSpPr>
        <p:spPr>
          <a:xfrm>
            <a:off x="548640" y="370332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t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2-n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t2-h"/>
          <p:cNvSpPr txBox="1"/>
          <p:nvPr/>
        </p:nvSpPr>
        <p:spPr>
          <a:xfrm>
            <a:off x="14630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做成开关</a:t>
            </a:r>
            <a:endParaRPr lang="en-US" sz="1700" dirty="0"/>
          </a:p>
        </p:txBody>
      </p:sp>
      <p:sp>
        <p:nvSpPr>
          <p:cNvPr id="24" name="st2-b"/>
          <p:cNvSpPr txBox="1"/>
          <p:nvPr/>
        </p:nvSpPr>
        <p:spPr>
          <a:xfrm>
            <a:off x="4663440" y="370332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挑最值的几种做成可跳过的开关，真机上画面不出错</a:t>
            </a:r>
            <a:endParaRPr lang="en-US" sz="1350" dirty="0"/>
          </a:p>
        </p:txBody>
      </p:sp>
      <p:sp>
        <p:nvSpPr>
          <p:cNvPr id="25" name="st2-s-bg"/>
          <p:cNvSpPr/>
          <p:nvPr/>
        </p:nvSpPr>
        <p:spPr>
          <a:xfrm>
            <a:off x="10271455" y="38862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st2-s"/>
          <p:cNvSpPr txBox="1"/>
          <p:nvPr/>
        </p:nvSpPr>
        <p:spPr>
          <a:xfrm>
            <a:off x="10271455" y="3886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未开始</a:t>
            </a:r>
            <a:endParaRPr lang="en-US" sz="1200" dirty="0"/>
          </a:p>
        </p:txBody>
      </p:sp>
      <p:sp>
        <p:nvSpPr>
          <p:cNvPr id="27" name="st3-bg"/>
          <p:cNvSpPr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8" name="st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3-n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t3-h"/>
          <p:cNvSpPr txBox="1"/>
          <p:nvPr/>
        </p:nvSpPr>
        <p:spPr>
          <a:xfrm>
            <a:off x="146304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自动组合 3 代以上</a:t>
            </a:r>
            <a:endParaRPr lang="en-US" sz="1700" dirty="0"/>
          </a:p>
        </p:txBody>
      </p:sp>
      <p:sp>
        <p:nvSpPr>
          <p:cNvPr id="31" name="st3-b"/>
          <p:cNvSpPr txBox="1"/>
          <p:nvPr/>
        </p:nvSpPr>
        <p:spPr>
          <a:xfrm>
            <a:off x="4663440" y="457200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开关和系统参数一起试，判官定输赢；提前停、云端出方案用来提速</a:t>
            </a:r>
            <a:endParaRPr lang="en-US" sz="1350" dirty="0"/>
          </a:p>
        </p:txBody>
      </p:sp>
      <p:sp>
        <p:nvSpPr>
          <p:cNvPr id="32" name="st3-s-bg"/>
          <p:cNvSpPr/>
          <p:nvPr/>
        </p:nvSpPr>
        <p:spPr>
          <a:xfrm>
            <a:off x="10271455" y="475488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st3-s"/>
          <p:cNvSpPr txBox="1"/>
          <p:nvPr/>
        </p:nvSpPr>
        <p:spPr>
          <a:xfrm>
            <a:off x="10271455" y="4754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部件就位</a:t>
            </a:r>
            <a:endParaRPr lang="en-US" sz="1200" dirty="0"/>
          </a:p>
        </p:txBody>
      </p:sp>
      <p:sp>
        <p:nvSpPr>
          <p:cNvPr id="34" name="st4-bg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st4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st4-n"/>
          <p:cNvSpPr txBox="1"/>
          <p:nvPr/>
        </p:nvSpPr>
        <p:spPr>
          <a:xfrm>
            <a:off x="7772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t4-h"/>
          <p:cNvSpPr txBox="1"/>
          <p:nvPr/>
        </p:nvSpPr>
        <p:spPr>
          <a:xfrm>
            <a:off x="146304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换游戏重做</a:t>
            </a:r>
            <a:endParaRPr lang="en-US" sz="1700" dirty="0"/>
          </a:p>
        </p:txBody>
      </p:sp>
      <p:sp>
        <p:nvSpPr>
          <p:cNvPr id="38" name="st4-b"/>
          <p:cNvSpPr txBox="1"/>
          <p:nvPr/>
        </p:nvSpPr>
        <p:spPr>
          <a:xfrm>
            <a:off x="4663440" y="544068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新游戏零人工接入后，以上几步全自动再跑一遍</a:t>
            </a:r>
            <a:endParaRPr lang="en-US" sz="1350" dirty="0"/>
          </a:p>
        </p:txBody>
      </p:sp>
      <p:sp>
        <p:nvSpPr>
          <p:cNvPr id="39" name="st4-s-bg"/>
          <p:cNvSpPr/>
          <p:nvPr/>
        </p:nvSpPr>
        <p:spPr>
          <a:xfrm>
            <a:off x="10271455" y="562356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0" name="st4-s"/>
          <p:cNvSpPr txBox="1"/>
          <p:nvPr/>
        </p:nvSpPr>
        <p:spPr>
          <a:xfrm>
            <a:off x="10271455" y="5623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部件就位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同事那边和需要协调的事</a:t>
            </a:r>
            <a:endParaRPr lang="en-US" sz="2800" dirty="0"/>
          </a:p>
        </p:txBody>
      </p:sp>
      <p:sp>
        <p:nvSpPr>
          <p:cNvPr id="4" name="l-h"/>
          <p:cNvSpPr txBox="1"/>
          <p:nvPr/>
        </p:nvSpPr>
        <p:spPr>
          <a:xfrm>
            <a:off x="548640" y="1188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anantheparty：27 个草稿 PR，都还没合并、没上真机</a:t>
            </a:r>
            <a:endParaRPr lang="en-US" sz="1600" dirty="0"/>
          </a:p>
        </p:txBody>
      </p:sp>
      <p:sp>
        <p:nvSpPr>
          <p:cNvPr id="5" name="l-sum"/>
          <p:cNvSpPr txBox="1"/>
          <p:nvPr/>
        </p:nvSpPr>
        <p:spPr>
          <a:xfrm>
            <a:off x="548640" y="1645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方向是让结论更站得住：先定标准再测、探索和确认分开、每份证据都能追溯；在等一加 Ace5 到位后上真机。</a:t>
            </a:r>
            <a:endParaRPr lang="en-US" sz="1300" dirty="0"/>
          </a:p>
        </p:txBody>
      </p:sp>
      <p:graphicFrame>
        <p:nvGraphicFramePr>
          <p:cNvPr id="14" name="l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5852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草稿 PR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模型/算子工件流水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#30 #31 #34 #35 · PF #20 #21 #23 #24 #26 · refbench #2 #3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独立确认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#29 #37 #38 · PF #22 #25 #27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实验资格与证据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#18 · GOL #27 #32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专家筛选/连续画质/租约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#28 · PF #17 #19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交接文档与展示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docs #5 · GOL #26 #33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l-foot"/>
          <p:cNvSpPr txBox="1"/>
          <p:nvPr/>
        </p:nvSpPr>
        <p:spPr>
          <a:xfrm>
            <a:off x="548640" y="5440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这里 PF/GOL 指 HGamey/phonefarm、HGamey/game_opt_loop。会议诉求（0917/0924 纪要，YanPENG-2026）见 v01 第 12 页</a:t>
            </a:r>
            <a:endParaRPr lang="en-US" sz="1150" dirty="0"/>
          </a:p>
        </p:txBody>
      </p:sp>
      <p:sp>
        <p:nvSpPr>
          <p:cNvPr id="8" name="r-h"/>
          <p:cNvSpPr txBox="1"/>
          <p:nvPr/>
        </p:nvSpPr>
        <p:spPr>
          <a:xfrm>
            <a:off x="6766560" y="1188720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需要 owner 定的</a:t>
            </a:r>
            <a:endParaRPr lang="en-US" sz="1600" dirty="0"/>
          </a:p>
        </p:txBody>
      </p:sp>
      <p:sp>
        <p:nvSpPr>
          <p:cNvPr id="9" name="r0-bg"/>
          <p:cNvSpPr/>
          <p:nvPr/>
        </p:nvSpPr>
        <p:spPr>
          <a:xfrm>
            <a:off x="6766560" y="1691640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r0-h"/>
          <p:cNvSpPr txBox="1"/>
          <p:nvPr/>
        </p:nvSpPr>
        <p:spPr>
          <a:xfrm>
            <a:off x="6949440" y="1764792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分工</a:t>
            </a:r>
            <a:endParaRPr lang="en-US" sz="1400" dirty="0"/>
          </a:p>
        </p:txBody>
      </p:sp>
      <p:sp>
        <p:nvSpPr>
          <p:cNvPr id="11" name="r0-b"/>
          <p:cNvSpPr txBox="1"/>
          <p:nvPr/>
        </p:nvSpPr>
        <p:spPr>
          <a:xfrm>
            <a:off x="6949440" y="2084832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实验资格、设备租约、独立确认两边都在做，请定谁主谁辅</a:t>
            </a:r>
            <a:endParaRPr lang="en-US" sz="1200" dirty="0"/>
          </a:p>
        </p:txBody>
      </p:sp>
      <p:sp>
        <p:nvSpPr>
          <p:cNvPr id="12" name="r1-bg"/>
          <p:cNvSpPr/>
          <p:nvPr/>
        </p:nvSpPr>
        <p:spPr>
          <a:xfrm>
            <a:off x="6766560" y="2807208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r1-h"/>
          <p:cNvSpPr txBox="1"/>
          <p:nvPr/>
        </p:nvSpPr>
        <p:spPr>
          <a:xfrm>
            <a:off x="6949440" y="288036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提交路径</a:t>
            </a:r>
            <a:endParaRPr lang="en-US" sz="1400" dirty="0"/>
          </a:p>
        </p:txBody>
      </p:sp>
      <p:sp>
        <p:nvSpPr>
          <p:cNvPr id="14" name="r1-b"/>
          <p:cNvSpPr txBox="1"/>
          <p:nvPr/>
        </p:nvSpPr>
        <p:spPr>
          <a:xfrm>
            <a:off x="6949440" y="3200400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我们走 BH3GEI/phonefarm 再同步，对方直接提 HGamey/phonefarm，建议约定唯一上游</a:t>
            </a:r>
            <a:endParaRPr lang="en-US" sz="1200" dirty="0"/>
          </a:p>
        </p:txBody>
      </p:sp>
      <p:sp>
        <p:nvSpPr>
          <p:cNvPr id="15" name="r2-bg"/>
          <p:cNvSpPr/>
          <p:nvPr/>
        </p:nvSpPr>
        <p:spPr>
          <a:xfrm>
            <a:off x="6766560" y="3922776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r2-h"/>
          <p:cNvSpPr txBox="1"/>
          <p:nvPr/>
        </p:nvSpPr>
        <p:spPr>
          <a:xfrm>
            <a:off x="6949440" y="3995928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对外怎么说</a:t>
            </a:r>
            <a:endParaRPr lang="en-US" sz="1400" dirty="0"/>
          </a:p>
        </p:txBody>
      </p:sp>
      <p:sp>
        <p:nvSpPr>
          <p:cNvPr id="17" name="r2-b"/>
          <p:cNvSpPr txBox="1"/>
          <p:nvPr/>
        </p:nvSpPr>
        <p:spPr>
          <a:xfrm>
            <a:off x="6949440" y="4315968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画质和「没测出变差」的结论，建议统一按更严的标准重测后再报</a:t>
            </a:r>
            <a:endParaRPr lang="en-US" sz="1200" dirty="0"/>
          </a:p>
        </p:txBody>
      </p:sp>
      <p:sp>
        <p:nvSpPr>
          <p:cNvPr id="18" name="r3-bg"/>
          <p:cNvSpPr/>
          <p:nvPr/>
        </p:nvSpPr>
        <p:spPr>
          <a:xfrm>
            <a:off x="6766560" y="5038344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r3-h"/>
          <p:cNvSpPr txBox="1"/>
          <p:nvPr/>
        </p:nvSpPr>
        <p:spPr>
          <a:xfrm>
            <a:off x="6949440" y="5111496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设备</a:t>
            </a:r>
            <a:endParaRPr lang="en-US" sz="1400" dirty="0"/>
          </a:p>
        </p:txBody>
      </p:sp>
      <p:sp>
        <p:nvSpPr>
          <p:cNvPr id="20" name="r3-b"/>
          <p:cNvSpPr txBox="1"/>
          <p:nvPr/>
        </p:nvSpPr>
        <p:spPr>
          <a:xfrm>
            <a:off x="6949440" y="5431536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只有 1 台手机，agent 排队；0924 待办①的采购进展待确认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附录：今天合并的 PR</a:t>
            </a:r>
            <a:endParaRPr lang="en-US" sz="2800" dirty="0"/>
          </a:p>
        </p:txBody>
      </p:sp>
      <p:graphicFrame>
        <p:nvGraphicFramePr>
          <p:cNvPr id="15" name="col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#76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fix(eval/autoloop): 判定视图并上 env ——…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#77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feat(devlock): 碰设备的子命令自己拿锁、心跳、释放；…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#78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feat(eval/autoloop): 确定性截断 —— 跑满也…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#79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refactor(device): 设备接口 platform::…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feat(selftest): 判定链已知答案真机自检 phone…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fix(devlock): eval/gpu-op 裸调或没给请求…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feat(autoloop): 出方案与等冷重叠、--cool-e…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feat(onboard): 新游戏零人工接入 —— 进门状态机、…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feat(selftest): --only 按考题编号分段跑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feat(frame-audit): 灰档层只读一帧步骤清单 +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fix(ftrace_capture): 在私有 ftrace 实…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fix(devlock): main 编译不过 —— LOCKED…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fix(selftest): 开场把前台应用送回后台、GPU ma…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#89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fix(onboard): 收尾核对媒体音量为 0（手机必须静音）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docs #6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PPT：新增「HGamey 近一个月进展」（09-11 → 10-…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docs #7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slides：图表系统与画质差距图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col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#39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出方案接口 proposer@1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对比模式最小版 —— 多个 --p…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自己拿设备锁、心跳、释放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--layers/--genera…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fix(optimize): 指定形状时预算不再砍选中的层；大模型…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feat(compare): game_opt_loop comp…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读游戏档案 —— 内置表认不出的游…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上机前守门 Jev 守门（缺省不开…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feat(proposers): 云端出方案最小实现 —— pi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fix(jobs): 重启节点服务后老任务不再永远 running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feat(dash): 作战室 /dash 只读实况看板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节点自更新：从 GitHub 拉代码自己编译，部署不再从开发机传文件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节点更新程序改为原子替换，不影响正在跑的任务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部署时重启节点服务改为显式 --restart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节点更新 phonefarm 时顺带编译灰档层 .so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refbench #4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feat(selftest): 已知答案负载算子（供 phonef…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2026-10-11 合并 32 个（太平洋时间）；09-11 以来合计 134 个。数据截至 2026-10-11 15:11 PDT。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Gamey Monthly">
  <a:themeElements>
    <a:clrScheme name="HGamey Monthly">
      <a:dk1>
        <a:srgbClr val="0F2744"/>
      </a:dk1>
      <a:lt1>
        <a:srgbClr val="FFFFFF"/>
      </a:lt1>
      <a:dk2>
        <a:srgbClr val="5C6470"/>
      </a:dk2>
      <a:lt2>
        <a:srgbClr val="EEF2F7"/>
      </a:lt2>
      <a:accent1>
        <a:srgbClr val="1F4E79"/>
      </a:accent1>
      <a:accent2>
        <a:srgbClr val="0A806F"/>
      </a:accent2>
      <a:accent3>
        <a:srgbClr val="C2602E"/>
      </a:accent3>
      <a:accent4>
        <a:srgbClr val="B23A3A"/>
      </a:accent4>
      <a:accent5>
        <a:srgbClr val="D8DCE2"/>
      </a:accent5>
      <a:accent6>
        <a:srgbClr val="8A94A6"/>
      </a:accent6>
      <a:hlink>
        <a:srgbClr val="1F4E79"/>
      </a:hlink>
      <a:folHlink>
        <a:srgbClr val="5C6470"/>
      </a:folHlink>
    </a:clrScheme>
    <a:fontScheme name="HGamey Monthly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HGamey 进展 v02</dc:title>
  <dc:subject>PptxGenJS Presentation</dc:subject>
  <dc:creator>BH3GEI</dc:creator>
  <cp:lastModifiedBy>BH3GEI</cp:lastModifiedBy>
  <cp:revision>1</cp:revision>
  <dcterms:created xsi:type="dcterms:W3CDTF">2026-10-11T22:14:14Z</dcterms:created>
  <dcterms:modified xsi:type="dcterms:W3CDTF">2026-10-11T22:14:14Z</dcterms:modified>
</cp:coreProperties>
</file>