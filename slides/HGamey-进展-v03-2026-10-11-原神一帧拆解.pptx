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这一版" id="{6645f13d-92c2-8f9a-1923-a0230dcfdbec}">
          <p14:sldIdLst>
            <p14:sldId id="256"/>
            <p14:sldId id="257"/>
          </p14:sldIdLst>
        </p14:section>
        <p14:section name="阶段 1：原神一帧" id="{7ef95e67-4542-a096-d32a-96337db9aa40}">
          <p14:sldIdLst>
            <p14:sldId id="258"/>
            <p14:sldId id="259"/>
            <p14:sldId id="260"/>
            <p14:sldId id="261"/>
          </p14:sldIdLst>
        </p14:section>
        <p14:section name="决定与下一步" id="{e6276eac-87e9-0bc4-1f0b-43c7e436efb7}">
          <p14:sldIdLst>
            <p14:sldId id="262"/>
          </p14:sldIdLst>
        </p14:section>
        <p14:section name="这一版合并的改动" id="{e3e2b4a8-1abf-b929-6c5c-26dc4afdcf97}">
          <p14:sldIdLst>
            <p14:sldId id="263"/>
          </p14:sldIdLst>
        </p14:section>
        <p14:section name="全局" id="{b2a01d28-c7eb-285a-7ada-1af81084ff0f}">
          <p14:sldIdLst>
            <p14:sldId id="264"/>
          </p14:sldIdLst>
        </p14:section>
        <p14:section name="手机节点与作战室" id="{fee69d36-13b4-8c22-a3e9-b7c6c6e649a0}">
          <p14:sldIdLst>
            <p14:sldId id="265"/>
            <p14:sldId id="266"/>
          </p14:sldIdLst>
        </p14:section>
        <p14:section name="已有的真机结果" id="{fa17049d-0d91-89dd-f9c6-da5cd19ba690}">
          <p14:sldIdLst>
            <p14:sldId id="267"/>
            <p14:sldId id="268"/>
            <p14:sldId id="269"/>
          </p14:sldIdLst>
        </p14:section>
        <p14:section name="同事与协调" id="{d662c0f7-2c8f-2387-e2ea-0d7c49999142}">
          <p14:sldIdLst>
            <p14:sldId id="270"/>
          </p14:sldIdLst>
        </p14:section>
        <p14:section name="附录" id="{f27d2d30-558a-dd95-2735-4f3f2c652734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这一版的成果：总蓝图阶段 1（检查）完成——原神一帧多余步骤报告（BH3GEI/phonefarm #93，docs/GENSHIN_FRAME_AUDIT.md，证据 knobs/evidence/10_frameaudit/）。以及据此做出的决定和 v02 之后合并的改动。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来源：phonefarm docs/GENSHIN_FRAME_AUDIT.md（#93）。33 个 render pass + 20 次 compute dispatch / present；白存 A（rp103 C2，2.07 MB）+ B（rp71 C0、C1，0.39 MB）= 2.46 MB，占附件模型流量 183.5 MB 的 1.3%（未压缩上限）；按 40–160 pJ/B 估 6–24 mW，不是实测；整机基线 4.76 W；5v5 功耗离散约 ±4%。17 = 12 个颜色/深度 LOAD + 5 个模板 LOAD，全部读的是有效内容。0 人工：game_opt_loop #52（10-11 冷启动 PASS，1 次点击）。v02 之后合并数由 collect.py --since 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来源：ROADMAP.md「总蓝图」+ lead 10-11 决定。阶段 1：BH3GEI/phonefarm #93（报告）、#85 #90（工具）。阶段 2：第一个开关「去掉多余写回」#91（节点上编译通过，还没上真机）；原神上只做机制验证，收益转向 Megacity（onboard 接入中）和第二个商业游戏。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数据：phonefarm docs/GENSHIN_FRAME_AUDIT.md §2 表（knobs/evidence/10_frameaudit/analysis.md），第 1 次抓取第 0 帧。「GPU 时间占比」= 每个 pass 打点时间 ÷ 33 个 pass 合计 27.19 ms（打点会串行化 GPU，只用占比）。写回为模型值（宽×高×每像素字节，未压缩上限）。#44 = rp103（sig 15a51a879df99c32）附件 C2；#19 = rp71（sig 9d0b4db80bf552b8）附件 C0、C1；#51 = rp112（sig 309ab726665125ef），颜色 storeOp=NONE、深度只读，很可能是遮挡查询，层没钩 vkCmdBeginQuery，不确定。lead 口头说的「29 步」与报告不同：报告是每次 present 33 个 render pass，表里合并成 27 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来源：GENSHIN_FRAME_AUDIT.md §3、§4。上个月 LoadOp 一律改 DONT_CARE：命中 31–37 条，GPU 忙碌时间 +0.017%（p=0.944），带宽 +0.83%（p=0.524）。主深度被 rp110/112/60/118 四个全分辨率 pass 各 LOAD 一次（33 MB/帧，占全部 LOAD 的 80%）。GPU 时间不变的解释（驱动走 sysmem 直绘或 UBWC 压缩）是推测，层看不到。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来源：GENSHIN_FRAME_AUDIT.md §6。开关 1 = sig 15a51a879df99c32 附件下标 2 storeOp STORE→DONT_CARE；开关 2 = sig 9d0b4db80bf552b8 附件下标 0、1；开关 3 = rp112 整 pass 跳过，需先补只读钩子看有没有 BeginQuery/EndQuery；开关 4 = rp71 整 pass 跳过（约 0.02 ms 推算）。#91 的 debug.knobs.storeop 支持按 sig:附件下标精确下刀，送显附件永远不改。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来源：lead 10-11 决定与 GENSHIN_FRAME_AUDIT.md §6。Megacity 里更可能有浪费是推测，要跑一遍 frame-audit 才知道；frame-audit capture --pkg 已支持别的包，但大世界判定（每帧 pass 数 ≥25）和点门坐标目前写死在原神上，换游戏要先改。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collect.py --since "2026-10-11 15:11"（v02 数据截止时刻）统计，见 auto.our_since。PF #91 还没上真机。 GOL #53：原神系统参数 11 个历史候选，原样重提已 REJECT 的 4 个 p(值得上机) 0.05–0.07；首次出现后来 REJECT 的 4 个 0.17–0.40；ABORT 的 7 个 0.20–0.56；历史上没有 PASS，缺省仍不开。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参照 diagrams/01-harness-overview。新加：外部进程/对比模式（GOL #39 #40 #44）、云端 pi + Kimi（GOL #47）、上机前守门（GOL #46，用 TypeSafe Jev 估「值不值得花一次真机评测」，缺省不开、可只记不挡）、设备锁（PF #77 #81 #87、GOL #41）、提前停与判官自检（PF #78 #80 #84 #88）、新游戏零人工接入（PF #83 #89、GOL #45）。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来源：HGamey/harness-ops node/node_service.py 与 pf-node。/jobs 给开发机 agent 发真机任务（pf-node 客户端）；/mcp 给云端出方案只读查询手机状态（白名单工具，GOL #47 的 pi + Kimi 用）；/dash 作战室（独立查看密码）。节点只听本机端口，经 Cloudflare Tunnel 出网，要令牌。自更新：harness-ops #3 #4 #5；任务重启修复 #1。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截图是 v02 那张（10-11 14:27 PDT，https://phone.liyao.space/dash，只读），裁出上半屏核心区和实验区拼在一起。v03 制作时节点失联，没法重截浅色主题。来源 harness-ops #2。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来源：BH3GEI/phonefarm #78 描述里的回放表（11 组完整 5v5，每组 10 臂；「次测量」= 臂）。规则：每跑完一臂，算剩下的轮次取任何值时各指标「显著改善」的置换检验 p 值下界；全部 ≥ α_win 就必然不保留，当场停。只截「必然不保留」一侧，保留的永远跑满，不是序贯检验，错误率不变。真机没验证。图里「留下」的两组是已知有效的旧开关（loop_v1 DDR boost、refbench 带宽开关）。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图：fig/quality.html，数据 phonefarm knobs/evidence/09_upop/quality_diff.json（逐像素平均绝对差 MAD）。裁图：knobs/evidence/09_upop/{tree,stairs,sign}_a_b_ref.png，每张从上到下：游戏自带放大、我们的算子、原生画面。我们的算子目前是 2×2 双线性，只是占位。来源 BH3GEI/phonefarm #64。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裁图来源：phonefarm knobs/evidence/09_upop/{tree,stairs,sign}_a_b_ref.png（转成 JPEG 以减小体积）。同位置、同视角、同一时辰；渲染精度「低」。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同事 PR 由 collect.py 现查（auto.colleague_prs）。分组是人工归类。草稿 PR 描述里写明没有动手机（No phone… 0 tokens）。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 auto.our_since 生成（作者 BH3GEI，v02 数据截止 2026-10-11 15:11 PDT 之后合并）。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HGamey 进展 v03 · 2026-10-11 · 原神一帧拆解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HGamey 进展 v03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阶段 1 完成：把原神的一帧拆开看了，它已经很干净</a:t>
            </a:r>
            <a:endParaRPr lang="en-US" sz="2000" dirty="0"/>
          </a:p>
        </p:txBody>
      </p:sp>
      <p:sp>
        <p:nvSpPr>
          <p:cNvPr id="5" name="line"/>
          <p:cNvSpPr txBox="1"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2026-10-11 · BH3GEI · 上一版 v02：手机节点上线与作战室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原神这一帧已经很干净：白做的只有 1.3%，省的电测不出来</a:t>
            </a:r>
            <a:endParaRPr lang="en-US" sz="2800" dirty="0"/>
          </a:p>
        </p:txBody>
      </p:sp>
      <p:sp>
        <p:nvSpPr>
          <p:cNvPr id="4" name="stats-bg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" name="stats-frame"/>
          <p:cNvSpPr/>
          <p:nvPr/>
        </p:nvSpPr>
        <p:spPr>
          <a:xfrm>
            <a:off x="548640" y="4480560"/>
            <a:ext cx="11094415" cy="640080"/>
          </a:xfrm>
          <a:prstGeom prst="rect">
            <a:avLst/>
          </a:prstGeom>
          <a:ln w="12700">
            <a:solidFill>
              <a:srgbClr val="D8DCE2"/>
            </a:solidFill>
            <a:prstDash val="solid"/>
          </a:ln>
        </p:spPr>
      </p:sp>
      <p:sp>
        <p:nvSpPr>
          <p:cNvPr id="6" name="stat0"/>
          <p:cNvSpPr txBox="1"/>
          <p:nvPr/>
        </p:nvSpPr>
        <p:spPr>
          <a:xfrm>
            <a:off x="731520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14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个改动 v02 之后合并</a:t>
            </a:r>
            <a:endParaRPr lang="en-US" sz="1400" dirty="0"/>
          </a:p>
        </p:txBody>
      </p:sp>
      <p:sp>
        <p:nvSpPr>
          <p:cNvPr id="7" name="stat1"/>
          <p:cNvSpPr txBox="1"/>
          <p:nvPr/>
        </p:nvSpPr>
        <p:spPr>
          <a:xfrm>
            <a:off x="3505124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#91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第一个开关已合并</a:t>
            </a:r>
            <a:endParaRPr lang="en-US" sz="1400" dirty="0"/>
          </a:p>
        </p:txBody>
      </p:sp>
      <p:sp>
        <p:nvSpPr>
          <p:cNvPr id="8" name="stat2"/>
          <p:cNvSpPr txBox="1"/>
          <p:nvPr/>
        </p:nvSpPr>
        <p:spPr>
          <a:xfrm>
            <a:off x="6278728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0 人工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原神冷启动进游戏</a:t>
            </a:r>
            <a:endParaRPr lang="en-US" sz="1400" dirty="0"/>
          </a:p>
        </p:txBody>
      </p:sp>
      <p:sp>
        <p:nvSpPr>
          <p:cNvPr id="9" name="stat3"/>
          <p:cNvSpPr txBox="1"/>
          <p:nvPr/>
        </p:nvSpPr>
        <p:spPr>
          <a:xfrm>
            <a:off x="9052331" y="448056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148 </a:t>
            </a:r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个 PR（09-11 以来）</a:t>
            </a:r>
            <a:endParaRPr lang="en-US" sz="1400" dirty="0"/>
          </a:p>
        </p:txBody>
      </p:sp>
      <p:sp>
        <p:nvSpPr>
          <p:cNvPr id="10" name="card0"/>
          <p:cNvSpPr/>
          <p:nvPr/>
        </p:nvSpPr>
        <p:spPr>
          <a:xfrm>
            <a:off x="548640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ard0-big"/>
          <p:cNvSpPr txBox="1"/>
          <p:nvPr/>
        </p:nvSpPr>
        <p:spPr>
          <a:xfrm>
            <a:off x="777240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33 步</a:t>
            </a:r>
            <a:endParaRPr lang="en-US" sz="3600" dirty="0"/>
          </a:p>
        </p:txBody>
      </p:sp>
      <p:sp>
        <p:nvSpPr>
          <p:cNvPr id="12" name="card0-label"/>
          <p:cNvSpPr txBox="1"/>
          <p:nvPr/>
        </p:nvSpPr>
        <p:spPr>
          <a:xfrm>
            <a:off x="777240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每帧的渲染步骤</a:t>
            </a:r>
            <a:endParaRPr lang="en-US" sz="1500" dirty="0"/>
          </a:p>
        </p:txBody>
      </p:sp>
      <p:sp>
        <p:nvSpPr>
          <p:cNvPr id="13" name="card0-text"/>
          <p:cNvSpPr txBox="1"/>
          <p:nvPr/>
        </p:nvSpPr>
        <p:spPr>
          <a:xfrm>
            <a:off x="777240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外加 20 次计算；抓了 3 次，每次结构完全一样</a:t>
            </a:r>
            <a:endParaRPr lang="en-US" sz="1300" dirty="0"/>
          </a:p>
        </p:txBody>
      </p:sp>
      <p:sp>
        <p:nvSpPr>
          <p:cNvPr id="14" name="card1"/>
          <p:cNvSpPr/>
          <p:nvPr/>
        </p:nvSpPr>
        <p:spPr>
          <a:xfrm>
            <a:off x="3390824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card1-big"/>
          <p:cNvSpPr txBox="1"/>
          <p:nvPr/>
        </p:nvSpPr>
        <p:spPr>
          <a:xfrm>
            <a:off x="3619424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4"/>
                </a:solidFill>
              </a:rPr>
              <a:t>1.3%</a:t>
            </a:r>
            <a:endParaRPr lang="en-US" sz="3600" dirty="0"/>
          </a:p>
        </p:txBody>
      </p:sp>
      <p:sp>
        <p:nvSpPr>
          <p:cNvPr id="16" name="card1-label"/>
          <p:cNvSpPr txBox="1"/>
          <p:nvPr/>
        </p:nvSpPr>
        <p:spPr>
          <a:xfrm>
            <a:off x="3619424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写了没人读的部分</a:t>
            </a:r>
            <a:endParaRPr lang="en-US" sz="1500" dirty="0"/>
          </a:p>
        </p:txBody>
      </p:sp>
      <p:sp>
        <p:nvSpPr>
          <p:cNvPr id="17" name="card1-text"/>
          <p:cNvSpPr txBox="1"/>
          <p:nvPr/>
        </p:nvSpPr>
        <p:spPr>
          <a:xfrm>
            <a:off x="3619424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每帧 2.46 MB / 183.5 MB；确定白写的只有 3 张图</a:t>
            </a:r>
            <a:endParaRPr lang="en-US" sz="1300" dirty="0"/>
          </a:p>
        </p:txBody>
      </p:sp>
      <p:sp>
        <p:nvSpPr>
          <p:cNvPr id="18" name="card2"/>
          <p:cNvSpPr/>
          <p:nvPr/>
        </p:nvSpPr>
        <p:spPr>
          <a:xfrm>
            <a:off x="6233008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card2-big"/>
          <p:cNvSpPr txBox="1"/>
          <p:nvPr/>
        </p:nvSpPr>
        <p:spPr>
          <a:xfrm>
            <a:off x="6461608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3"/>
                </a:solidFill>
              </a:rPr>
              <a:t>&lt; 0.5%</a:t>
            </a:r>
            <a:endParaRPr lang="en-US" sz="3600" dirty="0"/>
          </a:p>
        </p:txBody>
      </p:sp>
      <p:sp>
        <p:nvSpPr>
          <p:cNvPr id="20" name="card2-label"/>
          <p:cNvSpPr txBox="1"/>
          <p:nvPr/>
        </p:nvSpPr>
        <p:spPr>
          <a:xfrm>
            <a:off x="6461608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去掉后能省的电</a:t>
            </a:r>
            <a:endParaRPr lang="en-US" sz="1500" dirty="0"/>
          </a:p>
        </p:txBody>
      </p:sp>
      <p:sp>
        <p:nvSpPr>
          <p:cNvPr id="21" name="card2-text"/>
          <p:cNvSpPr txBox="1"/>
          <p:nvPr/>
        </p:nvSpPr>
        <p:spPr>
          <a:xfrm>
            <a:off x="6461608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估计 6–24 毫瓦，整机约 4.8 瓦，远小于测量波动</a:t>
            </a:r>
            <a:endParaRPr lang="en-US" sz="1300" dirty="0"/>
          </a:p>
        </p:txBody>
      </p:sp>
      <p:sp>
        <p:nvSpPr>
          <p:cNvPr id="22" name="card3"/>
          <p:cNvSpPr/>
          <p:nvPr/>
        </p:nvSpPr>
        <p:spPr>
          <a:xfrm>
            <a:off x="9075191" y="1325880"/>
            <a:ext cx="2567864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card3-big"/>
          <p:cNvSpPr txBox="1"/>
          <p:nvPr/>
        </p:nvSpPr>
        <p:spPr>
          <a:xfrm>
            <a:off x="9303791" y="1554480"/>
            <a:ext cx="2110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17/17</a:t>
            </a:r>
            <a:endParaRPr lang="en-US" sz="3600" dirty="0"/>
          </a:p>
        </p:txBody>
      </p:sp>
      <p:sp>
        <p:nvSpPr>
          <p:cNvPr id="24" name="card3-label"/>
          <p:cNvSpPr txBox="1"/>
          <p:nvPr/>
        </p:nvSpPr>
        <p:spPr>
          <a:xfrm>
            <a:off x="9303791" y="2468880"/>
            <a:ext cx="2110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读入全都有用</a:t>
            </a:r>
            <a:endParaRPr lang="en-US" sz="1500" dirty="0"/>
          </a:p>
        </p:txBody>
      </p:sp>
      <p:sp>
        <p:nvSpPr>
          <p:cNvPr id="25" name="card3-text"/>
          <p:cNvSpPr txBox="1"/>
          <p:nvPr/>
        </p:nvSpPr>
        <p:spPr>
          <a:xfrm>
            <a:off x="9303791" y="3200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tx2"/>
                </a:solidFill>
              </a:rPr>
              <a:t>上个月改读入没收益的原因：改掉的读入读的都是有用的东西</a:t>
            </a:r>
            <a:endParaRPr lang="en-US" sz="1300" dirty="0"/>
          </a:p>
        </p:txBody>
      </p:sp>
      <p:sp>
        <p:nvSpPr>
          <p:cNvPr id="26" name="bottom-bg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bottom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决定：原神上只验证「开关打开、画面不变」；找省电转向 Megacity 和第二个商业游戏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总蓝图：阶段 1 完成，阶段 2 开始做开关</a:t>
            </a:r>
            <a:endParaRPr lang="en-US" sz="2800" dirty="0"/>
          </a:p>
        </p:txBody>
      </p:sp>
      <p:pic>
        <p:nvPicPr>
          <p:cNvPr id="4" name="fig" descr="/Users/yao/projects/_wt/ppt/docs/slides/src/progress/fig/out/blueprint-v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09610"/>
            <a:ext cx="11094415" cy="453022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✓ 完成　◐ 进行中　◔ 部件就位：代码已合并、还没在这一步真用　○ 未开始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一帧 33 步：画场景和打光占了六成 GPU 时间，白写回只有 3 张图</a:t>
            </a:r>
            <a:endParaRPr lang="en-US" sz="2800" dirty="0"/>
          </a:p>
        </p:txBody>
      </p:sp>
      <p:pic>
        <p:nvPicPr>
          <p:cNvPr id="4" name="fig" descr="/Users/yao/projects/_wt/ppt/docs/slides/src/progress/fig/out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973" y="1188720"/>
            <a:ext cx="942975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为什么省不下来：读入都有用，白写回又太小</a:t>
            </a:r>
            <a:endParaRPr lang="en-US" sz="2800" dirty="0"/>
          </a:p>
        </p:txBody>
      </p:sp>
      <p:pic>
        <p:nvPicPr>
          <p:cNvPr id="4" name="fig" descr="/Users/yao/projects/_wt/ppt/docs/slides/src/progress/fig/out/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0664"/>
            <a:ext cx="11094415" cy="43453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阶段 2 开关清单：前两个安全但省得少，第三个要先查清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原则：只改「确定没人用」的一侧；每个开关都要比画面，统计不显著不等于画对了</a:t>
            </a:r>
            <a:endParaRPr lang="en-US" sz="1500" dirty="0"/>
          </a:p>
        </p:txBody>
      </p:sp>
      <p:graphicFrame>
        <p:nvGraphicFramePr>
          <p:cNvPr id="7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06240"/>
                <a:gridCol w="2743200"/>
                <a:gridCol w="3319272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顺序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开关（大白话）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能省多少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现在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#44 那一步的第 3 张图不写回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每帧少写 2.07 MB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机制已合并（#91），待上真机比画面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#19 那一步的两张图不写回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每帧少写 0.39 MB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同上，可以和 1 一起测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跳过 #51 整步（什么都不写回的那步）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约 1.7% GPU 时间，唯一可能测得出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能看出遮挡检测的工具已合并（#94），待上真机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跳过 #19 整步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很小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排在最后</a:t>
                      </a:r>
                      <a:endParaRPr lang="en-US" sz="14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不做：按特征码改 #36（同一特征码别处有人读）；把读入一刀切改掉；清屏、拷贝类开关（原神里没有这类步骤）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决定：原神只验证画面不变，找省电换到 Megacity 和第二个商业游戏</a:t>
            </a:r>
            <a:endParaRPr lang="en-US" sz="2800" dirty="0"/>
          </a:p>
        </p:txBody>
      </p:sp>
      <p:sp>
        <p:nvSpPr>
          <p:cNvPr id="4" name="lead-bg"/>
          <p:cNvSpPr/>
          <p:nvPr/>
        </p:nvSpPr>
        <p:spPr>
          <a:xfrm>
            <a:off x="548640" y="1188720"/>
            <a:ext cx="11094415" cy="594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lead"/>
          <p:cNvSpPr txBox="1"/>
          <p:nvPr/>
        </p:nvSpPr>
        <p:spPr>
          <a:xfrm>
            <a:off x="822960" y="11887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按蓝图的规则：原神查不出值得去的步骤，就换游戏</a:t>
            </a:r>
            <a:endParaRPr lang="en-US" sz="1600" dirty="0"/>
          </a:p>
        </p:txBody>
      </p:sp>
      <p:sp>
        <p:nvSpPr>
          <p:cNvPr id="6" name="st0-bg"/>
          <p:cNvSpPr/>
          <p:nvPr/>
        </p:nvSpPr>
        <p:spPr>
          <a:xfrm>
            <a:off x="548640" y="196596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t0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t0-n"/>
          <p:cNvSpPr txBox="1"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st0-h"/>
          <p:cNvSpPr txBox="1"/>
          <p:nvPr/>
        </p:nvSpPr>
        <p:spPr>
          <a:xfrm>
            <a:off x="1463040" y="1965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原神上开开关 1、2</a:t>
            </a:r>
            <a:endParaRPr lang="en-US" sz="1700" dirty="0"/>
          </a:p>
        </p:txBody>
      </p:sp>
      <p:sp>
        <p:nvSpPr>
          <p:cNvPr id="10" name="st0-b"/>
          <p:cNvSpPr txBox="1"/>
          <p:nvPr/>
        </p:nvSpPr>
        <p:spPr>
          <a:xfrm>
            <a:off x="4663440" y="196596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打开后逐像素比截图，证明「找出多余步骤 → 去掉 → 画面不变」这条链路走得通</a:t>
            </a:r>
            <a:endParaRPr lang="en-US" sz="1350" dirty="0"/>
          </a:p>
        </p:txBody>
      </p:sp>
      <p:sp>
        <p:nvSpPr>
          <p:cNvPr id="11" name="st0-s-bg"/>
          <p:cNvSpPr/>
          <p:nvPr/>
        </p:nvSpPr>
        <p:spPr>
          <a:xfrm>
            <a:off x="10271455" y="214884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2" name="st0-s"/>
          <p:cNvSpPr txBox="1"/>
          <p:nvPr/>
        </p:nvSpPr>
        <p:spPr>
          <a:xfrm>
            <a:off x="10271455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13" name="st1-bg"/>
          <p:cNvSpPr/>
          <p:nvPr/>
        </p:nvSpPr>
        <p:spPr>
          <a:xfrm>
            <a:off x="548640" y="283464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st1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st1-n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st1-h"/>
          <p:cNvSpPr txBox="1"/>
          <p:nvPr/>
        </p:nvSpPr>
        <p:spPr>
          <a:xfrm>
            <a:off x="1463040" y="28346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查清 #51 那一步</a:t>
            </a:r>
            <a:endParaRPr lang="en-US" sz="1700" dirty="0"/>
          </a:p>
        </p:txBody>
      </p:sp>
      <p:sp>
        <p:nvSpPr>
          <p:cNvPr id="17" name="st1-b"/>
          <p:cNvSpPr txBox="1"/>
          <p:nvPr/>
        </p:nvSpPr>
        <p:spPr>
          <a:xfrm>
            <a:off x="4663440" y="283464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能记录遮挡检测的拆帧工具已合并，节点恢复后上真机看；不是遮挡检测才考虑整步跳过</a:t>
            </a:r>
            <a:endParaRPr lang="en-US" sz="1350" dirty="0"/>
          </a:p>
        </p:txBody>
      </p:sp>
      <p:sp>
        <p:nvSpPr>
          <p:cNvPr id="18" name="st1-s-bg"/>
          <p:cNvSpPr/>
          <p:nvPr/>
        </p:nvSpPr>
        <p:spPr>
          <a:xfrm>
            <a:off x="10271455" y="301752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9" name="st1-s"/>
          <p:cNvSpPr txBox="1"/>
          <p:nvPr/>
        </p:nvSpPr>
        <p:spPr>
          <a:xfrm>
            <a:off x="10271455" y="3017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0" name="st2-bg"/>
          <p:cNvSpPr/>
          <p:nvPr/>
        </p:nvSpPr>
        <p:spPr>
          <a:xfrm>
            <a:off x="548640" y="370332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t2"/>
          <p:cNvSpPr/>
          <p:nvPr/>
        </p:nvSpPr>
        <p:spPr>
          <a:xfrm>
            <a:off x="777240" y="3840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st2-n"/>
          <p:cNvSpPr txBox="1"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t2-h"/>
          <p:cNvSpPr txBox="1"/>
          <p:nvPr/>
        </p:nvSpPr>
        <p:spPr>
          <a:xfrm>
            <a:off x="146304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拆 Megacity 的一帧</a:t>
            </a:r>
            <a:endParaRPr lang="en-US" sz="1700" dirty="0"/>
          </a:p>
        </p:txBody>
      </p:sp>
      <p:sp>
        <p:nvSpPr>
          <p:cNvPr id="24" name="st2-b"/>
          <p:cNvSpPr txBox="1"/>
          <p:nvPr/>
        </p:nvSpPr>
        <p:spPr>
          <a:xfrm>
            <a:off x="4663440" y="370332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onboard 接入后跑同一套拆帧工具，Unity 移动样例里更可能有白写回、整屏拷贝</a:t>
            </a:r>
            <a:endParaRPr lang="en-US" sz="1350" dirty="0"/>
          </a:p>
        </p:txBody>
      </p:sp>
      <p:sp>
        <p:nvSpPr>
          <p:cNvPr id="25" name="st2-s-bg"/>
          <p:cNvSpPr/>
          <p:nvPr/>
        </p:nvSpPr>
        <p:spPr>
          <a:xfrm>
            <a:off x="10271455" y="38862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26" name="st2-s"/>
          <p:cNvSpPr txBox="1"/>
          <p:nvPr/>
        </p:nvSpPr>
        <p:spPr>
          <a:xfrm>
            <a:off x="10271455" y="38862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27" name="st3-bg"/>
          <p:cNvSpPr/>
          <p:nvPr/>
        </p:nvSpPr>
        <p:spPr>
          <a:xfrm>
            <a:off x="548640" y="4572000"/>
            <a:ext cx="11094415" cy="731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8" name="st3"/>
          <p:cNvSpPr/>
          <p:nvPr/>
        </p:nvSpPr>
        <p:spPr>
          <a:xfrm>
            <a:off x="7772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st3-n"/>
          <p:cNvSpPr txBox="1"/>
          <p:nvPr/>
        </p:nvSpPr>
        <p:spPr>
          <a:xfrm>
            <a:off x="777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st3-h"/>
          <p:cNvSpPr txBox="1"/>
          <p:nvPr/>
        </p:nvSpPr>
        <p:spPr>
          <a:xfrm>
            <a:off x="14630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第二个商业游戏</a:t>
            </a:r>
            <a:endParaRPr lang="en-US" sz="1700" dirty="0"/>
          </a:p>
        </p:txBody>
      </p:sp>
      <p:sp>
        <p:nvSpPr>
          <p:cNvPr id="31" name="st3-b"/>
          <p:cNvSpPr txBox="1"/>
          <p:nvPr/>
        </p:nvSpPr>
        <p:spPr>
          <a:xfrm>
            <a:off x="4663440" y="457200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选一个没见过的游戏，接入、拆帧、做开关全自动走一遍</a:t>
            </a:r>
            <a:endParaRPr lang="en-US" sz="1350" dirty="0"/>
          </a:p>
        </p:txBody>
      </p:sp>
      <p:sp>
        <p:nvSpPr>
          <p:cNvPr id="32" name="st3-s-bg"/>
          <p:cNvSpPr/>
          <p:nvPr/>
        </p:nvSpPr>
        <p:spPr>
          <a:xfrm>
            <a:off x="10271455" y="475488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33" name="st3-s"/>
          <p:cNvSpPr txBox="1"/>
          <p:nvPr/>
        </p:nvSpPr>
        <p:spPr>
          <a:xfrm>
            <a:off x="10271455" y="4754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计划</a:t>
            </a:r>
            <a:endParaRPr lang="en-US" sz="1200" dirty="0"/>
          </a:p>
        </p:txBody>
      </p:sp>
      <p:sp>
        <p:nvSpPr>
          <p:cNvPr id="34" name="st4-bg"/>
          <p:cNvSpPr/>
          <p:nvPr/>
        </p:nvSpPr>
        <p:spPr>
          <a:xfrm>
            <a:off x="548640" y="5440680"/>
            <a:ext cx="11094415" cy="7315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5" name="st4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st4-n"/>
          <p:cNvSpPr txBox="1"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7" name="st4-h"/>
          <p:cNvSpPr txBox="1"/>
          <p:nvPr/>
        </p:nvSpPr>
        <p:spPr>
          <a:xfrm>
            <a:off x="1463040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判官准确率</a:t>
            </a:r>
            <a:endParaRPr lang="en-US" sz="1700" dirty="0"/>
          </a:p>
        </p:txBody>
      </p:sp>
      <p:sp>
        <p:nvSpPr>
          <p:cNvPr id="38" name="st4-b"/>
          <p:cNvSpPr txBox="1"/>
          <p:nvPr/>
        </p:nvSpPr>
        <p:spPr>
          <a:xfrm>
            <a:off x="4663440" y="5440680"/>
            <a:ext cx="5379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用答案已知的考题在真机上考判官，给出准确率</a:t>
            </a:r>
            <a:endParaRPr lang="en-US" sz="1350" dirty="0"/>
          </a:p>
        </p:txBody>
      </p:sp>
      <p:sp>
        <p:nvSpPr>
          <p:cNvPr id="39" name="st4-s-bg"/>
          <p:cNvSpPr/>
          <p:nvPr/>
        </p:nvSpPr>
        <p:spPr>
          <a:xfrm>
            <a:off x="10271455" y="562356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40" name="st4-s"/>
          <p:cNvSpPr txBox="1"/>
          <p:nvPr/>
        </p:nvSpPr>
        <p:spPr>
          <a:xfrm>
            <a:off x="10271455" y="5623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进行中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v02 之后合并 14 个改动：拆帧报告、第一个开关、进门更稳</a:t>
            </a:r>
            <a:endParaRPr lang="en-US" sz="2800" dirty="0"/>
          </a:p>
        </p:txBody>
      </p:sp>
      <p:graphicFrame>
        <p:nvGraphicFramePr>
          <p:cNvPr id="9" name="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  <a:gridCol w="28620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做了什么（大白话）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拆帧（阶段 1）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原神一帧多余步骤报告；分析器把深度和模板分开追踪，修掉一处误报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#93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拆帧工具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报每步写回量；能看出遮挡检测；修好挂层后游戏起不来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#90 #94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第一个开关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「去掉多余写回」：按步骤特征码精确指定哪张图不写回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#91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自动优化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每个候选上机前先进游戏；温度上限统一 70 度；日志写明判定理由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GOL #49 #50 #51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进游戏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原神冷启动 1 次点击、0 人工；停充没生效时如实记录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GOL #52 · PF #95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上机前守门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用历史候选离线回放：重提被否定的候选它能认出来，好候选还没样本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GOL #53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手机节点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取消任务逐级升级；节点自己下载并安装游戏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harness-ops #7 #8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修正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Rust 版自动循环一上来就报「设备不在线」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PF #92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PPT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进展 v02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docs #8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note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PF = BH3GEI/phonefarm，GOL = HGamey/game_opt_loop。完整清单见附录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harness 全貌：出方案的、被测的都能插拔</a:t>
            </a:r>
            <a:endParaRPr lang="en-US" sz="2800" dirty="0"/>
          </a:p>
        </p:txBody>
      </p:sp>
      <p:pic>
        <p:nvPicPr>
          <p:cNvPr id="4" name="fig" descr="/Users/yao/projects/_wt/ppt/docs/slides/src/progress/fig/out/ha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848" y="1188720"/>
            <a:ext cx="9144000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黄色「新」= v02 新加的部分；好坏始终由 harness 判定，出方案的一方改不了规则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手机节点：所有人经一个加密入口，排队用同一台手机</a:t>
            </a:r>
            <a:endParaRPr lang="en-US" sz="2800" dirty="0"/>
          </a:p>
        </p:txBody>
      </p:sp>
      <p:pic>
        <p:nvPicPr>
          <p:cNvPr id="4" name="fig" descr="/Users/yao/projects/_wt/ppt/docs/slides/src/progress/fig/out/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211" y="1188720"/>
            <a:ext cx="997527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开发机和手机不必在一起；节点合并代码后自己编译更新，不再从开发机传文件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作战室：谁在用手机、温度多少、实验结果，一页看完</a:t>
            </a:r>
            <a:endParaRPr lang="en-US" sz="2800" dirty="0"/>
          </a:p>
        </p:txBody>
      </p:sp>
      <p:pic>
        <p:nvPicPr>
          <p:cNvPr id="4" name="shot0" descr="/Users/yao/projects/_wt/ppt/docs/slides/src/progress/img/warroom-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974" y="1188720"/>
            <a:ext cx="9259747" cy="4572000"/>
          </a:xfrm>
          <a:prstGeom prst="rect">
            <a:avLst/>
          </a:prstGeom>
        </p:spPr>
      </p:pic>
      <p:sp>
        <p:nvSpPr>
          <p:cNvPr id="5" name="shot0-frame"/>
          <p:cNvSpPr/>
          <p:nvPr/>
        </p:nvSpPr>
        <p:spPr>
          <a:xfrm>
            <a:off x="1465974" y="1188720"/>
            <a:ext cx="9259747" cy="4572000"/>
          </a:xfrm>
          <a:prstGeom prst="rect">
            <a:avLst/>
          </a:prstGeom>
          <a:ln w="9525">
            <a:solidFill>
              <a:srgbClr val="D8DCE2"/>
            </a:solidFill>
            <a:prstDash val="solid"/>
          </a:ln>
        </p:spPr>
      </p:sp>
      <p:sp>
        <p:nvSpPr>
          <p:cNvPr id="6" name="shot0-l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作战室核心区：手机状态、设备锁与排队、实验结果（10-11 14:27 截图）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提前停：注定留不下的候选当场停，省下三成测量，结论不变</a:t>
            </a:r>
            <a:endParaRPr lang="en-US" sz="2800" dirty="0"/>
          </a:p>
        </p:txBody>
      </p:sp>
      <p:pic>
        <p:nvPicPr>
          <p:cNvPr id="4" name="fig" descr="/Users/yao/projects/_wt/ppt/docs/slides/src/progress/fig/out/cur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8" y="1188720"/>
            <a:ext cx="1005840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我们的放大算子比游戏自带的更接近原生画面，最多接近 5 倍</a:t>
            </a:r>
            <a:endParaRPr lang="en-US" sz="2800" dirty="0"/>
          </a:p>
        </p:txBody>
      </p:sp>
      <p:pic>
        <p:nvPicPr>
          <p:cNvPr id="4" name="fig" descr="/Users/yao/projects/_wt/ppt/docs/slides/src/progress/fig/out/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356" y="1188720"/>
            <a:ext cx="9298983" cy="4572000"/>
          </a:xfrm>
          <a:prstGeom prst="rect">
            <a:avLst/>
          </a:prstGeom>
        </p:spPr>
      </p:pic>
      <p:sp>
        <p:nvSpPr>
          <p:cNvPr id="5" name="cap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原神大世界，同一位置、同一视角、同一时辰；渲染精度调低后，分别用游戏自带放大和我们的算子放大，再和原生最高画质比。条越短越接近原生。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真机截图：我们的放大更清楚，接近原生画面</a:t>
            </a:r>
            <a:endParaRPr lang="en-US" sz="2800" dirty="0"/>
          </a:p>
        </p:txBody>
      </p:sp>
      <p:pic>
        <p:nvPicPr>
          <p:cNvPr id="4" name="crop0" descr="/Users/yao/projects/_wt/ppt/docs/slides/src/progress/img/tree_a_b_re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869" y="1188720"/>
            <a:ext cx="3048000" cy="4572000"/>
          </a:xfrm>
          <a:prstGeom prst="rect">
            <a:avLst/>
          </a:prstGeom>
        </p:spPr>
      </p:pic>
      <p:pic>
        <p:nvPicPr>
          <p:cNvPr id="5" name="crop1" descr="/Users/yao/projects/_wt/ppt/docs/slides/src/progress/img/stairs_a_b_re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208" y="1188720"/>
            <a:ext cx="3048000" cy="4572000"/>
          </a:xfrm>
          <a:prstGeom prst="rect">
            <a:avLst/>
          </a:prstGeom>
        </p:spPr>
      </p:pic>
      <p:pic>
        <p:nvPicPr>
          <p:cNvPr id="6" name="crop2" descr="/Users/yao/projects/_wt/ppt/docs/slides/src/progress/img/sign_a_b_ref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9546" y="1188720"/>
            <a:ext cx="3048000" cy="4572000"/>
          </a:xfrm>
          <a:prstGeom prst="rect">
            <a:avLst/>
          </a:prstGeom>
        </p:spPr>
      </p:pic>
      <p:sp>
        <p:nvSpPr>
          <p:cNvPr id="7" name="rl0"/>
          <p:cNvSpPr txBox="1"/>
          <p:nvPr/>
        </p:nvSpPr>
        <p:spPr>
          <a:xfrm>
            <a:off x="548640" y="1188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游戏自带</a:t>
            </a:r>
            <a:endParaRPr lang="en-US" sz="1500" dirty="0"/>
          </a:p>
        </p:txBody>
      </p:sp>
      <p:sp>
        <p:nvSpPr>
          <p:cNvPr id="8" name="rl1"/>
          <p:cNvSpPr txBox="1"/>
          <p:nvPr/>
        </p:nvSpPr>
        <p:spPr>
          <a:xfrm>
            <a:off x="548640" y="2712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我们的</a:t>
            </a:r>
            <a:endParaRPr lang="en-US" sz="1500" dirty="0"/>
          </a:p>
        </p:txBody>
      </p:sp>
      <p:sp>
        <p:nvSpPr>
          <p:cNvPr id="9" name="rl2"/>
          <p:cNvSpPr txBox="1"/>
          <p:nvPr/>
        </p:nvSpPr>
        <p:spPr>
          <a:xfrm>
            <a:off x="548640" y="4236720"/>
            <a:ext cx="105156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原生</a:t>
            </a:r>
            <a:endParaRPr lang="en-US" sz="1500" dirty="0"/>
          </a:p>
        </p:txBody>
      </p:sp>
      <p:sp>
        <p:nvSpPr>
          <p:cNvPr id="10" name="crop-cap"/>
          <p:cNvSpPr txBox="1"/>
          <p:nvPr/>
        </p:nvSpPr>
        <p:spPr>
          <a:xfrm>
            <a:off x="548640" y="587044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原神真机截图局部：树、楼梯、招牌。每列从上到下：游戏自带放大、我们的算子、原生最高画质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同事那边和需要协调的事</a:t>
            </a:r>
            <a:endParaRPr lang="en-US" sz="2800" dirty="0"/>
          </a:p>
        </p:txBody>
      </p:sp>
      <p:sp>
        <p:nvSpPr>
          <p:cNvPr id="4" name="l-h"/>
          <p:cNvSpPr txBox="1"/>
          <p:nvPr/>
        </p:nvSpPr>
        <p:spPr>
          <a:xfrm>
            <a:off x="548640" y="11887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anantheparty：27 个草稿 PR，都还没合并、没上真机</a:t>
            </a:r>
            <a:endParaRPr lang="en-US" sz="1600" dirty="0"/>
          </a:p>
        </p:txBody>
      </p:sp>
      <p:sp>
        <p:nvSpPr>
          <p:cNvPr id="5" name="l-sum"/>
          <p:cNvSpPr txBox="1"/>
          <p:nvPr/>
        </p:nvSpPr>
        <p:spPr>
          <a:xfrm>
            <a:off x="548640" y="16459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方向是让结论更站得住：先定标准再测、探索和确认分开、每份证据都能追溯；在等一加 Ace5 到位后上真机。</a:t>
            </a:r>
            <a:endParaRPr lang="en-US" sz="1300" dirty="0"/>
          </a:p>
        </p:txBody>
      </p:sp>
      <p:graphicFrame>
        <p:nvGraphicFramePr>
          <p:cNvPr id="16" name="l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方向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草稿 PR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模型/算子工件流水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#30 #31 #34 #35 · PF #20 #21 #23 #24 #26 · refbench #2 #3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独立确认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#29 #37 #38 · PF #22 #25 #27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实验资格与证据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PF #18 · GOL #27 #32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专家筛选/连续画质/租约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GOL #28 · PF #17 #19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交接文档与展示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docs #5 · GOL #26 #33</a:t>
                      </a:r>
                      <a:endParaRPr lang="en-US" sz="12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l-foot"/>
          <p:cNvSpPr txBox="1"/>
          <p:nvPr/>
        </p:nvSpPr>
        <p:spPr>
          <a:xfrm>
            <a:off x="548640" y="54406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这里 PF/GOL 指 HGamey/phonefarm、HGamey/game_opt_loop。会议诉求（0917/0924 纪要，YanPENG-2026）见 v01 第 12 页</a:t>
            </a:r>
            <a:endParaRPr lang="en-US" sz="1150" dirty="0"/>
          </a:p>
        </p:txBody>
      </p:sp>
      <p:sp>
        <p:nvSpPr>
          <p:cNvPr id="8" name="r-h"/>
          <p:cNvSpPr txBox="1"/>
          <p:nvPr/>
        </p:nvSpPr>
        <p:spPr>
          <a:xfrm>
            <a:off x="6766560" y="1188720"/>
            <a:ext cx="4876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需要 owner 定的</a:t>
            </a:r>
            <a:endParaRPr lang="en-US" sz="1600" dirty="0"/>
          </a:p>
        </p:txBody>
      </p:sp>
      <p:sp>
        <p:nvSpPr>
          <p:cNvPr id="9" name="r0-bg"/>
          <p:cNvSpPr/>
          <p:nvPr/>
        </p:nvSpPr>
        <p:spPr>
          <a:xfrm>
            <a:off x="6766560" y="1691640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r0-h"/>
          <p:cNvSpPr txBox="1"/>
          <p:nvPr/>
        </p:nvSpPr>
        <p:spPr>
          <a:xfrm>
            <a:off x="6949440" y="1764792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分工</a:t>
            </a:r>
            <a:endParaRPr lang="en-US" sz="1400" dirty="0"/>
          </a:p>
        </p:txBody>
      </p:sp>
      <p:sp>
        <p:nvSpPr>
          <p:cNvPr id="11" name="r0-b"/>
          <p:cNvSpPr txBox="1"/>
          <p:nvPr/>
        </p:nvSpPr>
        <p:spPr>
          <a:xfrm>
            <a:off x="6949440" y="2084832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实验资格、设备租约、独立确认两边都在做，请定谁主谁辅</a:t>
            </a:r>
            <a:endParaRPr lang="en-US" sz="1200" dirty="0"/>
          </a:p>
        </p:txBody>
      </p:sp>
      <p:sp>
        <p:nvSpPr>
          <p:cNvPr id="12" name="r1-bg"/>
          <p:cNvSpPr/>
          <p:nvPr/>
        </p:nvSpPr>
        <p:spPr>
          <a:xfrm>
            <a:off x="6766560" y="2807208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r1-h"/>
          <p:cNvSpPr txBox="1"/>
          <p:nvPr/>
        </p:nvSpPr>
        <p:spPr>
          <a:xfrm>
            <a:off x="6949440" y="288036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提交路径</a:t>
            </a:r>
            <a:endParaRPr lang="en-US" sz="1400" dirty="0"/>
          </a:p>
        </p:txBody>
      </p:sp>
      <p:sp>
        <p:nvSpPr>
          <p:cNvPr id="14" name="r1-b"/>
          <p:cNvSpPr txBox="1"/>
          <p:nvPr/>
        </p:nvSpPr>
        <p:spPr>
          <a:xfrm>
            <a:off x="6949440" y="3200400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我们走 BH3GEI/phonefarm 再同步，对方直接提 HGamey/phonefarm，建议约定唯一上游</a:t>
            </a:r>
            <a:endParaRPr lang="en-US" sz="1200" dirty="0"/>
          </a:p>
        </p:txBody>
      </p:sp>
      <p:sp>
        <p:nvSpPr>
          <p:cNvPr id="15" name="r2-bg"/>
          <p:cNvSpPr/>
          <p:nvPr/>
        </p:nvSpPr>
        <p:spPr>
          <a:xfrm>
            <a:off x="6766560" y="3922776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r2-h"/>
          <p:cNvSpPr txBox="1"/>
          <p:nvPr/>
        </p:nvSpPr>
        <p:spPr>
          <a:xfrm>
            <a:off x="6949440" y="3995928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对外怎么说</a:t>
            </a:r>
            <a:endParaRPr lang="en-US" sz="1400" dirty="0"/>
          </a:p>
        </p:txBody>
      </p:sp>
      <p:sp>
        <p:nvSpPr>
          <p:cNvPr id="17" name="r2-b"/>
          <p:cNvSpPr txBox="1"/>
          <p:nvPr/>
        </p:nvSpPr>
        <p:spPr>
          <a:xfrm>
            <a:off x="6949440" y="4315968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画质和「没测出变差」的结论，建议统一按更严的标准重测后再报</a:t>
            </a:r>
            <a:endParaRPr lang="en-US" sz="1200" dirty="0"/>
          </a:p>
        </p:txBody>
      </p:sp>
      <p:sp>
        <p:nvSpPr>
          <p:cNvPr id="18" name="r3-bg"/>
          <p:cNvSpPr/>
          <p:nvPr/>
        </p:nvSpPr>
        <p:spPr>
          <a:xfrm>
            <a:off x="6766560" y="5038344"/>
            <a:ext cx="4876495" cy="1005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r3-h"/>
          <p:cNvSpPr txBox="1"/>
          <p:nvPr/>
        </p:nvSpPr>
        <p:spPr>
          <a:xfrm>
            <a:off x="6949440" y="5111496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设备</a:t>
            </a:r>
            <a:endParaRPr lang="en-US" sz="1400" dirty="0"/>
          </a:p>
        </p:txBody>
      </p:sp>
      <p:sp>
        <p:nvSpPr>
          <p:cNvPr id="20" name="r3-b"/>
          <p:cNvSpPr txBox="1"/>
          <p:nvPr/>
        </p:nvSpPr>
        <p:spPr>
          <a:xfrm>
            <a:off x="6949440" y="5431536"/>
            <a:ext cx="4510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只有 1 台手机，agent 排队；0924 待办①的采购进展待确认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附录：v02 之后合并的 PR</a:t>
            </a:r>
            <a:endParaRPr lang="en-US" sz="2800" dirty="0"/>
          </a:p>
        </p:txBody>
      </p:sp>
      <p:graphicFrame>
        <p:nvGraphicFramePr>
          <p:cNvPr id="17" name="col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fix(gray-layer): 挂层后启动目标恒失败（没剥 #a…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灰档层：「去掉多余写回」开关 storeop（阶段 2 第一个开关…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fix(autoloop): get-state 回包带 #adb…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docs(frame-audit): 原神一帧多余步骤报告（阶段 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#94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feat(frame-audit): 记录 pass 内查询，带遮…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phonefarm #95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fix(onboard): 停充没生效时如实记录（档案曾把失败写成…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docs #8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PPT：进展 v02「手机节点上线与作战室」+ 生成脚本按版本出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col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1188720"/>
          <a:ext cx="541004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55568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PR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标题</a:t>
                      </a:r>
                      <a:endParaRPr lang="en-US" sz="10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#49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fix(optimize): 温度上限改成农场安全线 70C，不再…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#50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黑盒游戏每个候选上机前先进门 (o…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#51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feat(optimize): 日志里判定后面跟上理由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#52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test(onboard): 真机原神档案当夹具（10-11 冷启…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game_opt_loop #53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feat(tools): 守门 (Jev) 离线回放 gate_r…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#7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pf-node kill 逐级升级，杀得掉排队中不理 SIGINT…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harness-ops #8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节点新增 fetch_apk：自己下载 APK 并装到手机</a:t>
                      </a:r>
                      <a:endParaRPr lang="en-US" sz="10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oot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2026-10-11 15:11 之后 合并 14 个（太平洋时间）；09-11 以来合计 148 个。数据截至 2026-10-11 16:29 PDT。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Gamey Monthly">
  <a:themeElements>
    <a:clrScheme name="HGamey Monthly">
      <a:dk1>
        <a:srgbClr val="0F2744"/>
      </a:dk1>
      <a:lt1>
        <a:srgbClr val="FFFFFF"/>
      </a:lt1>
      <a:dk2>
        <a:srgbClr val="5C6470"/>
      </a:dk2>
      <a:lt2>
        <a:srgbClr val="EEF2F7"/>
      </a:lt2>
      <a:accent1>
        <a:srgbClr val="1F4E79"/>
      </a:accent1>
      <a:accent2>
        <a:srgbClr val="0A806F"/>
      </a:accent2>
      <a:accent3>
        <a:srgbClr val="C2602E"/>
      </a:accent3>
      <a:accent4>
        <a:srgbClr val="B23A3A"/>
      </a:accent4>
      <a:accent5>
        <a:srgbClr val="D8DCE2"/>
      </a:accent5>
      <a:accent6>
        <a:srgbClr val="8A94A6"/>
      </a:accent6>
      <a:hlink>
        <a:srgbClr val="1F4E79"/>
      </a:hlink>
      <a:folHlink>
        <a:srgbClr val="5C6470"/>
      </a:folHlink>
    </a:clrScheme>
    <a:fontScheme name="HGamey Monthly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HGamey 进展 v03</dc:title>
  <dc:subject>PptxGenJS Presentation</dc:subject>
  <dc:creator>BH3GEI</dc:creator>
  <cp:lastModifiedBy>BH3GEI</cp:lastModifiedBy>
  <cp:revision>1</cp:revision>
  <dcterms:created xsi:type="dcterms:W3CDTF">2026-10-11T23:30:35Z</dcterms:created>
  <dcterms:modified xsi:type="dcterms:W3CDTF">2026-10-11T23:30:35Z</dcterms:modified>
</cp:coreProperties>
</file>