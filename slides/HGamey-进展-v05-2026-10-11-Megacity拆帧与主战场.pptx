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这一版" id="{e95859e0-0c81-9d3a-93c1-889ff4e9fd0a}">
          <p14:sldIdLst>
            <p14:sldId id="256"/>
            <p14:sldId id="257"/>
          </p14:sldIdLst>
        </p14:section>
        <p14:section name="Megacity 拆帧" id="{df6f8f94-a7b3-16c9-0b83-87f8cd31ff3e}">
          <p14:sldIdLst>
            <p14:sldId id="258"/>
            <p14:sldId id="259"/>
            <p14:sldId id="260"/>
          </p14:sldIdLst>
        </p14:section>
        <p14:section name="全局" id="{19d475ea-6df2-52ee-bee2-eb1905a67d94}">
          <p14:sldIdLst>
            <p14:sldId id="261"/>
            <p14:sldId id="269"/>
            <p14:sldId id="270"/>
          </p14:sldIdLst>
        </p14:section>
        <p14:section name="下一步" id="{d3c7c6c1-f846-82c6-717e-8b6bb4a94bdc}">
          <p14:sldIdLst>
            <p14:sldId id="262"/>
          </p14:sldIdLst>
        </p14:section>
        <p14:section name="云端出方案与作战室" id="{fa76a3e2-7c71-75e7-138c-e0c76f03ab5d}">
          <p14:sldIdLst>
            <p14:sldId id="263"/>
            <p14:sldId id="264"/>
          </p14:sldIdLst>
        </p14:section>
        <p14:section name="这一版合并的改动" id="{1a7b69d9-1b31-9643-6d6c-4b1e007a2e89}">
          <p14:sldIdLst>
            <p14:sldId id="265"/>
          </p14:sldIdLst>
        </p14:section>
        <p14:section name="回顾" id="{a91d89ff-7fea-7826-6105-4e3547e319db}">
          <p14:sldIdLst>
            <p14:sldId id="266"/>
            <p14:sldId id="267"/>
            <p14:sldId id="268"/>
          </p14:sldIdLst>
        </p14:section>
        <p14:section name="全局" id="{34b1efb0-3c56-7a9c-592c-120d4cd081ec}">
          <p14:sldIdLst/>
        </p14:section>
        <p14:section name="同事与协调" id="{233f34df-6432-8607-efc0-83b6718b16c9}">
          <p14:sldIdLst>
            <p14:sldId id="271"/>
          </p14:sldIdLst>
        </p14:section>
        <p14:section name="附录" id="{10465754-b7dd-ac1e-d26d-48435d2d86cb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这一版的成果：Megacity 一帧多余步骤报告与原神对比（BH3GEI/phonefarm #115，docs/MEGACITY_FRAME_AUDIT.md，证据 knobs/evidence/12_megacity/）；作战室按目标模式改版（harness-ops #11，尚未上线）；云端出方案成本（game_opt_loop docs/CLOUD_PROPOSER.md）。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来源：MEGACITY_FRAME_AUDIT.md §1–§3。模型读 108.8 MB + 写 173.7 MB = 282.5 MB/帧（未压缩上限）；确定白存 M1 = rp32（sig fb2e9bc6efb185c5）附件 1，7.73 MB/帧；M2 = rp19 写 61.9 + rp32 读 30.9、写 30.9 + rp41 读 61.9 ≈ 186 MB/帧，有人读、不算白存，实际受 UBWC 压缩会小很多，不确定；M3 = rp40 屏幕 LOAD 7.7 + 深度 LOAD/STORE 15.5 ≈ 23 MB/帧，疑似。lead 口头说的「几十倍」报告不支持：确定白存是 3 倍，最大头的结构性搬运 186 vs 原神约 33 MB（约 5.6 倍）。云端出方案：game_opt_loop docs/CLOUD_PROPOSER.md。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来源：MEGACITY_FRAME_AUDIT.md §3 对比表。原神：183.5 MB/帧，确定白存 2.46 MB（3 处，1.3%），主深度被 4 个 pass 各 LOAD 一次约 33 MB（有人读）；rp112 疑似已证实带遮挡查询，作废，所以原神没有「疑似」段。Megacity：282.5 MB/帧，确定白存 7.73 MB（1 处，2.7%），MSAA 写回再读回约 186 MB（66%），rp40 疑似约 23 MB。「有用」= 总量减去其余三段。全部是模型值（宽×高×每像素字节×采样数），未压缩上限。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数据：MEGACITY_FRAME_AUDIT.md §1 表（knobs/evidence/12_megacity/analysis.md），场景 city_static（相机钉在路线起点），三次抓取 9 帧结构一致。「GPU 时间占比」= 打点 ms ÷ 8 个 pass 合计 16.2 ms。#8 = rp32（sig fb2e9bc6efb185c5）：解析目标 #366 写回后被 #9 再解析一次覆盖，中间没人读，白写回 7.73 MB。#10 = rp40（sig ae9f514c59165b6a）疑似：要先确认那 1 笔 draw 盖满全屏、没用深度测试。第一轮抓取因为 Unity 6 用描述符模板、层没钩到而全是假阳性，已作废（PF #113 修复）。ev_overflow=1：有一条命令缓冲被截断，不能完全排除漏掉步骤。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来源：MEGACITY_FRAME_AUDIT.md §5。开关 1 = sig fb2e9bc6efb185c5 附件 1 storeOp→DONT_CARE（真机任务 cb0e2a4cb462，city_static 关/开交替截图，结果待取回）；2 = sig ae9f514c59165b6a 附件 1 loadOp LOAD→DONT_CARE；3 = 同 sig 附件 0 深度 storeOp/stencilStoreOp→DONT_CARE；4 = rp19/rp32/rp41 合并或片上解析。Megacity 是我们自己打包的白盒（Unity 6 URP），可以改设置做对照。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 2：原神开关 PF #110；Megacity 逐像素证明真机任务 cb0e2a4cb462 结果待取回。阶段 3：目标模式 GOL #66 #67 #68（proposer: cloud 接进目标模式）#71。阶段 4：Megacity 拆帧 PF #115，PUBG 接入中。阶段 5：作战室改版 harness-ops #11，节点失联还没上线。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教训来源：~/projects/_wt/ROADMAP.md 记录——16:35 失联（18:55 恢复，mini 重启后服务没自启），20:00 整机失联（20:15 owner 手动重启后恢复；自动登录不生效，用户级自启无效），21:15 第三次整机失联（到 22:45 仍未恢复，疑内存或过热，已请 owner 查看）。决定与计划来源：ROADMAP 23:05 记录、MEGACITY_FRAME_AUDIT.md §3–§5。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来源：HGamey/game_opt_loop docs/CLOUD_PROPOSER.md（「成本」一节：pi --mode json 事件流统计、本机 5 次实测；输入 6.0k–7.4k token，命中缓存 2.6k–5.8k；输出 0.7k–1.6k）。Actions run 38193858130 跑通。用量写进 report.json 的 proposer.model_calls / proposer.usage（GOL #72）。目标模式里 proposer: cloud 已接上（GOL #68），但受限 GH_TOKEN 还没建，节点上暂时不能用。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截图：warroom agent 本地预览（10-11 19:50，scratchpad/locl_desk.png，裁出上半屏）。页面里的目标、进度、候选都是「示例数据」，用来展示改版后的布局，不能当结果引用。来源 harness-ops #11：首页只放产品视角（手机槽位、目标卡、时间线、掌舵区），开发 agent 的任务、日志、设备锁挪到「维护」页。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collect.py --since "2026-10-11 20:21"（v04 数据截止）统计，见 auto.our_since。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规格：~/projects/_wt/goal-spec/GOAL_SPEC.md（v1 + v1.1 修订 12 条）。实现：HGamey/game_opt_loop #66（goal draft / goal run，每代读 human.md，写 state.json / events.jsonl / report.md，自己停）、#67（网页「停止」= SIGINT，phonefarm 走还原）。测试用假 phonefarm 端到端跑了三个场景（人中途掌舵后按 no_gain 停、第一代达标、开跑前叫停）。大模型起草真调过一次（glm-4.7，「原神太费电, 想省点电但别卡」）。真机还没跑过目标运行。网页改版：harness-ops #11。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来源：GENSHIN_FRAME_AUDIT.md §9（knobs/evidence/11_storeop_check/storeop_check.json）。三组：同段隔 1 秒 5 对 3.3–12.9%（均 6.4）；相邻段关~开隔约 6 秒 4 对 11.4–20.2%（均 15.0）；隔一段同状态约 12 秒 3 对 15.4–22.0%（均 18.2）。平均每通道绝对差分别 2.5 / 5.3 / 6.0。层用「孪生 pass」现场开关（PF #96）。原始截图留在节点任务目录，比对数字在节点上算完带回。rp112（sig 309ab726665125ef）带查询（PF #94），按形态是遮挡剔除。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数据：phonefarm docs/GENSHIN_FRAME_AUDIT.md §2 表（knobs/evidence/10_frameaudit/analysis.md），第 1 次抓取第 0 帧。「GPU 时间占比」= 每个 pass 打点时间 ÷ 33 个 pass 合计 27.19 ms（打点会串行化 GPU，只用占比）。写回为模型值（宽×高×每像素字节，未压缩上限）。#44 = rp103（sig 15a51a879df99c32）附件 C2；#19 = rp71（sig 9d0b4db80bf552b8）附件 C0、C1；#51 = rp112（sig 309ab726665125ef），颜色 storeOp=NONE、深度只读，很可能是遮挡查询，层没钩 vkCmdBeginQuery，不确定。lead 口头说的「29 步」与报告不同：报告是每次 present 33 个 render pass，表里合并成 27 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参照 diagrams/01-harness-overview。新加：外部进程/对比模式（GOL #39 #40 #44）、云端 pi + Kimi（GOL #47）、上机前守门（GOL #46，用 TypeSafe Jev 估「值不值得花一次真机评测」，缺省不开、可只记不挡）、设备锁（PF #77 #81 #87、GOL #41）、提前停与判官自检（PF #78 #80 #84 #88）、新游戏零人工接入（PF #83 #89、GOL #45）。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来源：HGamey/harness-ops node/node_service.py 与 pf-node。/jobs 给开发机 agent 发真机任务（pf-node 客户端）；/mcp 给云端出方案只读查询手机状态（白名单工具，GOL #47 的 pi + Kimi 用）；/dash 作战室（独立查看密码）。节点只听本机端口，经 Cloudflare Tunnel 出网，要令牌。自更新：harness-ops #3 #4 #5；任务重启修复 #1。 v03 之后：节点程序改由云端编译（BH3GEI/phonefarm #105 #111、harness-ops #10 #13），节点只读 token（harness-ops #9），部署互斥锁（#12）。节点开机自启是系统级的，待 owner 安装。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同事 PR 由 collect.py 现查（auto.colleague_prs）。分组是人工归类。草稿 PR 描述里写明没有动手机（No phone… 0 tokens）。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auto.our_since 生成（作者 BH3GEI，v04 数据截止 2026-10-11 20:21 PDT 之后合并）。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HGamey 进展 v05 · 2026-10-11 · 换游戏拆帧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HGamey 进展 v05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换游戏拆帧：Megacity 的浪费更多、更典型，阶段 3 主战场定为 Megacity</a:t>
            </a:r>
            <a:endParaRPr lang="en-US" sz="2000" dirty="0"/>
          </a:p>
        </p:txBody>
      </p:sp>
      <p:sp>
        <p:nvSpPr>
          <p:cNvPr id="5" name="line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2026-10-11 · BH3GEI · 上一版 v04：阶段 2 完成与目标模式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Megacity 每帧白写回是原神的 3 倍，还有一块 186 MB 的来回搬运</a:t>
            </a:r>
            <a:endParaRPr lang="en-US" sz="2800" dirty="0"/>
          </a:p>
        </p:txBody>
      </p:sp>
      <p:sp>
        <p:nvSpPr>
          <p:cNvPr id="4" name="stats-bg"/>
          <p:cNvSpPr/>
          <p:nvPr/>
        </p:nvSpPr>
        <p:spPr>
          <a:xfrm>
            <a:off x="548640" y="4480560"/>
            <a:ext cx="11094415" cy="640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stats-frame"/>
          <p:cNvSpPr/>
          <p:nvPr/>
        </p:nvSpPr>
        <p:spPr>
          <a:xfrm>
            <a:off x="548640" y="4480560"/>
            <a:ext cx="11094415" cy="640080"/>
          </a:xfrm>
          <a:prstGeom prst="rect">
            <a:avLst/>
          </a:prstGeom>
          <a:ln w="12700">
            <a:solidFill>
              <a:srgbClr val="D8DCE2"/>
            </a:solidFill>
            <a:prstDash val="solid"/>
          </a:ln>
        </p:spPr>
      </p:sp>
      <p:sp>
        <p:nvSpPr>
          <p:cNvPr id="6" name="stat0"/>
          <p:cNvSpPr txBox="1"/>
          <p:nvPr/>
        </p:nvSpPr>
        <p:spPr>
          <a:xfrm>
            <a:off x="731520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11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个改动 v04 之后合并</a:t>
            </a:r>
            <a:endParaRPr lang="en-US" sz="1400" dirty="0"/>
          </a:p>
        </p:txBody>
      </p:sp>
      <p:sp>
        <p:nvSpPr>
          <p:cNvPr id="7" name="stat1"/>
          <p:cNvSpPr txBox="1"/>
          <p:nvPr/>
        </p:nvSpPr>
        <p:spPr>
          <a:xfrm>
            <a:off x="3505124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282.5 MB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每帧读写（原神 183.5）</a:t>
            </a:r>
            <a:endParaRPr lang="en-US" sz="1400" dirty="0"/>
          </a:p>
        </p:txBody>
      </p:sp>
      <p:sp>
        <p:nvSpPr>
          <p:cNvPr id="8" name="stat2"/>
          <p:cNvSpPr txBox="1"/>
          <p:nvPr/>
        </p:nvSpPr>
        <p:spPr>
          <a:xfrm>
            <a:off x="6278728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≈ 90 秒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云端出一代方案</a:t>
            </a:r>
            <a:endParaRPr lang="en-US" sz="1400" dirty="0"/>
          </a:p>
        </p:txBody>
      </p:sp>
      <p:sp>
        <p:nvSpPr>
          <p:cNvPr id="9" name="stat3"/>
          <p:cNvSpPr txBox="1"/>
          <p:nvPr/>
        </p:nvSpPr>
        <p:spPr>
          <a:xfrm>
            <a:off x="9052331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193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 PR（09-11 以来）</a:t>
            </a:r>
            <a:endParaRPr lang="en-US" sz="1400" dirty="0"/>
          </a:p>
        </p:txBody>
      </p:sp>
      <p:sp>
        <p:nvSpPr>
          <p:cNvPr id="10" name="card0"/>
          <p:cNvSpPr/>
          <p:nvPr/>
        </p:nvSpPr>
        <p:spPr>
          <a:xfrm>
            <a:off x="548640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ard0-big"/>
          <p:cNvSpPr txBox="1"/>
          <p:nvPr/>
        </p:nvSpPr>
        <p:spPr>
          <a:xfrm>
            <a:off x="777240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4"/>
                </a:solidFill>
              </a:rPr>
              <a:t>7.73 MB</a:t>
            </a:r>
            <a:endParaRPr lang="en-US" sz="3400" dirty="0"/>
          </a:p>
        </p:txBody>
      </p:sp>
      <p:sp>
        <p:nvSpPr>
          <p:cNvPr id="12" name="card0-label"/>
          <p:cNvSpPr txBox="1"/>
          <p:nvPr/>
        </p:nvSpPr>
        <p:spPr>
          <a:xfrm>
            <a:off x="777240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每帧白写回</a:t>
            </a:r>
            <a:endParaRPr lang="en-US" sz="1500" dirty="0"/>
          </a:p>
        </p:txBody>
      </p:sp>
      <p:sp>
        <p:nvSpPr>
          <p:cNvPr id="13" name="card0-text"/>
          <p:cNvSpPr txBox="1"/>
          <p:nvPr/>
        </p:nvSpPr>
        <p:spPr>
          <a:xfrm>
            <a:off x="777240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写了没人读；原神是 2.46 MB。和原神同一种开关就能去掉</a:t>
            </a:r>
            <a:endParaRPr lang="en-US" sz="1300" dirty="0"/>
          </a:p>
        </p:txBody>
      </p:sp>
      <p:sp>
        <p:nvSpPr>
          <p:cNvPr id="14" name="card1"/>
          <p:cNvSpPr/>
          <p:nvPr/>
        </p:nvSpPr>
        <p:spPr>
          <a:xfrm>
            <a:off x="3390824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card1-big"/>
          <p:cNvSpPr txBox="1"/>
          <p:nvPr/>
        </p:nvSpPr>
        <p:spPr>
          <a:xfrm>
            <a:off x="3619424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186 MB</a:t>
            </a:r>
            <a:endParaRPr lang="en-US" sz="3400" dirty="0"/>
          </a:p>
        </p:txBody>
      </p:sp>
      <p:sp>
        <p:nvSpPr>
          <p:cNvPr id="16" name="card1-label"/>
          <p:cNvSpPr txBox="1"/>
          <p:nvPr/>
        </p:nvSpPr>
        <p:spPr>
          <a:xfrm>
            <a:off x="3619424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抗锯齿缓冲来回搬运</a:t>
            </a:r>
            <a:endParaRPr lang="en-US" sz="1500" dirty="0"/>
          </a:p>
        </p:txBody>
      </p:sp>
      <p:sp>
        <p:nvSpPr>
          <p:cNvPr id="17" name="card1-text"/>
          <p:cNvSpPr txBox="1"/>
          <p:nvPr/>
        </p:nvSpPr>
        <p:spPr>
          <a:xfrm>
            <a:off x="3619424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写出去再读回，占全帧读写 66%；有人读，要改结构或改 Unity 设置才能省</a:t>
            </a:r>
            <a:endParaRPr lang="en-US" sz="1300" dirty="0"/>
          </a:p>
        </p:txBody>
      </p:sp>
      <p:sp>
        <p:nvSpPr>
          <p:cNvPr id="18" name="card2"/>
          <p:cNvSpPr/>
          <p:nvPr/>
        </p:nvSpPr>
        <p:spPr>
          <a:xfrm>
            <a:off x="6233008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2-big"/>
          <p:cNvSpPr txBox="1"/>
          <p:nvPr/>
        </p:nvSpPr>
        <p:spPr>
          <a:xfrm>
            <a:off x="6461608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8 步</a:t>
            </a:r>
            <a:endParaRPr lang="en-US" sz="3400" dirty="0"/>
          </a:p>
        </p:txBody>
      </p:sp>
      <p:sp>
        <p:nvSpPr>
          <p:cNvPr id="20" name="card2-label"/>
          <p:cNvSpPr txBox="1"/>
          <p:nvPr/>
        </p:nvSpPr>
        <p:spPr>
          <a:xfrm>
            <a:off x="6461608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每帧渲染步骤</a:t>
            </a:r>
            <a:endParaRPr lang="en-US" sz="1500" dirty="0"/>
          </a:p>
        </p:txBody>
      </p:sp>
      <p:sp>
        <p:nvSpPr>
          <p:cNvPr id="21" name="card2-text"/>
          <p:cNvSpPr txBox="1"/>
          <p:nvPr/>
        </p:nvSpPr>
        <p:spPr>
          <a:xfrm>
            <a:off x="6461608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原神是 33 步；Megacity 结构简单，浪费更集中</a:t>
            </a:r>
            <a:endParaRPr lang="en-US" sz="1300" dirty="0"/>
          </a:p>
        </p:txBody>
      </p:sp>
      <p:sp>
        <p:nvSpPr>
          <p:cNvPr id="22" name="card3"/>
          <p:cNvSpPr/>
          <p:nvPr/>
        </p:nvSpPr>
        <p:spPr>
          <a:xfrm>
            <a:off x="9075191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card3-big"/>
          <p:cNvSpPr txBox="1"/>
          <p:nvPr/>
        </p:nvSpPr>
        <p:spPr>
          <a:xfrm>
            <a:off x="9303791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≈ 23 MB</a:t>
            </a:r>
            <a:endParaRPr lang="en-US" sz="3400" dirty="0"/>
          </a:p>
        </p:txBody>
      </p:sp>
      <p:sp>
        <p:nvSpPr>
          <p:cNvPr id="24" name="card3-label"/>
          <p:cNvSpPr txBox="1"/>
          <p:nvPr/>
        </p:nvSpPr>
        <p:spPr>
          <a:xfrm>
            <a:off x="9303791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疑似多余</a:t>
            </a:r>
            <a:endParaRPr lang="en-US" sz="1500" dirty="0"/>
          </a:p>
        </p:txBody>
      </p:sp>
      <p:sp>
        <p:nvSpPr>
          <p:cNvPr id="25" name="card3-text"/>
          <p:cNvSpPr txBox="1"/>
          <p:nvPr/>
        </p:nvSpPr>
        <p:spPr>
          <a:xfrm>
            <a:off x="9303791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最后拷到屏幕那一步的两次读入和一次写回，要先比画面</a:t>
            </a:r>
            <a:endParaRPr lang="en-US" sz="1300" dirty="0"/>
          </a:p>
        </p:txBody>
      </p:sp>
      <p:sp>
        <p:nvSpPr>
          <p:cNvPr id="26" name="bottom-bg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bottom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决定：阶段 3 主战场定为 Megacity，第一次目标运行改在 Megacity 上跑，原神作对照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两个游戏一帧对比：Megacity 浪费的大头是抗锯齿缓冲来回搬运</a:t>
            </a:r>
            <a:endParaRPr lang="en-US" sz="2800" dirty="0"/>
          </a:p>
        </p:txBody>
      </p:sp>
      <p:pic>
        <p:nvPicPr>
          <p:cNvPr id="4" name="fig" descr="/Users/yao/projects/_wt/ppt/docs/slides/src/progress/fig/out/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0664"/>
            <a:ext cx="11094415" cy="43453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Megacity 一帧 8 步：主场景开了 4 倍抗锯齿，缓冲被写出去又读回两次</a:t>
            </a:r>
            <a:endParaRPr lang="en-US" sz="2800" dirty="0"/>
          </a:p>
        </p:txBody>
      </p:sp>
      <p:pic>
        <p:nvPicPr>
          <p:cNvPr id="4" name="fig" descr="/Users/yao/projects/_wt/ppt/docs/slides/src/progress/fig/out/mega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0664"/>
            <a:ext cx="11094415" cy="43453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Megacity 开关清单：第 1 个确定安全，最大的第 4 个先用白盒设置量真实收益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和原神同一套做法：只改确定没人用的一侧，每个开关都要比画面</a:t>
            </a:r>
            <a:endParaRPr lang="en-US" sz="1500" dirty="0"/>
          </a:p>
        </p:txBody>
      </p:sp>
      <p:graphicFrame>
        <p:nvGraphicFramePr>
          <p:cNvPr id="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2377440"/>
                <a:gridCol w="3685032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顺序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开关（大白话）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能省多少（每帧）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现在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#8 那一步的合成结果不写回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7.73 MB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确定没人读；静止画面的逐像素比对已在真机上跑，节点失联还没取回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#10 拷屏前不读入屏幕旧内容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7.7 MB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疑似，先比画面：那一笔要盖满全屏才安全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#10 的深度不读入、不写回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最多 15.5 MB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疑似，同上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抗锯齿缓冲留在芯片上，不出片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最多约 186 MB（模型上限）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层里改结构风险高；先在 Unity 设置里关掉或改成片上解析，量出真实收益再决定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总蓝图：阶段 3 部件齐了，主战场改为 Megacity；阶段 4 已拆完第二个游戏</a:t>
            </a:r>
            <a:endParaRPr lang="en-US" sz="2800" dirty="0"/>
          </a:p>
        </p:txBody>
      </p:sp>
      <p:pic>
        <p:nvPicPr>
          <p:cNvPr id="4" name="fig" descr="/Users/yao/projects/_wt/ppt/docs/slides/src/progress/fig/out/blueprint-v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9610"/>
            <a:ext cx="11094415" cy="453022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✓ 完成　◐ 进行中　◔ 部件就位：代码已合并、还没在这一步真用　○ 未开始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下一步：把 Megacity 的收益量出来，再让目标模式在它上面自己跑</a:t>
            </a:r>
            <a:endParaRPr lang="en-US" sz="2800" dirty="0"/>
          </a:p>
        </p:txBody>
      </p:sp>
      <p:sp>
        <p:nvSpPr>
          <p:cNvPr id="4" name="lead-bg"/>
          <p:cNvSpPr/>
          <p:nvPr/>
        </p:nvSpPr>
        <p:spPr>
          <a:xfrm>
            <a:off x="548640" y="1188720"/>
            <a:ext cx="11094415" cy="594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lead"/>
          <p:cNvSpPr txBox="1"/>
          <p:nvPr/>
        </p:nvSpPr>
        <p:spPr>
          <a:xfrm>
            <a:off x="822960" y="11887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今晚教训：节点 Mac mini 三次整机失联，真机全部停摆；一台节点一部手机是单点，节点必须能自启</a:t>
            </a:r>
            <a:endParaRPr lang="en-US" sz="1600" dirty="0"/>
          </a:p>
        </p:txBody>
      </p:sp>
      <p:sp>
        <p:nvSpPr>
          <p:cNvPr id="6" name="st0-bg"/>
          <p:cNvSpPr/>
          <p:nvPr/>
        </p:nvSpPr>
        <p:spPr>
          <a:xfrm>
            <a:off x="548640" y="196596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t0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0-n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0-h"/>
          <p:cNvSpPr txBox="1"/>
          <p:nvPr/>
        </p:nvSpPr>
        <p:spPr>
          <a:xfrm>
            <a:off x="146304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取回逐像素证明</a:t>
            </a:r>
            <a:endParaRPr lang="en-US" sz="1700" dirty="0"/>
          </a:p>
        </p:txBody>
      </p:sp>
      <p:sp>
        <p:nvSpPr>
          <p:cNvPr id="10" name="st0-b"/>
          <p:cNvSpPr txBox="1"/>
          <p:nvPr/>
        </p:nvSpPr>
        <p:spPr>
          <a:xfrm>
            <a:off x="4663440" y="196596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Megacity 静止画面上开关 1 的比对已跑，节点恢复后取回</a:t>
            </a:r>
            <a:endParaRPr lang="en-US" sz="1350" dirty="0"/>
          </a:p>
        </p:txBody>
      </p:sp>
      <p:sp>
        <p:nvSpPr>
          <p:cNvPr id="11" name="st0-s-bg"/>
          <p:cNvSpPr/>
          <p:nvPr/>
        </p:nvSpPr>
        <p:spPr>
          <a:xfrm>
            <a:off x="10271455" y="214884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st0-s"/>
          <p:cNvSpPr txBox="1"/>
          <p:nvPr/>
        </p:nvSpPr>
        <p:spPr>
          <a:xfrm>
            <a:off x="10271455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13" name="st1-bg"/>
          <p:cNvSpPr/>
          <p:nvPr/>
        </p:nvSpPr>
        <p:spPr>
          <a:xfrm>
            <a:off x="548640" y="283464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st1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1-n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t1-h"/>
          <p:cNvSpPr txBox="1"/>
          <p:nvPr/>
        </p:nvSpPr>
        <p:spPr>
          <a:xfrm>
            <a:off x="146304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白盒量真实收益</a:t>
            </a:r>
            <a:endParaRPr lang="en-US" sz="1700" dirty="0"/>
          </a:p>
        </p:txBody>
      </p:sp>
      <p:sp>
        <p:nvSpPr>
          <p:cNvPr id="17" name="st1-b"/>
          <p:cNvSpPr txBox="1"/>
          <p:nvPr/>
        </p:nvSpPr>
        <p:spPr>
          <a:xfrm>
            <a:off x="4663440" y="283464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在 Unity 设置里关掉 4 倍抗锯齿或改成片上解析，真机量省多少电、快多少</a:t>
            </a:r>
            <a:endParaRPr lang="en-US" sz="1350" dirty="0"/>
          </a:p>
        </p:txBody>
      </p:sp>
      <p:sp>
        <p:nvSpPr>
          <p:cNvPr id="18" name="st1-s-bg"/>
          <p:cNvSpPr/>
          <p:nvPr/>
        </p:nvSpPr>
        <p:spPr>
          <a:xfrm>
            <a:off x="10271455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st1-s"/>
          <p:cNvSpPr txBox="1"/>
          <p:nvPr/>
        </p:nvSpPr>
        <p:spPr>
          <a:xfrm>
            <a:off x="10271455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0" name="st2-bg"/>
          <p:cNvSpPr/>
          <p:nvPr/>
        </p:nvSpPr>
        <p:spPr>
          <a:xfrm>
            <a:off x="548640" y="370332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t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2-n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t2-h"/>
          <p:cNvSpPr txBox="1"/>
          <p:nvPr/>
        </p:nvSpPr>
        <p:spPr>
          <a:xfrm>
            <a:off x="14630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目标模式第一次真机运行</a:t>
            </a:r>
            <a:endParaRPr lang="en-US" sz="1700" dirty="0"/>
          </a:p>
        </p:txBody>
      </p:sp>
      <p:sp>
        <p:nvSpPr>
          <p:cNvPr id="24" name="st2-b"/>
          <p:cNvSpPr txBox="1"/>
          <p:nvPr/>
        </p:nvSpPr>
        <p:spPr>
          <a:xfrm>
            <a:off x="4663440" y="370332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改在 Megacity 的飞行路线上跑，原神作对照</a:t>
            </a:r>
            <a:endParaRPr lang="en-US" sz="1350" dirty="0"/>
          </a:p>
        </p:txBody>
      </p:sp>
      <p:sp>
        <p:nvSpPr>
          <p:cNvPr id="25" name="st2-s-bg"/>
          <p:cNvSpPr/>
          <p:nvPr/>
        </p:nvSpPr>
        <p:spPr>
          <a:xfrm>
            <a:off x="10271455" y="38862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st2-s"/>
          <p:cNvSpPr txBox="1"/>
          <p:nvPr/>
        </p:nvSpPr>
        <p:spPr>
          <a:xfrm>
            <a:off x="10271455" y="3886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27" name="st3-bg"/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8" name="st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3-n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t3-h"/>
          <p:cNvSpPr txBox="1"/>
          <p:nvPr/>
        </p:nvSpPr>
        <p:spPr>
          <a:xfrm>
            <a:off x="146304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PUBG 拆帧</a:t>
            </a:r>
            <a:endParaRPr lang="en-US" sz="1700" dirty="0"/>
          </a:p>
        </p:txBody>
      </p:sp>
      <p:sp>
        <p:nvSpPr>
          <p:cNvPr id="31" name="st3-b"/>
          <p:cNvSpPr txBox="1"/>
          <p:nvPr/>
        </p:nvSpPr>
        <p:spPr>
          <a:xfrm>
            <a:off x="4663440" y="457200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接入后用同一套流程拆帧；浪费更多就换过去</a:t>
            </a:r>
            <a:endParaRPr lang="en-US" sz="1350" dirty="0"/>
          </a:p>
        </p:txBody>
      </p:sp>
      <p:sp>
        <p:nvSpPr>
          <p:cNvPr id="32" name="st3-s-bg"/>
          <p:cNvSpPr/>
          <p:nvPr/>
        </p:nvSpPr>
        <p:spPr>
          <a:xfrm>
            <a:off x="10271455" y="47548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3" name="st3-s"/>
          <p:cNvSpPr txBox="1"/>
          <p:nvPr/>
        </p:nvSpPr>
        <p:spPr>
          <a:xfrm>
            <a:off x="10271455" y="4754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34" name="st4-bg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t4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st4-n"/>
          <p:cNvSpPr txBox="1"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t4-h"/>
          <p:cNvSpPr txBox="1"/>
          <p:nvPr/>
        </p:nvSpPr>
        <p:spPr>
          <a:xfrm>
            <a:off x="146304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节点系统级自启</a:t>
            </a:r>
            <a:endParaRPr lang="en-US" sz="1700" dirty="0"/>
          </a:p>
        </p:txBody>
      </p:sp>
      <p:sp>
        <p:nvSpPr>
          <p:cNvPr id="38" name="st4-b"/>
          <p:cNvSpPr txBox="1"/>
          <p:nvPr/>
        </p:nvSpPr>
        <p:spPr>
          <a:xfrm>
            <a:off x="4663440" y="544068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用户级自启实际没生效，系统级配置已备好，等 owner 安装</a:t>
            </a:r>
            <a:endParaRPr lang="en-US" sz="1350" dirty="0"/>
          </a:p>
        </p:txBody>
      </p:sp>
      <p:sp>
        <p:nvSpPr>
          <p:cNvPr id="39" name="st4-s-bg"/>
          <p:cNvSpPr/>
          <p:nvPr/>
        </p:nvSpPr>
        <p:spPr>
          <a:xfrm>
            <a:off x="10271455" y="562356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40" name="st4-s"/>
          <p:cNvSpPr txBox="1"/>
          <p:nvPr/>
        </p:nvSpPr>
        <p:spPr>
          <a:xfrm>
            <a:off x="10271455" y="5623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云端出方案很便宜：一代约 90 秒、7 千字，瓶颈仍然是手机</a:t>
            </a:r>
            <a:endParaRPr lang="en-US" sz="28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3251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项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实测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备注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大模型调用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每代每层 2 次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一次查手机状态，一次出方案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输入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约 6–7 千字（token）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其中一半左右命中缓存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输出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约 0.7–1.6 千字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出 1–3 个候选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用时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大模型本身 21–46 秒；经云端来回约 90 秒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触发、装工具、取回结果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上机前守门（可选）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每个候选约 0.4 千字、3 秒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缺省不开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对照：一个候选上真机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10–20 分钟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出方案的时间和费用可以忽略</a:t>
                      </a:r>
                      <a:endParaRPr lang="en-US" sz="13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已验证：整条链路跑通、多账号轮换、人的指令会被听、离线评测 18 个候选都在白名单内。还没做：云端候选的真机效果；节点上用云端出方案还要 owner 建一个受限令牌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作战室改版：手机槽位、目标进度、掌舵区一屏看完</a:t>
            </a:r>
            <a:endParaRPr lang="en-US" sz="2800" dirty="0"/>
          </a:p>
        </p:txBody>
      </p:sp>
      <p:pic>
        <p:nvPicPr>
          <p:cNvPr id="4" name="shot0" descr="/Users/yao/projects/_wt/ppt/docs/slides/src/progress/img/warroom-goal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550" y="1188720"/>
            <a:ext cx="8402595" cy="4572000"/>
          </a:xfrm>
          <a:prstGeom prst="rect">
            <a:avLst/>
          </a:prstGeom>
        </p:spPr>
      </p:pic>
      <p:sp>
        <p:nvSpPr>
          <p:cNvPr id="5" name="shot0-frame"/>
          <p:cNvSpPr/>
          <p:nvPr/>
        </p:nvSpPr>
        <p:spPr>
          <a:xfrm>
            <a:off x="1894550" y="1188720"/>
            <a:ext cx="8402595" cy="4572000"/>
          </a:xfrm>
          <a:prstGeom prst="rect">
            <a:avLst/>
          </a:prstGeom>
          <a:ln w="9525">
            <a:solidFill>
              <a:srgbClr val="D8DCE2"/>
            </a:solidFill>
            <a:prstDash val="solid"/>
          </a:ln>
        </p:spPr>
      </p:sp>
      <p:sp>
        <p:nvSpPr>
          <p:cNvPr id="6" name="shot0-l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本地预览截图，页面上是示例数据，不是真机结果；节点失联，改版还没上线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v04 之后合并 11 个改动：Megacity 拆帧、云端出方案接进目标模式</a:t>
            </a:r>
            <a:endParaRPr lang="en-US" sz="2800" dirty="0"/>
          </a:p>
        </p:txBody>
      </p:sp>
      <p:graphicFrame>
        <p:nvGraphicFramePr>
          <p:cNvPr id="1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  <a:gridCol w="286207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做了什么（大白话）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Megacity 拆帧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一帧多余步骤报告 + 和原神对比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#115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拆帧工具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看得见 Unity 6 的描述符模板，看不见读时不再乱报白写回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#113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目标模式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云端出方案接进目标模式；能查看、修改运行中的目标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GOL #68 #71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云端出方案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受限令牌代替登录态；用量进经费账；一页说明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GOL #72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测量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等冷时打进度；一次超时后不再每次干等 5 分钟；进度实时进日志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#112 · GOL #70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手机节点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任务输出断点续传；重启不丢任务状态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harness-ops #14 #15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PPT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进展 v04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docs #10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PF = BH3GEI/phonefarm，GOL = HGamey/game_opt_loop。完整清单见附录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目标模式：人定目标，harness 一代一代自己跑，人随时掌舵</a:t>
            </a:r>
            <a:endParaRPr lang="en-US" sz="2800" dirty="0"/>
          </a:p>
        </p:txBody>
      </p:sp>
      <p:pic>
        <p:nvPicPr>
          <p:cNvPr id="4" name="fig" descr="/Users/yao/projects/_wt/ppt/docs/slides/src/progress/fig/out/goalm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419" y="1188720"/>
            <a:ext cx="10776857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开关前后的画面差别，没有超过画面自己动的差别</a:t>
            </a:r>
            <a:endParaRPr lang="en-US" sz="2800" dirty="0"/>
          </a:p>
        </p:txBody>
      </p:sp>
      <p:pic>
        <p:nvPicPr>
          <p:cNvPr id="4" name="fig" descr="/Users/yao/projects/_wt/ppt/docs/slides/src/progress/fig/out/store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949440" cy="3474720"/>
          </a:xfrm>
          <a:prstGeom prst="rect">
            <a:avLst/>
          </a:prstGeom>
        </p:spPr>
      </p:pic>
      <p:sp>
        <p:nvSpPr>
          <p:cNvPr id="5" name="side-bg"/>
          <p:cNvSpPr/>
          <p:nvPr/>
        </p:nvSpPr>
        <p:spPr>
          <a:xfrm>
            <a:off x="7818120" y="1188720"/>
            <a:ext cx="3824935" cy="4983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ide-h"/>
          <p:cNvSpPr txBox="1"/>
          <p:nvPr/>
        </p:nvSpPr>
        <p:spPr>
          <a:xfrm>
            <a:off x="8046720" y="1325880"/>
            <a:ext cx="3367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阶段 2 验收</a:t>
            </a:r>
            <a:endParaRPr lang="en-US" sz="1600" dirty="0"/>
          </a:p>
        </p:txBody>
      </p:sp>
      <p:sp>
        <p:nvSpPr>
          <p:cNvPr id="7" name="side-b"/>
          <p:cNvSpPr txBox="1"/>
          <p:nvPr/>
        </p:nvSpPr>
        <p:spPr>
          <a:xfrm>
            <a:off x="8046720" y="1828800"/>
            <a:ext cx="336773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命中：3 个目标附件各被命中 716 / 716 / 748 次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生效：开关开着重新拆帧，白写回 3 处 → 0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稳定：全程不崩、不报错，结束自动还原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画面：原神夜景一直在动，只能说「没看到改坏」；逐像素相同要换 Megacity 的静止场景补证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顺带查清：#51 那一步确实是遮挡检测，整步跳过的两个候选作废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原神一帧 33 步：画场景和打光占六成 GPU 时间，白写回只有 3 张图</a:t>
            </a:r>
            <a:endParaRPr lang="en-US" sz="2800" dirty="0"/>
          </a:p>
        </p:txBody>
      </p:sp>
      <p:pic>
        <p:nvPicPr>
          <p:cNvPr id="4" name="fig" descr="/Users/yao/projects/_wt/ppt/docs/slides/src/progress/fig/out/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973" y="1188720"/>
            <a:ext cx="942975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harness 全貌：出方案的、被测的都能插拔</a:t>
            </a:r>
            <a:endParaRPr lang="en-US" sz="2800" dirty="0"/>
          </a:p>
        </p:txBody>
      </p:sp>
      <p:pic>
        <p:nvPicPr>
          <p:cNvPr id="4" name="fig" descr="/Users/yao/projects/_wt/ppt/docs/slides/src/progress/fig/out/ha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黄色「新」= v02 新加的部分；好坏始终由 harness 判定，出方案的一方改不了规则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手机节点：所有人经一个加密入口，排队用同一台手机</a:t>
            </a:r>
            <a:endParaRPr lang="en-US" sz="2800" dirty="0"/>
          </a:p>
        </p:txBody>
      </p:sp>
      <p:pic>
        <p:nvPicPr>
          <p:cNvPr id="4" name="fig" descr="/Users/yao/projects/_wt/ppt/docs/slides/src/progress/fig/out/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11" y="1188720"/>
            <a:ext cx="997527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开发机和手机不必在一起；节点合并代码后自己编译更新，不再从开发机传文件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同事那边和需要协调的事</a:t>
            </a:r>
            <a:endParaRPr lang="en-US" sz="2800" dirty="0"/>
          </a:p>
        </p:txBody>
      </p:sp>
      <p:sp>
        <p:nvSpPr>
          <p:cNvPr id="4" name="l-h"/>
          <p:cNvSpPr txBox="1"/>
          <p:nvPr/>
        </p:nvSpPr>
        <p:spPr>
          <a:xfrm>
            <a:off x="548640" y="1188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anantheparty：33 个草稿 PR，都还没合并、没上真机</a:t>
            </a:r>
            <a:endParaRPr lang="en-US" sz="1600" dirty="0"/>
          </a:p>
        </p:txBody>
      </p:sp>
      <p:sp>
        <p:nvSpPr>
          <p:cNvPr id="5" name="l-sum"/>
          <p:cNvSpPr txBox="1"/>
          <p:nvPr/>
        </p:nvSpPr>
        <p:spPr>
          <a:xfrm>
            <a:off x="548640" y="1645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方向是让结论更站得住：先定标准再测、探索和确认分开、每份证据都能追溯；在等一加 Ace5 到位后上真机。</a:t>
            </a:r>
            <a:endParaRPr lang="en-US" sz="1300" dirty="0"/>
          </a:p>
        </p:txBody>
      </p:sp>
      <p:graphicFrame>
        <p:nvGraphicFramePr>
          <p:cNvPr id="17" name="l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5852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草稿 PR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模型/算子工件流水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#30 #31 #34 #35 · PF #20 #21 #23 #24 #26 · refbench #2 #3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独立确认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#29 #37 #38 · PF #22 #25 #27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实验资格与证据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#18 · GOL #27 #32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专家筛选/连续画质/租约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#28 · PF #17 #19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交接文档与展示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docs #5 · GOL #26 #33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l-foot"/>
          <p:cNvSpPr txBox="1"/>
          <p:nvPr/>
        </p:nvSpPr>
        <p:spPr>
          <a:xfrm>
            <a:off x="548640" y="5440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这里 PF/GOL 指 HGamey/phonefarm、HGamey/game_opt_loop。会议诉求（0917/0924 纪要，YanPENG-2026）见 v01 第 12 页</a:t>
            </a:r>
            <a:endParaRPr lang="en-US" sz="1150" dirty="0"/>
          </a:p>
        </p:txBody>
      </p:sp>
      <p:sp>
        <p:nvSpPr>
          <p:cNvPr id="8" name="r-h"/>
          <p:cNvSpPr txBox="1"/>
          <p:nvPr/>
        </p:nvSpPr>
        <p:spPr>
          <a:xfrm>
            <a:off x="6766560" y="1188720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需要 owner 定的</a:t>
            </a:r>
            <a:endParaRPr lang="en-US" sz="1600" dirty="0"/>
          </a:p>
        </p:txBody>
      </p:sp>
      <p:sp>
        <p:nvSpPr>
          <p:cNvPr id="9" name="r0-bg"/>
          <p:cNvSpPr/>
          <p:nvPr/>
        </p:nvSpPr>
        <p:spPr>
          <a:xfrm>
            <a:off x="6766560" y="1691640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r0-h"/>
          <p:cNvSpPr txBox="1"/>
          <p:nvPr/>
        </p:nvSpPr>
        <p:spPr>
          <a:xfrm>
            <a:off x="6949440" y="1764792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分工</a:t>
            </a:r>
            <a:endParaRPr lang="en-US" sz="1400" dirty="0"/>
          </a:p>
        </p:txBody>
      </p:sp>
      <p:sp>
        <p:nvSpPr>
          <p:cNvPr id="11" name="r0-b"/>
          <p:cNvSpPr txBox="1"/>
          <p:nvPr/>
        </p:nvSpPr>
        <p:spPr>
          <a:xfrm>
            <a:off x="6949440" y="2084832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实验资格、设备租约、独立确认两边都在做，请定谁主谁辅</a:t>
            </a:r>
            <a:endParaRPr lang="en-US" sz="1200" dirty="0"/>
          </a:p>
        </p:txBody>
      </p:sp>
      <p:sp>
        <p:nvSpPr>
          <p:cNvPr id="12" name="r1-bg"/>
          <p:cNvSpPr/>
          <p:nvPr/>
        </p:nvSpPr>
        <p:spPr>
          <a:xfrm>
            <a:off x="6766560" y="2807208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r1-h"/>
          <p:cNvSpPr txBox="1"/>
          <p:nvPr/>
        </p:nvSpPr>
        <p:spPr>
          <a:xfrm>
            <a:off x="6949440" y="288036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提交路径</a:t>
            </a:r>
            <a:endParaRPr lang="en-US" sz="1400" dirty="0"/>
          </a:p>
        </p:txBody>
      </p:sp>
      <p:sp>
        <p:nvSpPr>
          <p:cNvPr id="14" name="r1-b"/>
          <p:cNvSpPr txBox="1"/>
          <p:nvPr/>
        </p:nvSpPr>
        <p:spPr>
          <a:xfrm>
            <a:off x="6949440" y="3200400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我们走 BH3GEI/phonefarm 再同步，对方直接提 HGamey/phonefarm，建议约定唯一上游</a:t>
            </a:r>
            <a:endParaRPr lang="en-US" sz="1200" dirty="0"/>
          </a:p>
        </p:txBody>
      </p:sp>
      <p:sp>
        <p:nvSpPr>
          <p:cNvPr id="15" name="r2-bg"/>
          <p:cNvSpPr/>
          <p:nvPr/>
        </p:nvSpPr>
        <p:spPr>
          <a:xfrm>
            <a:off x="6766560" y="3922776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r2-h"/>
          <p:cNvSpPr txBox="1"/>
          <p:nvPr/>
        </p:nvSpPr>
        <p:spPr>
          <a:xfrm>
            <a:off x="6949440" y="3995928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对外怎么说</a:t>
            </a:r>
            <a:endParaRPr lang="en-US" sz="1400" dirty="0"/>
          </a:p>
        </p:txBody>
      </p:sp>
      <p:sp>
        <p:nvSpPr>
          <p:cNvPr id="17" name="r2-b"/>
          <p:cNvSpPr txBox="1"/>
          <p:nvPr/>
        </p:nvSpPr>
        <p:spPr>
          <a:xfrm>
            <a:off x="6949440" y="4315968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画质和「没测出变差」的结论，建议统一按更严的标准重测后再报</a:t>
            </a:r>
            <a:endParaRPr lang="en-US" sz="1200" dirty="0"/>
          </a:p>
        </p:txBody>
      </p:sp>
      <p:sp>
        <p:nvSpPr>
          <p:cNvPr id="18" name="r3-bg"/>
          <p:cNvSpPr/>
          <p:nvPr/>
        </p:nvSpPr>
        <p:spPr>
          <a:xfrm>
            <a:off x="6766560" y="5038344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r3-h"/>
          <p:cNvSpPr txBox="1"/>
          <p:nvPr/>
        </p:nvSpPr>
        <p:spPr>
          <a:xfrm>
            <a:off x="6949440" y="5111496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设备</a:t>
            </a:r>
            <a:endParaRPr lang="en-US" sz="1400" dirty="0"/>
          </a:p>
        </p:txBody>
      </p:sp>
      <p:sp>
        <p:nvSpPr>
          <p:cNvPr id="20" name="r3-b"/>
          <p:cNvSpPr txBox="1"/>
          <p:nvPr/>
        </p:nvSpPr>
        <p:spPr>
          <a:xfrm>
            <a:off x="6949440" y="5431536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只有 1 台手机，agent 排队；0924 待办①的采购进展待确认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附录：v04 之后合并的 PR</a:t>
            </a:r>
            <a:endParaRPr lang="en-US" sz="2800" dirty="0"/>
          </a:p>
        </p:txBody>
      </p:sp>
      <p:graphicFrame>
        <p:nvGraphicFramePr>
          <p:cNvPr id="18" name="col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#112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fix(eval): 等冷打进度; 一臂超时后不再每臂干等 300…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#113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fix(frame-audit): 钩描述符模板/push 描述符…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#115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docs(frame-audit): Megacity 多余步骤报…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#116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docs: Megacity 白盒旋钮可行性与步骤（阶段 3 候选）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docs #10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PPT：进展 v04「阶段 2 完成与目标模式」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#68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feat(goal): proposer: cloud 接进目标模式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col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#70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fix: eval 进度实时进日志; cool_c 取现实值; 叫…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#71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feat(goal): goal show / goal edit…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#72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feat(proposers): GH_TOKEN 代替 gh 登…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feat(node): 任务输出断点续传（分块 + sha256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#15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节点服务重启不再丢任务状态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2026-10-11 20:21 之后 合并 11 个（太平洋时间）；09-11 以来合计 193 个。数据截至 2026-10-11 22:54 PDT。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Gamey Monthly">
  <a:themeElements>
    <a:clrScheme name="HGamey Monthly">
      <a:dk1>
        <a:srgbClr val="0F2744"/>
      </a:dk1>
      <a:lt1>
        <a:srgbClr val="FFFFFF"/>
      </a:lt1>
      <a:dk2>
        <a:srgbClr val="5C6470"/>
      </a:dk2>
      <a:lt2>
        <a:srgbClr val="EEF2F7"/>
      </a:lt2>
      <a:accent1>
        <a:srgbClr val="1F4E79"/>
      </a:accent1>
      <a:accent2>
        <a:srgbClr val="0A806F"/>
      </a:accent2>
      <a:accent3>
        <a:srgbClr val="C2602E"/>
      </a:accent3>
      <a:accent4>
        <a:srgbClr val="B23A3A"/>
      </a:accent4>
      <a:accent5>
        <a:srgbClr val="D8DCE2"/>
      </a:accent5>
      <a:accent6>
        <a:srgbClr val="8A94A6"/>
      </a:accent6>
      <a:hlink>
        <a:srgbClr val="1F4E79"/>
      </a:hlink>
      <a:folHlink>
        <a:srgbClr val="5C6470"/>
      </a:folHlink>
    </a:clrScheme>
    <a:fontScheme name="HGamey Monthly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HGamey 进展 v05</dc:title>
  <dc:subject>PptxGenJS Presentation</dc:subject>
  <dc:creator>BH3GEI</dc:creator>
  <cp:lastModifiedBy>BH3GEI</cp:lastModifiedBy>
  <cp:revision>1</cp:revision>
  <dcterms:created xsi:type="dcterms:W3CDTF">2026-10-12T05:55:03Z</dcterms:created>
  <dcterms:modified xsi:type="dcterms:W3CDTF">2026-10-12T05:55:03Z</dcterms:modified>
</cp:coreProperties>
</file>