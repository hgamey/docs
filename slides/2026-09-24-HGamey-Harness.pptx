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6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.jpeg" ContentType="image/jpeg"/>
  <Override PartName="/ppt/notesSlides/notesSlide6.xml" ContentType="application/vnd.openxmlformats-officedocument.presentationml.notesSlide+xml"/>
  <Override PartName="/ppt/media/image2.jpeg" ContentType="image/jpeg"/>
  <Override PartName="/ppt/media/image3.jpeg" ContentType="image/jpeg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91" r:id="rId43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3185"/>
          <c:y val="0.0438299"/>
          <c:w val="0.909681"/>
          <c:h val="0.8168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每秒 p95 帧时</c:v>
                </c:pt>
              </c:strCache>
            </c:strRef>
          </c:tx>
          <c:spPr>
            <a:solidFill>
              <a:srgbClr val="0A806F"/>
            </a:solidFill>
            <a:ln w="28575" cap="flat">
              <a:solidFill>
                <a:srgbClr val="0A806F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A806F"/>
              </a:solidFill>
              <a:ln w="12700" cap="flat">
                <a:solidFill>
                  <a:srgbClr val="156082"/>
                </a:solidFill>
                <a:prstDash val="solid"/>
                <a:round/>
              </a:ln>
              <a:effectLst/>
            </c:spPr>
          </c:marker>
          <c:dLbls>
            <c:numFmt formatCode="0.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Regular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</c:strCache>
            </c:strRef>
          </c:cat>
          <c:val>
            <c:numRef>
              <c:f>Sheet1!$B$2:$B$27</c:f>
              <c:numCache>
                <c:ptCount val="26"/>
                <c:pt idx="0">
                  <c:v>33.470000</c:v>
                </c:pt>
                <c:pt idx="1">
                  <c:v>33.410000</c:v>
                </c:pt>
                <c:pt idx="2">
                  <c:v>50.010000</c:v>
                </c:pt>
                <c:pt idx="3">
                  <c:v>49.970000</c:v>
                </c:pt>
                <c:pt idx="4">
                  <c:v>33.420000</c:v>
                </c:pt>
                <c:pt idx="5">
                  <c:v>49.960000</c:v>
                </c:pt>
                <c:pt idx="6">
                  <c:v>33.370000</c:v>
                </c:pt>
                <c:pt idx="7">
                  <c:v>49.930000</c:v>
                </c:pt>
                <c:pt idx="8">
                  <c:v>49.930000</c:v>
                </c:pt>
                <c:pt idx="9">
                  <c:v>33.340000</c:v>
                </c:pt>
                <c:pt idx="10">
                  <c:v>49.900000</c:v>
                </c:pt>
                <c:pt idx="11">
                  <c:v>50.050000</c:v>
                </c:pt>
                <c:pt idx="12">
                  <c:v>49.880000</c:v>
                </c:pt>
                <c:pt idx="13">
                  <c:v>33.520000</c:v>
                </c:pt>
                <c:pt idx="14">
                  <c:v>33.400000</c:v>
                </c:pt>
                <c:pt idx="15">
                  <c:v>33.430000</c:v>
                </c:pt>
                <c:pt idx="16">
                  <c:v>49.930000</c:v>
                </c:pt>
                <c:pt idx="17">
                  <c:v>33.400000</c:v>
                </c:pt>
                <c:pt idx="18">
                  <c:v>49.910000</c:v>
                </c:pt>
                <c:pt idx="19">
                  <c:v>33.420000</c:v>
                </c:pt>
                <c:pt idx="20">
                  <c:v>33.490000</c:v>
                </c:pt>
                <c:pt idx="21">
                  <c:v>33.420000</c:v>
                </c:pt>
                <c:pt idx="22">
                  <c:v>49.990000</c:v>
                </c:pt>
                <c:pt idx="23">
                  <c:v>33.430000</c:v>
                </c:pt>
                <c:pt idx="24">
                  <c:v>33.490000</c:v>
                </c:pt>
                <c:pt idx="25">
                  <c:v>33.430000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Semibold"/>
                  </a:defRPr>
                </a:pPr>
                <a:r>
                  <a:rPr b="0" i="0" strike="noStrike" sz="1000" u="none">
                    <a:solidFill>
                      <a:srgbClr val="000000"/>
                    </a:solidFill>
                    <a:latin typeface="PingFang SC Semibold"/>
                  </a:rPr>
                  <a:t>采样时间 / 秒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4D4D4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596A76"/>
                </a:solidFill>
                <a:latin typeface="PingFang SC Regular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60"/>
          <c:min val="20"/>
        </c:scaling>
        <c:delete val="0"/>
        <c:axPos val="l"/>
        <c:majorGridlines>
          <c:spPr>
            <a:ln w="12700" cap="flat">
              <a:solidFill>
                <a:srgbClr val="D8E1E5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Semibold"/>
                  </a:defRPr>
                </a:pPr>
                <a:r>
                  <a:rPr b="0" i="0" strike="noStrike" sz="1000" u="none">
                    <a:solidFill>
                      <a:srgbClr val="000000"/>
                    </a:solidFill>
                    <a:latin typeface="PingFang SC Semibold"/>
                  </a:rPr>
                  <a:t>帧时 / ms</a:t>
                </a:r>
              </a:p>
            </c:rich>
          </c:tx>
          <c:layout/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D4D4D4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596A76"/>
                </a:solidFill>
                <a:latin typeface="PingFang SC Regular"/>
              </a:defRPr>
            </a:pPr>
          </a:p>
        </c:txPr>
        <c:crossAx val="2094734552"/>
        <c:crosses val="autoZero"/>
        <c:crossBetween val="between"/>
        <c:majorUnit val="10"/>
        <c:minorUnit val="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1624"/>
          <c:y val="0.0438299"/>
          <c:w val="0.904838"/>
          <c:h val="0.8168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放电功耗</c:v>
                </c:pt>
              </c:strCache>
            </c:strRef>
          </c:tx>
          <c:spPr>
            <a:solidFill>
              <a:srgbClr val="D66B36"/>
            </a:solidFill>
            <a:ln w="28575" cap="flat">
              <a:solidFill>
                <a:srgbClr val="D66B36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D66B36"/>
              </a:solidFill>
              <a:ln w="12700" cap="flat">
                <a:solidFill>
                  <a:srgbClr val="156082"/>
                </a:solidFill>
                <a:prstDash val="solid"/>
                <a:round/>
              </a:ln>
              <a:effectLst/>
            </c:spPr>
          </c:marker>
          <c:dLbls>
            <c:numFmt formatCode="0.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Regular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</c:strCache>
            </c:strRef>
          </c:cat>
          <c:val>
            <c:numRef>
              <c:f>Sheet1!$B$2:$B$27</c:f>
              <c:numCache>
                <c:ptCount val="26"/>
                <c:pt idx="0">
                  <c:v>3.169000</c:v>
                </c:pt>
                <c:pt idx="1">
                  <c:v>2.648000</c:v>
                </c:pt>
                <c:pt idx="2">
                  <c:v>2.506000</c:v>
                </c:pt>
                <c:pt idx="3">
                  <c:v>2.665000</c:v>
                </c:pt>
                <c:pt idx="4">
                  <c:v>2.506000</c:v>
                </c:pt>
                <c:pt idx="5">
                  <c:v>2.754000</c:v>
                </c:pt>
                <c:pt idx="6">
                  <c:v>2.409000</c:v>
                </c:pt>
                <c:pt idx="7">
                  <c:v>2.510000</c:v>
                </c:pt>
                <c:pt idx="8">
                  <c:v>2.444000</c:v>
                </c:pt>
                <c:pt idx="9">
                  <c:v>2.612000</c:v>
                </c:pt>
                <c:pt idx="10">
                  <c:v>2.338000</c:v>
                </c:pt>
                <c:pt idx="11">
                  <c:v>2.528000</c:v>
                </c:pt>
                <c:pt idx="12">
                  <c:v>2.409000</c:v>
                </c:pt>
                <c:pt idx="13">
                  <c:v>2.497000</c:v>
                </c:pt>
                <c:pt idx="14">
                  <c:v>2.709000</c:v>
                </c:pt>
                <c:pt idx="15">
                  <c:v>2.599000</c:v>
                </c:pt>
                <c:pt idx="16">
                  <c:v>2.298000</c:v>
                </c:pt>
                <c:pt idx="17">
                  <c:v>2.267000</c:v>
                </c:pt>
                <c:pt idx="18">
                  <c:v>2.302000</c:v>
                </c:pt>
                <c:pt idx="19">
                  <c:v>2.391000</c:v>
                </c:pt>
                <c:pt idx="20">
                  <c:v>2.249000</c:v>
                </c:pt>
                <c:pt idx="21">
                  <c:v>2.404000</c:v>
                </c:pt>
                <c:pt idx="22">
                  <c:v>2.311000</c:v>
                </c:pt>
                <c:pt idx="23">
                  <c:v>2.262000</c:v>
                </c:pt>
                <c:pt idx="24">
                  <c:v>2.298000</c:v>
                </c:pt>
                <c:pt idx="25">
                  <c:v>2.276000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Semibold"/>
                  </a:defRPr>
                </a:pPr>
                <a:r>
                  <a:rPr b="0" i="0" strike="noStrike" sz="1000" u="none">
                    <a:solidFill>
                      <a:srgbClr val="000000"/>
                    </a:solidFill>
                    <a:latin typeface="PingFang SC Semibold"/>
                  </a:rPr>
                  <a:t>采样时间 / 秒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4D4D4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596A76"/>
                </a:solidFill>
                <a:latin typeface="PingFang SC Regular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D8E1E5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PingFang SC Semibold"/>
                  </a:defRPr>
                </a:pPr>
                <a:r>
                  <a:rPr b="0" i="0" strike="noStrike" sz="1000" u="none">
                    <a:solidFill>
                      <a:srgbClr val="000000"/>
                    </a:solidFill>
                    <a:latin typeface="PingFang SC Semibold"/>
                  </a:rPr>
                  <a:t>估算功耗 / W</a:t>
                </a:r>
              </a:p>
            </c:rich>
          </c:tx>
          <c:layout/>
          <c:overlay val="1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D4D4D4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596A76"/>
                </a:solidFill>
                <a:latin typeface="PingFang SC Regular"/>
              </a:defRPr>
            </a:pPr>
          </a:p>
        </c:txPr>
        <c:crossAx val="2094734552"/>
        <c:crosses val="autoZero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harness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是围绕被优化对象搭起来的一套固定框架。大模型、人、脚本都可以提出改动，但判定规则在看到数据前就写死了，出方案的一方改不了。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插着电测时，两边功耗曾差 </a:t>
            </a:r>
            <a:r>
              <a:t>250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倍：充电电流混进了读数。停止充电后对上。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Shape 1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这批只用内存带宽下结论。帧时因为屏幕自适应刷新率当时没有钉死，不可比。证据见 </a:t>
            </a:r>
            <a:r>
              <a:t>phonefarm PR #44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算子：一小段在 </a:t>
            </a:r>
            <a:r>
              <a:t>GPU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上跑的程序，这里用来把低分辨率画面放大。这一轮的候选由本地变异程序生成。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3" name="Shape 3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本页截图是 /Users/kamico/work/GOSIM/HGamey/phonefarm/tasks/harmony_genshin_harness_20260924/runs/20260924-032335-64820-0/step3.jpg。三轮共 78 个性能样本及 30 张截图，来自 /Users/kamico/work/GOSIM/HGamey/phonefarm/tasks/harmony_genshin_harness_20260924/probe/1790187814132-64804/report.json、/Users/kamico/work/GOSIM/HGamey/phonefarm/tasks/harmony_genshin_harness_repeat_20260924/probe/1790188305349-66842/report.json、/Users/kamico/work/GOSIM/HGamey/phonefarm/tasks/harmony_genshin_harness_repeat_20260924/probe/1790188346501-67020/report.json。展示图的右下角玩家 UID 已模糊处理；原始截图保持不变。用户提供 PPT 第 5、6 页用于选择安卓参考参数，本页未复用其性能结论。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8" name="Shape 3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截图为 /Users/kamico/work/GOSIM/HGamey/phonefarm/tasks/harmony_genshin_harness_20260924/runs/20260924-032335-64820-0/step1.jpg、step3.jpg、step5.jpg。触控定义见 /Users/kamico/work/GOSIM/HGamey/phonefarm-touch-pr/docs/HARMONY_GENSHIN_TOUCH_PROFILE.md 和 examples/harmony_genshin_town_loop.json。人工核对 step1、step3、step5、step6、step10。展示图右下角玩家 UID 已模糊处理；原始截图保持不变。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2" name="Shape 3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源文件：/Users/kamico/work/GOSIM/HGamey/phonefarm/tasks/harmony_genshin_harness_20260924/probe/1790187814132-64804/data.csv；聚合摘要：/Users/kamico/work/GOSIM/HGamey/phonefarm/tasks/harmony_genshin_harness_20260924/probe/1790187814132-64804/report.json。图中每点取该 CSV 一行 fpsJitters 的 95 分位，单位纳秒转毫秒，按 nearest-rank 计算。49.85 ms 是 phonefarm 对整个采样窗口的汇总 p95，不能与每秒 p95 简单平均。用户 PPT 第 6、12、13 页将 FPS、p95 和重复性列为参考参数；此页只呈现本次鸿蒙实测。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6" name="Shape 3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放电判定：USB 断开后 hidumper BatteryService 出现 chargingStatus=0、pluggedType=0、nowCurrent&lt;0。phonefarm perf 输出 meta.power_supply=discharging，power_w=2.475389755461538。数据源 /Users/kamico/work/GOSIM/HGamey/phonefarm/tasks/harmony_genshin_harness_20260924/probe/1790187814132-64804/data.csv，每点用 -currentNow(mA)*voltageNow(微伏)/1e9 计算 W；此公式与摘要数值一致。用户 PPT 第 5、13、15 页把停充和功耗有效性作为安卓参考。无线 HDC 官方说明：https://github.com/openharmony/docs/blob/master/zh-cn/application-dev/dfx/hdc.md。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6" name="Shape 4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三轮摘要来自 /Users/kamico/work/GOSIM/HGamey/phonefarm/tasks/harmony_genshin_harness_20260924/probe/1790187814132-64804/report.json、/Users/kamico/work/GOSIM/HGamey/phonefarm/tasks/harmony_genshin_harness_repeat_20260924/probe/1790188305349-66842/report.json、/Users/kamico/work/GOSIM/HGamey/phonefarm/tasks/harmony_genshin_harness_repeat_20260924/probe/1790188346501-67020/report.json。CV 使用三轮摘要值的样本标准差除以均值，百分数。所有轮次 observed=true、26 样本、10/10 截图、meta.power_supply=discharging。轮间角色位置/视角不同，因此这只是初步复测，不能视作固定场景的 A/B 重复性验证。对照用户 PPT 第 5、6、12、13、14、23 页。game_opt_loop gpu-op 真机路径仅支持 Android；新 harmony_touch_probe 承担鸿蒙观测入口。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4023359" y="0"/>
            <a:ext cx="54865" cy="6858000"/>
          </a:xfrm>
          <a:prstGeom prst="rect">
            <a:avLst/>
          </a:prstGeom>
          <a:solidFill>
            <a:srgbClr val="EEF2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-1" y="0"/>
            <a:ext cx="12191697" cy="566928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640079" y="6418224"/>
            <a:ext cx="10908794" cy="12701"/>
          </a:xfrm>
          <a:prstGeom prst="rect">
            <a:avLst/>
          </a:prstGeom>
          <a:solidFill>
            <a:srgbClr val="D8DC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2"/>
          <p:cNvSpPr txBox="1"/>
          <p:nvPr/>
        </p:nvSpPr>
        <p:spPr>
          <a:xfrm>
            <a:off x="640079" y="6570008"/>
            <a:ext cx="102412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C6470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xfrm>
            <a:off x="11380003" y="6510528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"/>
          <p:cNvSpPr/>
          <p:nvPr/>
        </p:nvSpPr>
        <p:spPr>
          <a:xfrm>
            <a:off x="640079" y="6418224"/>
            <a:ext cx="10908794" cy="12701"/>
          </a:xfrm>
          <a:prstGeom prst="rect">
            <a:avLst/>
          </a:prstGeom>
          <a:solidFill>
            <a:srgbClr val="D8DC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2"/>
          <p:cNvSpPr txBox="1"/>
          <p:nvPr/>
        </p:nvSpPr>
        <p:spPr>
          <a:xfrm>
            <a:off x="640079" y="6570008"/>
            <a:ext cx="102412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C6470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1380003" y="6510528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"/>
          <p:cNvSpPr/>
          <p:nvPr/>
        </p:nvSpPr>
        <p:spPr>
          <a:xfrm>
            <a:off x="640079" y="6418224"/>
            <a:ext cx="10908794" cy="12701"/>
          </a:xfrm>
          <a:prstGeom prst="rect">
            <a:avLst/>
          </a:prstGeom>
          <a:solidFill>
            <a:srgbClr val="D8DC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"/>
          <p:cNvSpPr txBox="1"/>
          <p:nvPr/>
        </p:nvSpPr>
        <p:spPr>
          <a:xfrm>
            <a:off x="640079" y="6570008"/>
            <a:ext cx="102412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C6470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1380003" y="6510528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"/>
          <p:cNvSpPr/>
          <p:nvPr/>
        </p:nvSpPr>
        <p:spPr>
          <a:xfrm>
            <a:off x="640079" y="6418224"/>
            <a:ext cx="10908794" cy="12701"/>
          </a:xfrm>
          <a:prstGeom prst="rect">
            <a:avLst/>
          </a:prstGeom>
          <a:solidFill>
            <a:srgbClr val="D8DC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"/>
          <p:cNvSpPr txBox="1"/>
          <p:nvPr/>
        </p:nvSpPr>
        <p:spPr>
          <a:xfrm>
            <a:off x="640079" y="6570008"/>
            <a:ext cx="102412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C6470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1380003" y="6510528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NDY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1"/>
          <p:cNvSpPr/>
          <p:nvPr/>
        </p:nvSpPr>
        <p:spPr>
          <a:xfrm>
            <a:off x="640079" y="6418224"/>
            <a:ext cx="10908794" cy="12701"/>
          </a:xfrm>
          <a:prstGeom prst="rect">
            <a:avLst/>
          </a:prstGeom>
          <a:solidFill>
            <a:srgbClr val="D8DC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"/>
          <p:cNvSpPr txBox="1"/>
          <p:nvPr/>
        </p:nvSpPr>
        <p:spPr>
          <a:xfrm>
            <a:off x="640079" y="6570008"/>
            <a:ext cx="102412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C6470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11380003" y="6510528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5C647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1.jpeg"/><Relationship Id="rId5" Type="http://schemas.openxmlformats.org/officeDocument/2006/relationships/image" Target="../media/image3.jpe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 txBox="1"/>
          <p:nvPr/>
        </p:nvSpPr>
        <p:spPr>
          <a:xfrm>
            <a:off x="4800600" y="2148839"/>
            <a:ext cx="6568134" cy="173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4400">
                <a:solidFill>
                  <a:srgbClr val="0F2744"/>
                </a:solidFill>
              </a:defRPr>
            </a:lvl1pPr>
          </a:lstStyle>
          <a:p>
            <a:pPr/>
            <a:r>
              <a:t>HGamey Harness</a:t>
            </a:r>
          </a:p>
        </p:txBody>
      </p:sp>
      <p:sp>
        <p:nvSpPr>
          <p:cNvPr id="80" name="Text 1"/>
          <p:cNvSpPr txBox="1"/>
          <p:nvPr/>
        </p:nvSpPr>
        <p:spPr>
          <a:xfrm>
            <a:off x="4800600" y="4069079"/>
            <a:ext cx="6568134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让机器在真手机上自动优化游戏 </a:t>
            </a:r>
            <a:r>
              <a:t>· 2026-09-24</a:t>
            </a:r>
          </a:p>
        </p:txBody>
      </p:sp>
      <p:sp>
        <p:nvSpPr>
          <p:cNvPr id="81" name="Shape 2"/>
          <p:cNvSpPr/>
          <p:nvPr/>
        </p:nvSpPr>
        <p:spPr>
          <a:xfrm>
            <a:off x="4800599" y="3712464"/>
            <a:ext cx="1737362" cy="6400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现在的做法</a:t>
            </a:r>
          </a:p>
        </p:txBody>
      </p:sp>
      <p:sp>
        <p:nvSpPr>
          <p:cNvPr id="84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手机游戏的性能优化，大多靠人手工调、凭经验判断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同一个改动，换手机或换游戏，效果可能完全不同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测一次耗时长，结论难复现</a:t>
            </a:r>
          </a:p>
        </p:txBody>
      </p:sp>
      <p:sp>
        <p:nvSpPr>
          <p:cNvPr id="86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0F2744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我们做的是一个 </a:t>
            </a:r>
            <a:r>
              <a:t>harness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出方案的和被测的都是插进来的；好坏由 </a:t>
            </a:r>
            <a:r>
              <a:t>harness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判定</a:t>
            </a:r>
          </a:p>
        </p:txBody>
      </p:sp>
      <p:sp>
        <p:nvSpPr>
          <p:cNvPr id="90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被测的：真手机上的原神</a:t>
            </a:r>
          </a:p>
        </p:txBody>
      </p:sp>
      <p:sp>
        <p:nvSpPr>
          <p:cNvPr id="98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测试机上实际跑的画面，角色站在固定位置、视角匀速转动</a:t>
            </a:r>
          </a:p>
        </p:txBody>
      </p:sp>
      <p:sp>
        <p:nvSpPr>
          <p:cNvPr id="99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一次任务怎么走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用户只说一句「把原神在这台手机上优化一下」</a:t>
            </a:r>
          </a:p>
        </p:txBody>
      </p:sp>
      <p:sp>
        <p:nvSpPr>
          <p:cNvPr id="106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三个仓库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t>game_opt_loop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负责决策，</a:t>
            </a:r>
            <a:r>
              <a:t>phonefarm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负责设备、测量和判定</a:t>
            </a:r>
          </a:p>
        </p:txBody>
      </p:sp>
      <p:sp>
        <p:nvSpPr>
          <p:cNvPr id="113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能改哪几层，在哪些手机上</a:t>
            </a:r>
          </a:p>
        </p:txBody>
      </p:sp>
      <p:sp>
        <p:nvSpPr>
          <p:cNvPr id="119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t>② Vulkan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层不需要源码，但和 </a:t>
            </a:r>
            <a:r>
              <a:t>③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一样要 </a:t>
            </a:r>
            <a:r>
              <a:t>root</a:t>
            </a:r>
          </a:p>
        </p:txBody>
      </p:sp>
      <p:sp>
        <p:nvSpPr>
          <p:cNvPr id="120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 txBox="1"/>
          <p:nvPr/>
        </p:nvSpPr>
        <p:spPr>
          <a:xfrm>
            <a:off x="868680" y="2788920"/>
            <a:ext cx="10515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b="1" sz="3400">
                <a:solidFill>
                  <a:srgbClr val="0F2744"/>
                </a:solidFill>
              </a:defRPr>
            </a:pPr>
            <a:r>
              <a:t>harness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保证的事</a:t>
            </a:r>
          </a:p>
        </p:txBody>
      </p:sp>
      <p:sp>
        <p:nvSpPr>
          <p:cNvPr id="126" name="Shape 1"/>
          <p:cNvSpPr/>
          <p:nvPr/>
        </p:nvSpPr>
        <p:spPr>
          <a:xfrm>
            <a:off x="868679" y="4059935"/>
            <a:ext cx="1463042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怎么测、怎么判</a:t>
            </a:r>
          </a:p>
        </p:txBody>
      </p:sp>
      <p:sp>
        <p:nvSpPr>
          <p:cNvPr id="130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改前改后交替测，统计检验不显著就撤回</a:t>
            </a:r>
          </a:p>
        </p:txBody>
      </p:sp>
      <p:sp>
        <p:nvSpPr>
          <p:cNvPr id="131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lide Number Placeholder 0"/>
          <p:cNvSpPr txBox="1"/>
          <p:nvPr>
            <p:ph type="sldNum" sz="quarter" idx="4294967295"/>
          </p:nvPr>
        </p:nvSpPr>
        <p:spPr>
          <a:xfrm>
            <a:off x="11444370" y="651052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可复现：同一场景重复测，数字很稳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帧时 </a:t>
            </a:r>
            <a:r>
              <a:t>p95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的轮间波动，越小越稳</a:t>
            </a:r>
          </a:p>
        </p:txBody>
      </p:sp>
      <p:sp>
        <p:nvSpPr>
          <p:cNvPr id="138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3"/>
          <p:cNvSpPr/>
          <p:nvPr/>
        </p:nvSpPr>
        <p:spPr>
          <a:xfrm>
            <a:off x="640079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4"/>
          <p:cNvSpPr txBox="1"/>
          <p:nvPr/>
        </p:nvSpPr>
        <p:spPr>
          <a:xfrm>
            <a:off x="914399" y="2029967"/>
            <a:ext cx="2904746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0.45%</a:t>
            </a:r>
          </a:p>
        </p:txBody>
      </p:sp>
      <p:sp>
        <p:nvSpPr>
          <p:cNvPr id="141" name="Text 5"/>
          <p:cNvSpPr txBox="1"/>
          <p:nvPr/>
        </p:nvSpPr>
        <p:spPr>
          <a:xfrm>
            <a:off x="914399" y="2944367"/>
            <a:ext cx="2904746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</a:defRPr>
            </a:lvl1pPr>
          </a:lstStyle>
          <a:p>
            <a:pPr/>
            <a:r>
              <a:t>refbench</a:t>
            </a:r>
          </a:p>
        </p:txBody>
      </p:sp>
      <p:sp>
        <p:nvSpPr>
          <p:cNvPr id="142" name="Text 6"/>
          <p:cNvSpPr txBox="1"/>
          <p:nvPr/>
        </p:nvSpPr>
        <p:spPr>
          <a:xfrm>
            <a:off x="914399" y="3456432"/>
            <a:ext cx="2904746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自研测试程序</a:t>
            </a:r>
          </a:p>
        </p:txBody>
      </p:sp>
      <p:sp>
        <p:nvSpPr>
          <p:cNvPr id="143" name="Shape 7"/>
          <p:cNvSpPr/>
          <p:nvPr/>
        </p:nvSpPr>
        <p:spPr>
          <a:xfrm>
            <a:off x="4367784" y="1700784"/>
            <a:ext cx="3453385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8"/>
          <p:cNvSpPr txBox="1"/>
          <p:nvPr/>
        </p:nvSpPr>
        <p:spPr>
          <a:xfrm>
            <a:off x="4642103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0.99%</a:t>
            </a:r>
          </a:p>
        </p:txBody>
      </p:sp>
      <p:sp>
        <p:nvSpPr>
          <p:cNvPr id="145" name="Text 9"/>
          <p:cNvSpPr txBox="1"/>
          <p:nvPr/>
        </p:nvSpPr>
        <p:spPr>
          <a:xfrm>
            <a:off x="4642103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</a:defRPr>
            </a:lvl1pPr>
          </a:lstStyle>
          <a:p>
            <a:pPr/>
            <a:r>
              <a:t>Megacity</a:t>
            </a:r>
          </a:p>
        </p:txBody>
      </p:sp>
      <p:sp>
        <p:nvSpPr>
          <p:cNvPr id="146" name="Text 10"/>
          <p:cNvSpPr txBox="1"/>
          <p:nvPr/>
        </p:nvSpPr>
        <p:spPr>
          <a:xfrm>
            <a:off x="4642103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有源码的大型游戏</a:t>
            </a:r>
          </a:p>
        </p:txBody>
      </p:sp>
      <p:sp>
        <p:nvSpPr>
          <p:cNvPr id="147" name="Shape 11"/>
          <p:cNvSpPr/>
          <p:nvPr/>
        </p:nvSpPr>
        <p:spPr>
          <a:xfrm>
            <a:off x="8095487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2"/>
          <p:cNvSpPr txBox="1"/>
          <p:nvPr/>
        </p:nvSpPr>
        <p:spPr>
          <a:xfrm>
            <a:off x="8369807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1.37%</a:t>
            </a:r>
          </a:p>
        </p:txBody>
      </p:sp>
      <p:sp>
        <p:nvSpPr>
          <p:cNvPr id="149" name="Text 13"/>
          <p:cNvSpPr txBox="1"/>
          <p:nvPr/>
        </p:nvSpPr>
        <p:spPr>
          <a:xfrm>
            <a:off x="8369807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原神</a:t>
            </a:r>
          </a:p>
        </p:txBody>
      </p:sp>
      <p:sp>
        <p:nvSpPr>
          <p:cNvPr id="150" name="Text 14"/>
          <p:cNvSpPr txBox="1"/>
          <p:nvPr/>
        </p:nvSpPr>
        <p:spPr>
          <a:xfrm>
            <a:off x="8369807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没有源码的商业游戏</a:t>
            </a:r>
          </a:p>
        </p:txBody>
      </p:sp>
      <p:sp>
        <p:nvSpPr>
          <p:cNvPr id="151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同一个位置，一天里不同时间</a:t>
            </a:r>
          </a:p>
        </p:txBody>
      </p:sp>
      <p:sp>
        <p:nvSpPr>
          <p:cNvPr id="154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游戏里的时间会变，测试条件要记下来；这些画面也用来给画质打分</a:t>
            </a:r>
          </a:p>
        </p:txBody>
      </p:sp>
      <p:sp>
        <p:nvSpPr>
          <p:cNvPr id="155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测得准：和华为官方工具对得上</a:t>
            </a:r>
          </a:p>
        </p:txBody>
      </p:sp>
      <p:sp>
        <p:nvSpPr>
          <p:cNvPr id="161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原神固定场景，测量期间停止充电</a:t>
            </a:r>
          </a:p>
        </p:txBody>
      </p:sp>
      <p:sp>
        <p:nvSpPr>
          <p:cNvPr id="162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3"/>
          <p:cNvSpPr/>
          <p:nvPr/>
        </p:nvSpPr>
        <p:spPr>
          <a:xfrm>
            <a:off x="640079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4"/>
          <p:cNvSpPr txBox="1"/>
          <p:nvPr/>
        </p:nvSpPr>
        <p:spPr>
          <a:xfrm>
            <a:off x="914399" y="2029967"/>
            <a:ext cx="2904746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2.3%</a:t>
            </a:r>
          </a:p>
        </p:txBody>
      </p:sp>
      <p:sp>
        <p:nvSpPr>
          <p:cNvPr id="165" name="Text 5"/>
          <p:cNvSpPr txBox="1"/>
          <p:nvPr/>
        </p:nvSpPr>
        <p:spPr>
          <a:xfrm>
            <a:off x="914399" y="2944367"/>
            <a:ext cx="2904746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整机功耗差异</a:t>
            </a:r>
          </a:p>
        </p:txBody>
      </p:sp>
      <p:sp>
        <p:nvSpPr>
          <p:cNvPr id="166" name="Text 6"/>
          <p:cNvSpPr txBox="1"/>
          <p:nvPr/>
        </p:nvSpPr>
        <p:spPr>
          <a:xfrm>
            <a:off x="914399" y="3456432"/>
            <a:ext cx="2904746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5C6470"/>
                </a:solidFill>
              </a:defRPr>
            </a:pPr>
            <a:r>
              <a:t>HiSmartPerf 4.87 W /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我们 </a:t>
            </a:r>
            <a:r>
              <a:t>4.98 W</a:t>
            </a:r>
          </a:p>
        </p:txBody>
      </p:sp>
      <p:sp>
        <p:nvSpPr>
          <p:cNvPr id="167" name="Shape 7"/>
          <p:cNvSpPr/>
          <p:nvPr/>
        </p:nvSpPr>
        <p:spPr>
          <a:xfrm>
            <a:off x="4367784" y="1700784"/>
            <a:ext cx="3453385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8"/>
          <p:cNvSpPr txBox="1"/>
          <p:nvPr/>
        </p:nvSpPr>
        <p:spPr>
          <a:xfrm>
            <a:off x="4642103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60.0</a:t>
            </a:r>
          </a:p>
        </p:txBody>
      </p:sp>
      <p:sp>
        <p:nvSpPr>
          <p:cNvPr id="169" name="Text 9"/>
          <p:cNvSpPr txBox="1"/>
          <p:nvPr/>
        </p:nvSpPr>
        <p:spPr>
          <a:xfrm>
            <a:off x="4642103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帧率</a:t>
            </a:r>
          </a:p>
        </p:txBody>
      </p:sp>
      <p:sp>
        <p:nvSpPr>
          <p:cNvPr id="170" name="Text 10"/>
          <p:cNvSpPr txBox="1"/>
          <p:nvPr/>
        </p:nvSpPr>
        <p:spPr>
          <a:xfrm>
            <a:off x="4642103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两边一致</a:t>
            </a:r>
          </a:p>
        </p:txBody>
      </p:sp>
      <p:sp>
        <p:nvSpPr>
          <p:cNvPr id="171" name="Shape 11"/>
          <p:cNvSpPr/>
          <p:nvPr/>
        </p:nvSpPr>
        <p:spPr>
          <a:xfrm>
            <a:off x="8095487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2"/>
          <p:cNvSpPr txBox="1"/>
          <p:nvPr/>
        </p:nvSpPr>
        <p:spPr>
          <a:xfrm>
            <a:off x="8369807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38.0℃</a:t>
            </a:r>
          </a:p>
        </p:txBody>
      </p:sp>
      <p:sp>
        <p:nvSpPr>
          <p:cNvPr id="173" name="Text 13"/>
          <p:cNvSpPr txBox="1"/>
          <p:nvPr/>
        </p:nvSpPr>
        <p:spPr>
          <a:xfrm>
            <a:off x="8369807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电池温度</a:t>
            </a:r>
          </a:p>
        </p:txBody>
      </p:sp>
      <p:sp>
        <p:nvSpPr>
          <p:cNvPr id="174" name="Text 14"/>
          <p:cNvSpPr txBox="1"/>
          <p:nvPr/>
        </p:nvSpPr>
        <p:spPr>
          <a:xfrm>
            <a:off x="8369807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两边一致</a:t>
            </a:r>
          </a:p>
        </p:txBody>
      </p:sp>
      <p:sp>
        <p:nvSpPr>
          <p:cNvPr id="175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0F2744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已知答案的开关，</a:t>
            </a:r>
            <a:r>
              <a:t>harness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测得出来</a:t>
            </a:r>
          </a:p>
        </p:txBody>
      </p:sp>
      <p:sp>
        <p:nvSpPr>
          <p:cNvPr id="180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t>Khronos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官方 </a:t>
            </a:r>
            <a:r>
              <a:t>Vulkan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示例，每组改前改后交替 </a:t>
            </a:r>
            <a:r>
              <a:t>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对，方向与预期一致</a:t>
            </a:r>
          </a:p>
        </p:txBody>
      </p:sp>
      <p:sp>
        <p:nvSpPr>
          <p:cNvPr id="181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3"/>
          <p:cNvSpPr/>
          <p:nvPr/>
        </p:nvSpPr>
        <p:spPr>
          <a:xfrm>
            <a:off x="640080" y="1700784"/>
            <a:ext cx="531723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4"/>
          <p:cNvSpPr txBox="1"/>
          <p:nvPr/>
        </p:nvSpPr>
        <p:spPr>
          <a:xfrm>
            <a:off x="914399" y="2029967"/>
            <a:ext cx="476859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−58.6%</a:t>
            </a:r>
          </a:p>
        </p:txBody>
      </p:sp>
      <p:sp>
        <p:nvSpPr>
          <p:cNvPr id="184" name="Text 5"/>
          <p:cNvSpPr txBox="1"/>
          <p:nvPr/>
        </p:nvSpPr>
        <p:spPr>
          <a:xfrm>
            <a:off x="914399" y="2944367"/>
            <a:ext cx="4768598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去掉多余的读回</a:t>
            </a:r>
          </a:p>
        </p:txBody>
      </p:sp>
      <p:sp>
        <p:nvSpPr>
          <p:cNvPr id="185" name="Text 6"/>
          <p:cNvSpPr txBox="1"/>
          <p:nvPr/>
        </p:nvSpPr>
        <p:spPr>
          <a:xfrm>
            <a:off x="914399" y="3456432"/>
            <a:ext cx="4768598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内存带宽 </a:t>
            </a:r>
            <a:r>
              <a:t>2680 → 1110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p = 0.016</a:t>
            </a:r>
          </a:p>
        </p:txBody>
      </p:sp>
      <p:sp>
        <p:nvSpPr>
          <p:cNvPr id="186" name="Shape 7"/>
          <p:cNvSpPr/>
          <p:nvPr/>
        </p:nvSpPr>
        <p:spPr>
          <a:xfrm>
            <a:off x="6231635" y="1700784"/>
            <a:ext cx="5317237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8"/>
          <p:cNvSpPr txBox="1"/>
          <p:nvPr/>
        </p:nvSpPr>
        <p:spPr>
          <a:xfrm>
            <a:off x="6505956" y="2029967"/>
            <a:ext cx="4768597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+155.6%</a:t>
            </a:r>
          </a:p>
        </p:txBody>
      </p:sp>
      <p:sp>
        <p:nvSpPr>
          <p:cNvPr id="188" name="Text 9"/>
          <p:cNvSpPr txBox="1"/>
          <p:nvPr/>
        </p:nvSpPr>
        <p:spPr>
          <a:xfrm>
            <a:off x="6505956" y="2944367"/>
            <a:ext cx="4768597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把合并的步骤拆开（反向）</a:t>
            </a:r>
          </a:p>
        </p:txBody>
      </p:sp>
      <p:sp>
        <p:nvSpPr>
          <p:cNvPr id="189" name="Text 10"/>
          <p:cNvSpPr txBox="1"/>
          <p:nvPr/>
        </p:nvSpPr>
        <p:spPr>
          <a:xfrm>
            <a:off x="6505956" y="3456432"/>
            <a:ext cx="4768597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内存带宽 </a:t>
            </a:r>
            <a:r>
              <a:t>900 → 2300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p = 0.008</a:t>
            </a:r>
          </a:p>
        </p:txBody>
      </p:sp>
      <p:sp>
        <p:nvSpPr>
          <p:cNvPr id="190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不自欺：生效了但没收益，就撤回</a:t>
            </a:r>
          </a:p>
        </p:txBody>
      </p:sp>
      <p:sp>
        <p:nvSpPr>
          <p:cNvPr id="195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在原神里改写渲染流程，改前改后各 </a:t>
            </a:r>
            <a:r>
              <a:t>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轮</a:t>
            </a:r>
          </a:p>
        </p:txBody>
      </p:sp>
      <p:sp>
        <p:nvSpPr>
          <p:cNvPr id="196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hape 3"/>
          <p:cNvSpPr/>
          <p:nvPr/>
        </p:nvSpPr>
        <p:spPr>
          <a:xfrm>
            <a:off x="640079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4"/>
          <p:cNvSpPr txBox="1"/>
          <p:nvPr/>
        </p:nvSpPr>
        <p:spPr>
          <a:xfrm>
            <a:off x="914399" y="2029967"/>
            <a:ext cx="2904746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3200">
                <a:solidFill>
                  <a:srgbClr val="1F4E79"/>
                </a:solidFill>
              </a:defRPr>
            </a:pPr>
            <a:r>
              <a:t>4.4–5.2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万次</a:t>
            </a:r>
          </a:p>
        </p:txBody>
      </p:sp>
      <p:sp>
        <p:nvSpPr>
          <p:cNvPr id="199" name="Text 5"/>
          <p:cNvSpPr txBox="1"/>
          <p:nvPr/>
        </p:nvSpPr>
        <p:spPr>
          <a:xfrm>
            <a:off x="914399" y="2944367"/>
            <a:ext cx="2904746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每轮改写生效次数</a:t>
            </a:r>
          </a:p>
        </p:txBody>
      </p:sp>
      <p:sp>
        <p:nvSpPr>
          <p:cNvPr id="200" name="Text 6"/>
          <p:cNvSpPr txBox="1"/>
          <p:nvPr/>
        </p:nvSpPr>
        <p:spPr>
          <a:xfrm>
            <a:off x="914399" y="3456432"/>
            <a:ext cx="2904746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确实改到了</a:t>
            </a:r>
          </a:p>
        </p:txBody>
      </p:sp>
      <p:sp>
        <p:nvSpPr>
          <p:cNvPr id="201" name="Shape 7"/>
          <p:cNvSpPr/>
          <p:nvPr/>
        </p:nvSpPr>
        <p:spPr>
          <a:xfrm>
            <a:off x="4367784" y="1700784"/>
            <a:ext cx="3453385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8"/>
          <p:cNvSpPr txBox="1"/>
          <p:nvPr/>
        </p:nvSpPr>
        <p:spPr>
          <a:xfrm>
            <a:off x="4642103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−0.5%</a:t>
            </a:r>
          </a:p>
        </p:txBody>
      </p:sp>
      <p:sp>
        <p:nvSpPr>
          <p:cNvPr id="203" name="Text 9"/>
          <p:cNvSpPr txBox="1"/>
          <p:nvPr/>
        </p:nvSpPr>
        <p:spPr>
          <a:xfrm>
            <a:off x="4642103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卡顿变化</a:t>
            </a:r>
          </a:p>
        </p:txBody>
      </p:sp>
      <p:sp>
        <p:nvSpPr>
          <p:cNvPr id="204" name="Text 10"/>
          <p:cNvSpPr txBox="1"/>
          <p:nvPr/>
        </p:nvSpPr>
        <p:spPr>
          <a:xfrm>
            <a:off x="4642103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帧时 </a:t>
            </a:r>
            <a:r>
              <a:t>p95</a:t>
            </a:r>
          </a:p>
        </p:txBody>
      </p:sp>
      <p:sp>
        <p:nvSpPr>
          <p:cNvPr id="205" name="Shape 11"/>
          <p:cNvSpPr/>
          <p:nvPr/>
        </p:nvSpPr>
        <p:spPr>
          <a:xfrm>
            <a:off x="8095487" y="1700784"/>
            <a:ext cx="345338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2"/>
          <p:cNvSpPr txBox="1"/>
          <p:nvPr/>
        </p:nvSpPr>
        <p:spPr>
          <a:xfrm>
            <a:off x="8369807" y="2029967"/>
            <a:ext cx="290474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p = 0.33</a:t>
            </a:r>
          </a:p>
        </p:txBody>
      </p:sp>
      <p:sp>
        <p:nvSpPr>
          <p:cNvPr id="207" name="Text 13"/>
          <p:cNvSpPr txBox="1"/>
          <p:nvPr/>
        </p:nvSpPr>
        <p:spPr>
          <a:xfrm>
            <a:off x="8369807" y="2944367"/>
            <a:ext cx="290474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判定：无效</a:t>
            </a:r>
          </a:p>
        </p:txBody>
      </p:sp>
      <p:sp>
        <p:nvSpPr>
          <p:cNvPr id="208" name="Text 14"/>
          <p:cNvSpPr txBox="1"/>
          <p:nvPr/>
        </p:nvSpPr>
        <p:spPr>
          <a:xfrm>
            <a:off x="8369807" y="3456432"/>
            <a:ext cx="2904745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自动撤回这个改动</a:t>
            </a:r>
          </a:p>
        </p:txBody>
      </p:sp>
      <p:sp>
        <p:nvSpPr>
          <p:cNvPr id="209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能发现测量本身出了问题</a:t>
            </a:r>
          </a:p>
        </p:txBody>
      </p:sp>
      <p:sp>
        <p:nvSpPr>
          <p:cNvPr id="212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游戏更新后虚拟手柄失效，测到的是静止画面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现在每轮先检查画面在不在动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插着电测的功耗里混进了充电电流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相关结论已撤回，现在测功耗时停止充电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脚本里设了参数但没生效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现在回读被测程序实际用的参数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屏幕会自动切换刷新率，每轮标准不一样——现在测试时固定 120Hz</a:t>
            </a:r>
          </a:p>
        </p:txBody>
      </p:sp>
      <p:sp>
        <p:nvSpPr>
          <p:cNvPr id="214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 txBox="1"/>
          <p:nvPr/>
        </p:nvSpPr>
        <p:spPr>
          <a:xfrm>
            <a:off x="868680" y="2788920"/>
            <a:ext cx="10515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b="1" sz="3400">
                <a:solidFill>
                  <a:srgbClr val="0F2744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在 </a:t>
            </a:r>
            <a:r>
              <a:t>harness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上跑出的结果</a:t>
            </a:r>
          </a:p>
        </p:txBody>
      </p:sp>
      <p:sp>
        <p:nvSpPr>
          <p:cNvPr id="217" name="Shape 1"/>
          <p:cNvSpPr/>
          <p:nvPr/>
        </p:nvSpPr>
        <p:spPr>
          <a:xfrm>
            <a:off x="868679" y="4059935"/>
            <a:ext cx="1463042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黑盒：不改源码，挂进原神</a:t>
            </a:r>
          </a:p>
        </p:txBody>
      </p:sp>
      <p:sp>
        <p:nvSpPr>
          <p:cNvPr id="221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t>Vulkan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层挂进大世界、调系统参数，没有被反作弊拦截</a:t>
            </a:r>
          </a:p>
        </p:txBody>
      </p:sp>
      <p:sp>
        <p:nvSpPr>
          <p:cNvPr id="222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0F2744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白盒：</a:t>
            </a:r>
            <a:r>
              <a:t>Megacity</a:t>
            </a:r>
          </a:p>
        </p:txBody>
      </p:sp>
      <p:sp>
        <p:nvSpPr>
          <p:cNvPr id="228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t>Unity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官方开源的城市游戏，在测试机上沿固定路线飞行</a:t>
            </a:r>
          </a:p>
        </p:txBody>
      </p:sp>
      <p:sp>
        <p:nvSpPr>
          <p:cNvPr id="229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大模型写的画面放大算子</a:t>
            </a:r>
          </a:p>
        </p:txBody>
      </p:sp>
      <p:sp>
        <p:nvSpPr>
          <p:cNvPr id="235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画质用 </a:t>
            </a:r>
            <a:r>
              <a:t>19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张原神真实画面打分</a:t>
            </a:r>
          </a:p>
        </p:txBody>
      </p:sp>
      <p:sp>
        <p:nvSpPr>
          <p:cNvPr id="236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3"/>
          <p:cNvSpPr/>
          <p:nvPr/>
        </p:nvSpPr>
        <p:spPr>
          <a:xfrm>
            <a:off x="640080" y="1700784"/>
            <a:ext cx="531723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4"/>
          <p:cNvSpPr txBox="1"/>
          <p:nvPr/>
        </p:nvSpPr>
        <p:spPr>
          <a:xfrm>
            <a:off x="914399" y="2029967"/>
            <a:ext cx="476859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+3.3 dB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914399" y="2944367"/>
            <a:ext cx="4768598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画质提升</a:t>
            </a:r>
          </a:p>
        </p:txBody>
      </p:sp>
      <p:sp>
        <p:nvSpPr>
          <p:cNvPr id="240" name="Text 6"/>
          <p:cNvSpPr txBox="1"/>
          <p:nvPr/>
        </p:nvSpPr>
        <p:spPr>
          <a:xfrm>
            <a:off x="914399" y="3456432"/>
            <a:ext cx="4768598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</a:defRPr>
            </a:lvl1pPr>
          </a:lstStyle>
          <a:p>
            <a:pPr/>
            <a:r>
              <a:t>34.5 → 37.8 dB</a:t>
            </a:r>
          </a:p>
        </p:txBody>
      </p:sp>
      <p:sp>
        <p:nvSpPr>
          <p:cNvPr id="241" name="Shape 7"/>
          <p:cNvSpPr/>
          <p:nvPr/>
        </p:nvSpPr>
        <p:spPr>
          <a:xfrm>
            <a:off x="6231635" y="1700784"/>
            <a:ext cx="5317237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8"/>
          <p:cNvSpPr txBox="1"/>
          <p:nvPr/>
        </p:nvSpPr>
        <p:spPr>
          <a:xfrm>
            <a:off x="6505956" y="2029967"/>
            <a:ext cx="4768597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+0.22 ms</a:t>
            </a:r>
          </a:p>
        </p:txBody>
      </p:sp>
      <p:sp>
        <p:nvSpPr>
          <p:cNvPr id="243" name="Text 9"/>
          <p:cNvSpPr txBox="1"/>
          <p:nvPr/>
        </p:nvSpPr>
        <p:spPr>
          <a:xfrm>
            <a:off x="6505956" y="2944367"/>
            <a:ext cx="4768597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每帧多花的时间</a:t>
            </a:r>
          </a:p>
        </p:txBody>
      </p:sp>
      <p:sp>
        <p:nvSpPr>
          <p:cNvPr id="244" name="Text 10"/>
          <p:cNvSpPr txBox="1"/>
          <p:nvPr/>
        </p:nvSpPr>
        <p:spPr>
          <a:xfrm>
            <a:off x="6505956" y="3456432"/>
            <a:ext cx="4768597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在测试程序里实测</a:t>
            </a:r>
          </a:p>
        </p:txBody>
      </p:sp>
      <p:sp>
        <p:nvSpPr>
          <p:cNvPr id="245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系统参数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大模型挑参数，原神 60 帧真机实测（测功耗时停止充电）</a:t>
            </a:r>
          </a:p>
        </p:txBody>
      </p:sp>
      <p:sp>
        <p:nvSpPr>
          <p:cNvPr id="251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3"/>
          <p:cNvSpPr/>
          <p:nvPr/>
        </p:nvSpPr>
        <p:spPr>
          <a:xfrm>
            <a:off x="640080" y="1700784"/>
            <a:ext cx="531723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4"/>
          <p:cNvSpPr txBox="1"/>
          <p:nvPr/>
        </p:nvSpPr>
        <p:spPr>
          <a:xfrm>
            <a:off x="914399" y="2029967"/>
            <a:ext cx="476859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+16.5%</a:t>
            </a:r>
          </a:p>
        </p:txBody>
      </p:sp>
      <p:sp>
        <p:nvSpPr>
          <p:cNvPr id="254" name="Text 5"/>
          <p:cNvSpPr txBox="1"/>
          <p:nvPr/>
        </p:nvSpPr>
        <p:spPr>
          <a:xfrm>
            <a:off x="914399" y="2944367"/>
            <a:ext cx="4768598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600">
                <a:solidFill>
                  <a:srgbClr val="0F2744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功耗（内存频率拉高</a:t>
            </a:r>
            <a:r>
              <a:t/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）</a:t>
            </a:r>
          </a:p>
        </p:txBody>
      </p:sp>
      <p:sp>
        <p:nvSpPr>
          <p:cNvPr id="255" name="Text 6"/>
          <p:cNvSpPr txBox="1"/>
          <p:nvPr/>
        </p:nvSpPr>
        <p:spPr>
          <a:xfrm>
            <a:off x="914399" y="3456432"/>
            <a:ext cx="4768598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p = 0.008 → 淘汰</a:t>
            </a:r>
          </a:p>
        </p:txBody>
      </p:sp>
      <p:sp>
        <p:nvSpPr>
          <p:cNvPr id="256" name="Shape 7"/>
          <p:cNvSpPr/>
          <p:nvPr/>
        </p:nvSpPr>
        <p:spPr>
          <a:xfrm>
            <a:off x="6231635" y="1700784"/>
            <a:ext cx="5317237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8"/>
          <p:cNvSpPr txBox="1"/>
          <p:nvPr/>
        </p:nvSpPr>
        <p:spPr>
          <a:xfrm>
            <a:off x="6505956" y="2029967"/>
            <a:ext cx="4768597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−0.57%</a:t>
            </a:r>
          </a:p>
        </p:txBody>
      </p:sp>
      <p:sp>
        <p:nvSpPr>
          <p:cNvPr id="258" name="Text 9"/>
          <p:cNvSpPr txBox="1"/>
          <p:nvPr/>
        </p:nvSpPr>
        <p:spPr>
          <a:xfrm>
            <a:off x="6505956" y="2944367"/>
            <a:ext cx="4768597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帧率（GPU 最低档调高）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6505956" y="3456432"/>
            <a:ext cx="4768597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p = 0.016 → 淘汰</a:t>
            </a:r>
            <a:r>
              <a:t/>
            </a:r>
            <a:r>
              <a:rPr>
                <a:latin typeface="+mn-lt"/>
                <a:ea typeface="+mn-ea"/>
                <a:cs typeface="+mn-cs"/>
                <a:sym typeface="Helvetica"/>
              </a:rPr>
              <a:t/>
            </a:r>
          </a:p>
        </p:txBody>
      </p:sp>
      <p:sp>
        <p:nvSpPr>
          <p:cNvPr id="260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 txBox="1"/>
          <p:nvPr/>
        </p:nvSpPr>
        <p:spPr>
          <a:xfrm>
            <a:off x="868680" y="2788920"/>
            <a:ext cx="10515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34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怎么用</a:t>
            </a:r>
          </a:p>
        </p:txBody>
      </p:sp>
      <p:sp>
        <p:nvSpPr>
          <p:cNvPr id="263" name="Shape 1"/>
          <p:cNvSpPr/>
          <p:nvPr/>
        </p:nvSpPr>
        <p:spPr>
          <a:xfrm>
            <a:off x="868679" y="4059935"/>
            <a:ext cx="1463042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一句话启动</a:t>
            </a:r>
          </a:p>
        </p:txBody>
      </p:sp>
      <p:sp>
        <p:nvSpPr>
          <p:cNvPr id="267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对 </a:t>
            </a:r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助手说：「把原神在这台手机上优化一下，跑 </a:t>
            </a:r>
            <a:r>
              <a:t>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小时」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它读使用说明，调用 </a:t>
            </a:r>
            <a:r>
              <a:t>game_opt_loop optimize --game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原神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跑完得到一份报告：开了哪几层、哪些改动有效、测试条件</a:t>
            </a:r>
          </a:p>
        </p:txBody>
      </p:sp>
      <p:sp>
        <p:nvSpPr>
          <p:cNvPr id="269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看结果：总览</a:t>
            </a:r>
          </a:p>
        </p:txBody>
      </p:sp>
      <p:sp>
        <p:nvSpPr>
          <p:cNvPr id="272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浏览器打开本地页面，每层跑了几轮、合格、淘汰、无效</a:t>
            </a:r>
          </a:p>
        </p:txBody>
      </p:sp>
      <p:sp>
        <p:nvSpPr>
          <p:cNvPr id="273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看结果：每一轮</a:t>
            </a:r>
          </a:p>
        </p:txBody>
      </p:sp>
      <p:sp>
        <p:nvSpPr>
          <p:cNvPr id="279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候选、数字、判定和测试条件</a:t>
            </a:r>
          </a:p>
        </p:txBody>
      </p:sp>
      <p:sp>
        <p:nvSpPr>
          <p:cNvPr id="280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多台手机怎么排队</a:t>
            </a:r>
          </a:p>
        </p:txBody>
      </p:sp>
      <p:sp>
        <p:nvSpPr>
          <p:cNvPr id="286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同一方案的改前改后必须在同一台手机上测；网页「手机」页能看每台手机的状态和排队</a:t>
            </a:r>
          </a:p>
        </p:txBody>
      </p:sp>
      <p:sp>
        <p:nvSpPr>
          <p:cNvPr id="287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3"/>
          <p:cNvSpPr/>
          <p:nvPr/>
        </p:nvSpPr>
        <p:spPr>
          <a:xfrm>
            <a:off x="640079" y="1700783"/>
            <a:ext cx="10908794" cy="3922778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700783"/>
            <a:ext cx="10908793" cy="3922778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需要哪些手机</a:t>
            </a:r>
          </a:p>
        </p:txBody>
      </p:sp>
      <p:sp>
        <p:nvSpPr>
          <p:cNvPr id="293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2"/>
          <p:cNvSpPr/>
          <p:nvPr/>
        </p:nvSpPr>
        <p:spPr>
          <a:xfrm>
            <a:off x="640079" y="1554479"/>
            <a:ext cx="5289806" cy="4617722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3"/>
          <p:cNvSpPr/>
          <p:nvPr/>
        </p:nvSpPr>
        <p:spPr>
          <a:xfrm>
            <a:off x="640079" y="1554480"/>
            <a:ext cx="5289806" cy="73153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4"/>
          <p:cNvSpPr txBox="1"/>
          <p:nvPr/>
        </p:nvSpPr>
        <p:spPr>
          <a:xfrm>
            <a:off x="950975" y="1865376"/>
            <a:ext cx="466801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0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安卓旗舰机</a:t>
            </a:r>
          </a:p>
        </p:txBody>
      </p:sp>
      <p:sp>
        <p:nvSpPr>
          <p:cNvPr id="297" name="Text 5"/>
          <p:cNvSpPr txBox="1"/>
          <p:nvPr/>
        </p:nvSpPr>
        <p:spPr>
          <a:xfrm>
            <a:off x="950975" y="2514599"/>
            <a:ext cx="4668013" cy="333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主力测试和调试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同型号多台才能并行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t>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台跑一代约 </a:t>
            </a:r>
            <a:r>
              <a:t>3.5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小时，</a:t>
            </a:r>
            <a:r>
              <a:t>3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台约 </a:t>
            </a:r>
            <a:r>
              <a:t>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小时</a:t>
            </a:r>
          </a:p>
        </p:txBody>
      </p:sp>
      <p:sp>
        <p:nvSpPr>
          <p:cNvPr id="298" name="Shape 6"/>
          <p:cNvSpPr/>
          <p:nvPr/>
        </p:nvSpPr>
        <p:spPr>
          <a:xfrm>
            <a:off x="6259067" y="1554479"/>
            <a:ext cx="5289806" cy="4617722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7"/>
          <p:cNvSpPr/>
          <p:nvPr/>
        </p:nvSpPr>
        <p:spPr>
          <a:xfrm>
            <a:off x="6259067" y="1554480"/>
            <a:ext cx="5289806" cy="73153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8"/>
          <p:cNvSpPr txBox="1"/>
          <p:nvPr/>
        </p:nvSpPr>
        <p:spPr>
          <a:xfrm>
            <a:off x="6569964" y="1865376"/>
            <a:ext cx="466801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0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华为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6569964" y="2514599"/>
            <a:ext cx="4668013" cy="333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鸿蒙商用机 </a:t>
            </a:r>
            <a:r>
              <a:t>1–2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台：没有 </a:t>
            </a:r>
            <a:r>
              <a:t>root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，只能测，做对照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海外版华为几台：</a:t>
            </a:r>
            <a:r>
              <a:t>EMUI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、麒麟芯片、能 </a:t>
            </a:r>
            <a:r>
              <a:t>root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用海外版在麒麟上测 </a:t>
            </a:r>
            <a:r>
              <a:t>② ③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层的效果</a:t>
            </a:r>
          </a:p>
        </p:txBody>
      </p:sp>
      <p:sp>
        <p:nvSpPr>
          <p:cNvPr id="302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接下来</a:t>
            </a:r>
          </a:p>
        </p:txBody>
      </p:sp>
      <p:sp>
        <p:nvSpPr>
          <p:cNvPr id="305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原神里：把算子接进一句话启动的自动流程，让大模型继续改进算子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补齐鸿蒙和海外版华为测试机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需要的支持：鸿蒙工程机或官方性能接口</a:t>
            </a:r>
          </a:p>
        </p:txBody>
      </p:sp>
      <p:sp>
        <p:nvSpPr>
          <p:cNvPr id="307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附：几个词</a:t>
            </a:r>
          </a:p>
        </p:txBody>
      </p:sp>
      <p:sp>
        <p:nvSpPr>
          <p:cNvPr id="310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帧时 </a:t>
            </a:r>
            <a:r>
              <a:t>p95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</a:t>
            </a:r>
            <a:r>
              <a:t>100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帧里最慢的 </a:t>
            </a:r>
            <a:r>
              <a:t>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帧大概多慢，越小越不卡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t>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值：差异是碰巧的可能性，越小越可信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t>dB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：画质分数，和标准答案越像越高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000">
                <a:solidFill>
                  <a:srgbClr val="243040"/>
                </a:solidFill>
              </a:defRPr>
            </a:pPr>
            <a:r>
              <a:t>Vulkan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：游戏指挥 </a:t>
            </a:r>
            <a:r>
              <a:t>GPU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画画面的接口；</a:t>
            </a:r>
            <a:r>
              <a:t>root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：手机最高权限</a:t>
            </a:r>
          </a:p>
        </p:txBody>
      </p:sp>
      <p:sp>
        <p:nvSpPr>
          <p:cNvPr id="312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 txBox="1"/>
          <p:nvPr/>
        </p:nvSpPr>
        <p:spPr>
          <a:xfrm>
            <a:off x="640079" y="475487"/>
            <a:ext cx="10908794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附：代码在哪</a:t>
            </a:r>
          </a:p>
        </p:txBody>
      </p:sp>
      <p:sp>
        <p:nvSpPr>
          <p:cNvPr id="315" name="Shape 1"/>
          <p:cNvSpPr/>
          <p:nvPr/>
        </p:nvSpPr>
        <p:spPr>
          <a:xfrm>
            <a:off x="640080" y="1280160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2"/>
          <p:cNvSpPr txBox="1"/>
          <p:nvPr/>
        </p:nvSpPr>
        <p:spPr>
          <a:xfrm>
            <a:off x="640079" y="1554479"/>
            <a:ext cx="10908794" cy="461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t>phonefarm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（公开）：</a:t>
            </a:r>
            <a:r>
              <a:t>github.com/BH3GEI/phonefarm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t>game_opt_loop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（组织内）：</a:t>
            </a:r>
            <a:r>
              <a:t>github.com/HGamey/game_opt_loop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2200">
                <a:solidFill>
                  <a:srgbClr val="24304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组织主页：</a:t>
            </a:r>
            <a:r>
              <a:t>github.com/HGamey</a:t>
            </a:r>
          </a:p>
        </p:txBody>
      </p:sp>
      <p:sp>
        <p:nvSpPr>
          <p:cNvPr id="317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e0a4513027295e59e442acafa5a91db4.png" descr="e0a4513027295e59e442acafa5a91db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3706" y="2011"/>
            <a:ext cx="10964588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鸿蒙原生《原神》"/>
          <p:cNvSpPr txBox="1"/>
          <p:nvPr/>
        </p:nvSpPr>
        <p:spPr>
          <a:xfrm>
            <a:off x="571500" y="673099"/>
            <a:ext cx="51435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鸿蒙原生《原神》</a:t>
            </a:r>
          </a:p>
        </p:txBody>
      </p:sp>
      <p:sp>
        <p:nvSpPr>
          <p:cNvPr id="322" name="触控与性能实机测试"/>
          <p:cNvSpPr txBox="1"/>
          <p:nvPr/>
        </p:nvSpPr>
        <p:spPr>
          <a:xfrm>
            <a:off x="571500" y="1311275"/>
            <a:ext cx="495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触控与性能实机测试</a:t>
            </a:r>
          </a:p>
        </p:txBody>
      </p:sp>
      <p:sp>
        <p:nvSpPr>
          <p:cNvPr id="323" name="华为 nova 16  ·  无 root  ·  无 USB 供电"/>
          <p:cNvSpPr txBox="1"/>
          <p:nvPr/>
        </p:nvSpPr>
        <p:spPr>
          <a:xfrm>
            <a:off x="571500" y="2071687"/>
            <a:ext cx="41910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B9D3D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华为 nova 16  ·  无 root  ·  无 USB 供电</a:t>
            </a:r>
          </a:p>
        </p:txBody>
      </p:sp>
      <p:sp>
        <p:nvSpPr>
          <p:cNvPr id="324" name="78"/>
          <p:cNvSpPr txBox="1"/>
          <p:nvPr/>
        </p:nvSpPr>
        <p:spPr>
          <a:xfrm>
            <a:off x="571500" y="3219450"/>
            <a:ext cx="11430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500">
                <a:solidFill>
                  <a:srgbClr val="4ED0B5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78</a:t>
            </a:r>
          </a:p>
        </p:txBody>
      </p:sp>
      <p:sp>
        <p:nvSpPr>
          <p:cNvPr id="325" name="个性能样本 / 三轮"/>
          <p:cNvSpPr txBox="1"/>
          <p:nvPr/>
        </p:nvSpPr>
        <p:spPr>
          <a:xfrm>
            <a:off x="571500" y="4032250"/>
            <a:ext cx="271462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个性能样本 / 三轮</a:t>
            </a:r>
          </a:p>
        </p:txBody>
      </p:sp>
      <p:sp>
        <p:nvSpPr>
          <p:cNvPr id="326" name="30 / 30"/>
          <p:cNvSpPr txBox="1"/>
          <p:nvPr/>
        </p:nvSpPr>
        <p:spPr>
          <a:xfrm>
            <a:off x="571500" y="4587874"/>
            <a:ext cx="28575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100">
                <a:solidFill>
                  <a:srgbClr val="FFC1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30 / 30</a:t>
            </a:r>
          </a:p>
        </p:txBody>
      </p:sp>
      <p:sp>
        <p:nvSpPr>
          <p:cNvPr id="327" name="步进截图落盘"/>
          <p:cNvSpPr txBox="1"/>
          <p:nvPr/>
        </p:nvSpPr>
        <p:spPr>
          <a:xfrm>
            <a:off x="571500" y="5213350"/>
            <a:ext cx="24765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步进截图落盘</a:t>
            </a:r>
          </a:p>
        </p:txBody>
      </p:sp>
      <p:pic>
        <p:nvPicPr>
          <p:cNvPr id="328" name="image.jpeg" descr="image.jpeg"/>
          <p:cNvPicPr>
            <a:picLocks noChangeAspect="1"/>
          </p:cNvPicPr>
          <p:nvPr/>
        </p:nvPicPr>
        <p:blipFill>
          <a:blip r:embed="rId3">
            <a:extLst/>
          </a:blip>
          <a:srcRect l="98" t="0" r="98" b="0"/>
          <a:stretch>
            <a:fillRect/>
          </a:stretch>
        </p:blipFill>
        <p:spPr>
          <a:xfrm>
            <a:off x="4933950" y="1962150"/>
            <a:ext cx="6762750" cy="3095625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实机截屏  /  第一轮第 3 步"/>
          <p:cNvSpPr txBox="1"/>
          <p:nvPr/>
        </p:nvSpPr>
        <p:spPr>
          <a:xfrm>
            <a:off x="4933950" y="5203824"/>
            <a:ext cx="619125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9C8D1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实机截屏  /  第一轮第 3 步</a:t>
            </a:r>
          </a:p>
        </p:txBody>
      </p:sp>
      <p:sp>
        <p:nvSpPr>
          <p:cNvPr id="330" name="HGamey  /  nova 16  /  2026.09.24"/>
          <p:cNvSpPr txBox="1"/>
          <p:nvPr/>
        </p:nvSpPr>
        <p:spPr>
          <a:xfrm>
            <a:off x="571500" y="6340474"/>
            <a:ext cx="59055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9C8D1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HGamey  /  nova 16  /  2026.09.24</a:t>
            </a:r>
          </a:p>
        </p:txBody>
      </p:sp>
      <p:sp>
        <p:nvSpPr>
          <p:cNvPr id="331" name="01"/>
          <p:cNvSpPr txBox="1"/>
          <p:nvPr/>
        </p:nvSpPr>
        <p:spPr>
          <a:xfrm>
            <a:off x="11163300" y="6340474"/>
            <a:ext cx="4286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9C8D1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针对《原神》界面校准触控"/>
          <p:cNvSpPr txBox="1"/>
          <p:nvPr/>
        </p:nvSpPr>
        <p:spPr>
          <a:xfrm>
            <a:off x="571500" y="498474"/>
            <a:ext cx="106680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针对《原神》界面校准触控</a:t>
            </a:r>
          </a:p>
        </p:txBody>
      </p:sp>
      <p:sp>
        <p:nvSpPr>
          <p:cNvPr id="336" name="2520 × 1152 横屏；蒙德城开放世界；左摇杆与右视角区同时拖动"/>
          <p:cNvSpPr txBox="1"/>
          <p:nvPr/>
        </p:nvSpPr>
        <p:spPr>
          <a:xfrm>
            <a:off x="571500" y="1095374"/>
            <a:ext cx="106680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2520 × 1152 横屏；蒙德城开放世界；左摇杆与右视角区同时拖动</a:t>
            </a:r>
          </a:p>
        </p:txBody>
      </p:sp>
      <p:pic>
        <p:nvPicPr>
          <p:cNvPr id="337" name="image2.jpeg" descr="image2.jpeg"/>
          <p:cNvPicPr>
            <a:picLocks noChangeAspect="1"/>
          </p:cNvPicPr>
          <p:nvPr/>
        </p:nvPicPr>
        <p:blipFill>
          <a:blip r:embed="rId3">
            <a:extLst/>
          </a:blip>
          <a:srcRect l="4829" t="0" r="4829" b="0"/>
          <a:stretch>
            <a:fillRect/>
          </a:stretch>
        </p:blipFill>
        <p:spPr>
          <a:xfrm>
            <a:off x="571499" y="1905000"/>
            <a:ext cx="3352801" cy="1695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image.jpeg" descr="image.jpeg"/>
          <p:cNvPicPr>
            <a:picLocks noChangeAspect="1"/>
          </p:cNvPicPr>
          <p:nvPr/>
        </p:nvPicPr>
        <p:blipFill>
          <a:blip r:embed="rId4">
            <a:extLst/>
          </a:blip>
          <a:srcRect l="4829" t="0" r="4829" b="0"/>
          <a:stretch>
            <a:fillRect/>
          </a:stretch>
        </p:blipFill>
        <p:spPr>
          <a:xfrm>
            <a:off x="4419599" y="1905000"/>
            <a:ext cx="3352801" cy="1695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image4.jpeg" descr="image4.jpeg"/>
          <p:cNvPicPr>
            <a:picLocks noChangeAspect="1"/>
          </p:cNvPicPr>
          <p:nvPr/>
        </p:nvPicPr>
        <p:blipFill>
          <a:blip r:embed="rId5">
            <a:extLst/>
          </a:blip>
          <a:srcRect l="4829" t="0" r="4829" b="0"/>
          <a:stretch>
            <a:fillRect/>
          </a:stretch>
        </p:blipFill>
        <p:spPr>
          <a:xfrm>
            <a:off x="8267699" y="1905000"/>
            <a:ext cx="3352801" cy="1695450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01  起点"/>
          <p:cNvSpPr txBox="1"/>
          <p:nvPr/>
        </p:nvSpPr>
        <p:spPr>
          <a:xfrm>
            <a:off x="571500" y="3827462"/>
            <a:ext cx="33528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01  起点</a:t>
            </a:r>
          </a:p>
        </p:txBody>
      </p:sp>
      <p:sp>
        <p:nvSpPr>
          <p:cNvPr id="341" name="03  双指移动后"/>
          <p:cNvSpPr txBox="1"/>
          <p:nvPr/>
        </p:nvSpPr>
        <p:spPr>
          <a:xfrm>
            <a:off x="4419600" y="3827462"/>
            <a:ext cx="33528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03  双指移动后</a:t>
            </a:r>
          </a:p>
        </p:txBody>
      </p:sp>
      <p:sp>
        <p:nvSpPr>
          <p:cNvPr id="342" name="05  跳跃后"/>
          <p:cNvSpPr txBox="1"/>
          <p:nvPr/>
        </p:nvSpPr>
        <p:spPr>
          <a:xfrm>
            <a:off x="8267700" y="3827462"/>
            <a:ext cx="33528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05  跳跃后</a:t>
            </a:r>
          </a:p>
        </p:txBody>
      </p:sp>
      <p:sp>
        <p:nvSpPr>
          <p:cNvPr id="343" name="每次联跑：5 步脚本重复 2 遍。独立运行 3 次，30 张截图全部生成。"/>
          <p:cNvSpPr txBox="1"/>
          <p:nvPr/>
        </p:nvSpPr>
        <p:spPr>
          <a:xfrm>
            <a:off x="571500" y="4710112"/>
            <a:ext cx="1095375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每次联跑：5 步脚本重复 2 遍。独立运行 3 次，30 张截图全部生成。</a:t>
            </a:r>
          </a:p>
        </p:txBody>
      </p:sp>
      <p:sp>
        <p:nvSpPr>
          <p:cNvPr id="344" name="截图确认角色与背景变化；当前脚本尚未自动恢复同一精确起点。"/>
          <p:cNvSpPr txBox="1"/>
          <p:nvPr/>
        </p:nvSpPr>
        <p:spPr>
          <a:xfrm>
            <a:off x="571500" y="5549899"/>
            <a:ext cx="11049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66B3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截图确认角色与背景变化；当前脚本尚未自动恢复同一精确起点。</a:t>
            </a:r>
          </a:p>
        </p:txBody>
      </p:sp>
      <p:sp>
        <p:nvSpPr>
          <p:cNvPr id="345" name="HGamey  /  nova 16  /  2026.09.24"/>
          <p:cNvSpPr txBox="1"/>
          <p:nvPr/>
        </p:nvSpPr>
        <p:spPr>
          <a:xfrm>
            <a:off x="571500" y="6340474"/>
            <a:ext cx="59055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HGamey  /  nova 16  /  2026.09.24</a:t>
            </a:r>
          </a:p>
        </p:txBody>
      </p:sp>
      <p:sp>
        <p:nvSpPr>
          <p:cNvPr id="346" name="02"/>
          <p:cNvSpPr txBox="1"/>
          <p:nvPr/>
        </p:nvSpPr>
        <p:spPr>
          <a:xfrm>
            <a:off x="11163300" y="6340474"/>
            <a:ext cx="4286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首轮帧率与尾部帧时"/>
          <p:cNvSpPr txBox="1"/>
          <p:nvPr/>
        </p:nvSpPr>
        <p:spPr>
          <a:xfrm>
            <a:off x="571500" y="446087"/>
            <a:ext cx="106680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首轮帧率与尾部帧时</a:t>
            </a:r>
          </a:p>
        </p:txBody>
      </p:sp>
      <p:sp>
        <p:nvSpPr>
          <p:cNvPr id="351" name="每秒样本的帧时 p95，来自原始 fpsJitters"/>
          <p:cNvSpPr txBox="1"/>
          <p:nvPr/>
        </p:nvSpPr>
        <p:spPr>
          <a:xfrm>
            <a:off x="571500" y="1066800"/>
            <a:ext cx="1057275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每秒样本的帧时 p95，来自原始 fpsJitters</a:t>
            </a:r>
          </a:p>
        </p:txBody>
      </p:sp>
      <p:graphicFrame>
        <p:nvGraphicFramePr>
          <p:cNvPr id="352" name="Chart"/>
          <p:cNvGraphicFramePr/>
          <p:nvPr/>
        </p:nvGraphicFramePr>
        <p:xfrm>
          <a:off x="969433" y="1701800"/>
          <a:ext cx="6921712" cy="4056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3" name="30.04"/>
          <p:cNvSpPr txBox="1"/>
          <p:nvPr/>
        </p:nvSpPr>
        <p:spPr>
          <a:xfrm>
            <a:off x="8639175" y="1843087"/>
            <a:ext cx="28575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5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30.04</a:t>
            </a:r>
          </a:p>
        </p:txBody>
      </p:sp>
      <p:sp>
        <p:nvSpPr>
          <p:cNvPr id="354" name="平均 FPS"/>
          <p:cNvSpPr txBox="1"/>
          <p:nvPr/>
        </p:nvSpPr>
        <p:spPr>
          <a:xfrm>
            <a:off x="8648700" y="2633662"/>
            <a:ext cx="219075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平均 FPS</a:t>
            </a:r>
          </a:p>
        </p:txBody>
      </p:sp>
      <p:sp>
        <p:nvSpPr>
          <p:cNvPr id="355" name="49.85 ms"/>
          <p:cNvSpPr txBox="1"/>
          <p:nvPr/>
        </p:nvSpPr>
        <p:spPr>
          <a:xfrm>
            <a:off x="8639175" y="3468687"/>
            <a:ext cx="295275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D66B3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49.85 ms</a:t>
            </a:r>
          </a:p>
        </p:txBody>
      </p:sp>
      <p:sp>
        <p:nvSpPr>
          <p:cNvPr id="356" name="全窗口 p95 帧时"/>
          <p:cNvSpPr txBox="1"/>
          <p:nvPr/>
        </p:nvSpPr>
        <p:spPr>
          <a:xfrm>
            <a:off x="8648700" y="4133850"/>
            <a:ext cx="30480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全窗口 p95 帧时</a:t>
            </a:r>
          </a:p>
        </p:txBody>
      </p:sp>
      <p:sp>
        <p:nvSpPr>
          <p:cNvPr id="357" name="26 个样本  /  约 1 秒间隔"/>
          <p:cNvSpPr txBox="1"/>
          <p:nvPr/>
        </p:nvSpPr>
        <p:spPr>
          <a:xfrm>
            <a:off x="8648700" y="5114924"/>
            <a:ext cx="276225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26 个样本  /  约 1 秒间隔</a:t>
            </a:r>
          </a:p>
        </p:txBody>
      </p:sp>
      <p:sp>
        <p:nvSpPr>
          <p:cNvPr id="358" name="本轮游戏约 30 FPS。此图是稳定采集证据，未执行优化前后比较。"/>
          <p:cNvSpPr txBox="1"/>
          <p:nvPr/>
        </p:nvSpPr>
        <p:spPr>
          <a:xfrm>
            <a:off x="571500" y="6007099"/>
            <a:ext cx="1071562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本轮游戏约 30 FPS。此图是稳定采集证据，未执行优化前后比较。</a:t>
            </a:r>
          </a:p>
        </p:txBody>
      </p:sp>
      <p:sp>
        <p:nvSpPr>
          <p:cNvPr id="359" name="HGamey  /  nova 16  /  2026.09.24"/>
          <p:cNvSpPr txBox="1"/>
          <p:nvPr/>
        </p:nvSpPr>
        <p:spPr>
          <a:xfrm>
            <a:off x="571500" y="6340474"/>
            <a:ext cx="59055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HGamey  /  nova 16  /  2026.09.24</a:t>
            </a:r>
          </a:p>
        </p:txBody>
      </p:sp>
      <p:sp>
        <p:nvSpPr>
          <p:cNvPr id="360" name="03"/>
          <p:cNvSpPr txBox="1"/>
          <p:nvPr/>
        </p:nvSpPr>
        <p:spPr>
          <a:xfrm>
            <a:off x="11163300" y="6340474"/>
            <a:ext cx="4286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首轮无线放电功耗"/>
          <p:cNvSpPr txBox="1"/>
          <p:nvPr/>
        </p:nvSpPr>
        <p:spPr>
          <a:xfrm>
            <a:off x="571500" y="446087"/>
            <a:ext cx="108585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首轮无线放电功耗</a:t>
            </a:r>
          </a:p>
        </p:txBody>
      </p:sp>
      <p:sp>
        <p:nvSpPr>
          <p:cNvPr id="365" name="拔线后仍连接；采样元数据标记 discharging；电流为负"/>
          <p:cNvSpPr txBox="1"/>
          <p:nvPr/>
        </p:nvSpPr>
        <p:spPr>
          <a:xfrm>
            <a:off x="571500" y="1071562"/>
            <a:ext cx="1062037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拔线后仍连接；采样元数据标记 discharging；电流为负</a:t>
            </a:r>
          </a:p>
        </p:txBody>
      </p:sp>
      <p:graphicFrame>
        <p:nvGraphicFramePr>
          <p:cNvPr id="366" name="Chart"/>
          <p:cNvGraphicFramePr/>
          <p:nvPr/>
        </p:nvGraphicFramePr>
        <p:xfrm>
          <a:off x="969433" y="1701800"/>
          <a:ext cx="6921713" cy="4056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7" name="2.48 W"/>
          <p:cNvSpPr txBox="1"/>
          <p:nvPr/>
        </p:nvSpPr>
        <p:spPr>
          <a:xfrm>
            <a:off x="8639175" y="1868487"/>
            <a:ext cx="2857500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200">
                <a:solidFill>
                  <a:srgbClr val="D66B3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2.48 W</a:t>
            </a:r>
          </a:p>
        </p:txBody>
      </p:sp>
      <p:sp>
        <p:nvSpPr>
          <p:cNvPr id="368" name="平均放电功耗"/>
          <p:cNvSpPr txBox="1"/>
          <p:nvPr/>
        </p:nvSpPr>
        <p:spPr>
          <a:xfrm>
            <a:off x="8648700" y="2633662"/>
            <a:ext cx="28575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平均放电功耗</a:t>
            </a:r>
          </a:p>
        </p:txBody>
      </p:sp>
      <p:sp>
        <p:nvSpPr>
          <p:cNvPr id="369" name="44.43 °C"/>
          <p:cNvSpPr txBox="1"/>
          <p:nvPr/>
        </p:nvSpPr>
        <p:spPr>
          <a:xfrm>
            <a:off x="8639175" y="3481387"/>
            <a:ext cx="314325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44.43 °C</a:t>
            </a:r>
          </a:p>
        </p:txBody>
      </p:sp>
      <p:sp>
        <p:nvSpPr>
          <p:cNvPr id="370" name="平均 SoC 温度"/>
          <p:cNvSpPr txBox="1"/>
          <p:nvPr/>
        </p:nvSpPr>
        <p:spPr>
          <a:xfrm>
            <a:off x="8648700" y="4133850"/>
            <a:ext cx="2857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平均 SoC 温度</a:t>
            </a:r>
          </a:p>
        </p:txBody>
      </p:sp>
      <p:sp>
        <p:nvSpPr>
          <p:cNvPr id="371" name="电池温度 38.0 °C"/>
          <p:cNvSpPr txBox="1"/>
          <p:nvPr/>
        </p:nvSpPr>
        <p:spPr>
          <a:xfrm>
            <a:off x="8648700" y="5114924"/>
            <a:ext cx="30480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电池温度 38.0 °C</a:t>
            </a:r>
          </a:p>
        </p:txBody>
      </p:sp>
      <p:sp>
        <p:nvSpPr>
          <p:cNvPr id="372" name="功耗由电池电流 × 电压估算，反映该短场景；未做 HiSmartPerf 对照校准。"/>
          <p:cNvSpPr txBox="1"/>
          <p:nvPr/>
        </p:nvSpPr>
        <p:spPr>
          <a:xfrm>
            <a:off x="571500" y="6016624"/>
            <a:ext cx="108585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功耗由电池电流 × 电压估算，反映该短场景；未做 HiSmartPerf 对照校准。</a:t>
            </a:r>
          </a:p>
        </p:txBody>
      </p:sp>
      <p:sp>
        <p:nvSpPr>
          <p:cNvPr id="373" name="HGamey  /  nova 16  /  2026.09.24"/>
          <p:cNvSpPr txBox="1"/>
          <p:nvPr/>
        </p:nvSpPr>
        <p:spPr>
          <a:xfrm>
            <a:off x="571500" y="6340474"/>
            <a:ext cx="59055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HGamey  /  nova 16  /  2026.09.24</a:t>
            </a:r>
          </a:p>
        </p:txBody>
      </p:sp>
      <p:sp>
        <p:nvSpPr>
          <p:cNvPr id="374" name="04"/>
          <p:cNvSpPr txBox="1"/>
          <p:nvPr/>
        </p:nvSpPr>
        <p:spPr>
          <a:xfrm>
            <a:off x="11163300" y="6340474"/>
            <a:ext cx="4286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三轮初步复测与能力边界"/>
          <p:cNvSpPr txBox="1"/>
          <p:nvPr/>
        </p:nvSpPr>
        <p:spPr>
          <a:xfrm>
            <a:off x="571500" y="469899"/>
            <a:ext cx="106680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三轮初步复测与能力边界</a:t>
            </a:r>
          </a:p>
        </p:txBody>
      </p:sp>
      <p:sp>
        <p:nvSpPr>
          <p:cNvPr id="379" name="每轮 26 个样本、两遍触控；角色位置与视角未精确归位"/>
          <p:cNvSpPr txBox="1"/>
          <p:nvPr/>
        </p:nvSpPr>
        <p:spPr>
          <a:xfrm>
            <a:off x="571500" y="1090612"/>
            <a:ext cx="104775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每轮 26 个样本、两遍触控；角色位置与视角未精确归位</a:t>
            </a:r>
          </a:p>
        </p:txBody>
      </p:sp>
      <p:sp>
        <p:nvSpPr>
          <p:cNvPr id="380" name="指标"/>
          <p:cNvSpPr txBox="1"/>
          <p:nvPr/>
        </p:nvSpPr>
        <p:spPr>
          <a:xfrm>
            <a:off x="571500" y="1809749"/>
            <a:ext cx="295275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指标</a:t>
            </a:r>
          </a:p>
        </p:txBody>
      </p:sp>
      <p:sp>
        <p:nvSpPr>
          <p:cNvPr id="381" name="第 1 轮"/>
          <p:cNvSpPr txBox="1"/>
          <p:nvPr/>
        </p:nvSpPr>
        <p:spPr>
          <a:xfrm>
            <a:off x="3762375" y="1809749"/>
            <a:ext cx="17145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第 1 轮</a:t>
            </a:r>
          </a:p>
        </p:txBody>
      </p:sp>
      <p:sp>
        <p:nvSpPr>
          <p:cNvPr id="382" name="第 2 轮"/>
          <p:cNvSpPr txBox="1"/>
          <p:nvPr/>
        </p:nvSpPr>
        <p:spPr>
          <a:xfrm>
            <a:off x="5734050" y="1809749"/>
            <a:ext cx="17145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第 2 轮</a:t>
            </a:r>
          </a:p>
        </p:txBody>
      </p:sp>
      <p:sp>
        <p:nvSpPr>
          <p:cNvPr id="383" name="第 3 轮"/>
          <p:cNvSpPr txBox="1"/>
          <p:nvPr/>
        </p:nvSpPr>
        <p:spPr>
          <a:xfrm>
            <a:off x="7715250" y="1809749"/>
            <a:ext cx="17145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第 3 轮</a:t>
            </a:r>
          </a:p>
        </p:txBody>
      </p:sp>
      <p:sp>
        <p:nvSpPr>
          <p:cNvPr id="384" name="CV"/>
          <p:cNvSpPr txBox="1"/>
          <p:nvPr/>
        </p:nvSpPr>
        <p:spPr>
          <a:xfrm>
            <a:off x="9715500" y="1809749"/>
            <a:ext cx="17145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96A7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CV</a:t>
            </a:r>
          </a:p>
        </p:txBody>
      </p:sp>
      <p:sp>
        <p:nvSpPr>
          <p:cNvPr id="385" name="FPS"/>
          <p:cNvSpPr txBox="1"/>
          <p:nvPr/>
        </p:nvSpPr>
        <p:spPr>
          <a:xfrm>
            <a:off x="571500" y="2305049"/>
            <a:ext cx="295275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FPS</a:t>
            </a:r>
          </a:p>
        </p:txBody>
      </p:sp>
      <p:sp>
        <p:nvSpPr>
          <p:cNvPr id="386" name="30.04"/>
          <p:cNvSpPr txBox="1"/>
          <p:nvPr/>
        </p:nvSpPr>
        <p:spPr>
          <a:xfrm>
            <a:off x="3762375" y="23050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30.04</a:t>
            </a:r>
          </a:p>
        </p:txBody>
      </p:sp>
      <p:sp>
        <p:nvSpPr>
          <p:cNvPr id="387" name="29.96"/>
          <p:cNvSpPr txBox="1"/>
          <p:nvPr/>
        </p:nvSpPr>
        <p:spPr>
          <a:xfrm>
            <a:off x="5734050" y="23050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29.96</a:t>
            </a:r>
          </a:p>
        </p:txBody>
      </p:sp>
      <p:sp>
        <p:nvSpPr>
          <p:cNvPr id="388" name="30.04"/>
          <p:cNvSpPr txBox="1"/>
          <p:nvPr/>
        </p:nvSpPr>
        <p:spPr>
          <a:xfrm>
            <a:off x="7715250" y="23050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30.04</a:t>
            </a:r>
          </a:p>
        </p:txBody>
      </p:sp>
      <p:sp>
        <p:nvSpPr>
          <p:cNvPr id="389" name="0.15%"/>
          <p:cNvSpPr txBox="1"/>
          <p:nvPr/>
        </p:nvSpPr>
        <p:spPr>
          <a:xfrm>
            <a:off x="9715500" y="23050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0.15%</a:t>
            </a:r>
          </a:p>
        </p:txBody>
      </p:sp>
      <p:sp>
        <p:nvSpPr>
          <p:cNvPr id="390" name="p95 帧时 / ms"/>
          <p:cNvSpPr txBox="1"/>
          <p:nvPr/>
        </p:nvSpPr>
        <p:spPr>
          <a:xfrm>
            <a:off x="571500" y="2933699"/>
            <a:ext cx="295275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p95 帧时 / ms</a:t>
            </a:r>
          </a:p>
        </p:txBody>
      </p:sp>
      <p:sp>
        <p:nvSpPr>
          <p:cNvPr id="391" name="49.85"/>
          <p:cNvSpPr txBox="1"/>
          <p:nvPr/>
        </p:nvSpPr>
        <p:spPr>
          <a:xfrm>
            <a:off x="3762375" y="293369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49.85</a:t>
            </a:r>
          </a:p>
        </p:txBody>
      </p:sp>
      <p:sp>
        <p:nvSpPr>
          <p:cNvPr id="392" name="49.97"/>
          <p:cNvSpPr txBox="1"/>
          <p:nvPr/>
        </p:nvSpPr>
        <p:spPr>
          <a:xfrm>
            <a:off x="5734050" y="293369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49.97</a:t>
            </a:r>
          </a:p>
        </p:txBody>
      </p:sp>
      <p:sp>
        <p:nvSpPr>
          <p:cNvPr id="393" name="49.96"/>
          <p:cNvSpPr txBox="1"/>
          <p:nvPr/>
        </p:nvSpPr>
        <p:spPr>
          <a:xfrm>
            <a:off x="7715250" y="293369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49.96</a:t>
            </a:r>
          </a:p>
        </p:txBody>
      </p:sp>
      <p:sp>
        <p:nvSpPr>
          <p:cNvPr id="394" name="0.13%"/>
          <p:cNvSpPr txBox="1"/>
          <p:nvPr/>
        </p:nvSpPr>
        <p:spPr>
          <a:xfrm>
            <a:off x="9715500" y="293369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0.13%</a:t>
            </a:r>
          </a:p>
        </p:txBody>
      </p:sp>
      <p:sp>
        <p:nvSpPr>
          <p:cNvPr id="395" name="估算功耗 / W"/>
          <p:cNvSpPr txBox="1"/>
          <p:nvPr/>
        </p:nvSpPr>
        <p:spPr>
          <a:xfrm>
            <a:off x="571500" y="3562349"/>
            <a:ext cx="295275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估算功耗 / W</a:t>
            </a:r>
          </a:p>
        </p:txBody>
      </p:sp>
      <p:sp>
        <p:nvSpPr>
          <p:cNvPr id="396" name="2.48"/>
          <p:cNvSpPr txBox="1"/>
          <p:nvPr/>
        </p:nvSpPr>
        <p:spPr>
          <a:xfrm>
            <a:off x="3762375" y="35623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2.48</a:t>
            </a:r>
          </a:p>
        </p:txBody>
      </p:sp>
      <p:sp>
        <p:nvSpPr>
          <p:cNvPr id="397" name="2.50"/>
          <p:cNvSpPr txBox="1"/>
          <p:nvPr/>
        </p:nvSpPr>
        <p:spPr>
          <a:xfrm>
            <a:off x="5734050" y="35623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2.50</a:t>
            </a:r>
          </a:p>
        </p:txBody>
      </p:sp>
      <p:sp>
        <p:nvSpPr>
          <p:cNvPr id="398" name="2.51"/>
          <p:cNvSpPr txBox="1"/>
          <p:nvPr/>
        </p:nvSpPr>
        <p:spPr>
          <a:xfrm>
            <a:off x="7715250" y="35623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2A3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2.51</a:t>
            </a:r>
          </a:p>
        </p:txBody>
      </p:sp>
      <p:sp>
        <p:nvSpPr>
          <p:cNvPr id="399" name="0.71%"/>
          <p:cNvSpPr txBox="1"/>
          <p:nvPr/>
        </p:nvSpPr>
        <p:spPr>
          <a:xfrm>
            <a:off x="9715500" y="3562349"/>
            <a:ext cx="17145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0.71%</a:t>
            </a:r>
          </a:p>
        </p:txBody>
      </p:sp>
      <p:sp>
        <p:nvSpPr>
          <p:cNvPr id="400" name="已完成：触控、截图、放电采集及三轮初步复测"/>
          <p:cNvSpPr txBox="1"/>
          <p:nvPr/>
        </p:nvSpPr>
        <p:spPr>
          <a:xfrm>
            <a:off x="571500" y="4452937"/>
            <a:ext cx="1076325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A806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已完成：触控、截图、放电采集及三轮初步复测</a:t>
            </a:r>
          </a:p>
        </p:txBody>
      </p:sp>
      <p:sp>
        <p:nvSpPr>
          <p:cNvPr id="401" name="待完成：固定起点、预热和正式 A/B 统计门槛"/>
          <p:cNvSpPr txBox="1"/>
          <p:nvPr/>
        </p:nvSpPr>
        <p:spPr>
          <a:xfrm>
            <a:off x="571500" y="4938712"/>
            <a:ext cx="1076325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D66B3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待完成：固定起点、预热和正式 A/B 统计门槛</a:t>
            </a:r>
          </a:p>
        </p:txBody>
      </p:sp>
      <p:sp>
        <p:nvSpPr>
          <p:cNvPr id="402" name="×  零售机无 root：现有路径无法锁系统频率或改 Vulkan 指令"/>
          <p:cNvSpPr txBox="1"/>
          <p:nvPr/>
        </p:nvSpPr>
        <p:spPr>
          <a:xfrm>
            <a:off x="571500" y="5475287"/>
            <a:ext cx="108585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C43B3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×  零售机无 root：现有路径无法锁系统频率或改 Vulkan 指令</a:t>
            </a:r>
          </a:p>
        </p:txBody>
      </p:sp>
      <p:sp>
        <p:nvSpPr>
          <p:cNvPr id="403" name="HGamey  /  nova 16  /  2026.09.24"/>
          <p:cNvSpPr txBox="1"/>
          <p:nvPr/>
        </p:nvSpPr>
        <p:spPr>
          <a:xfrm>
            <a:off x="571500" y="6340474"/>
            <a:ext cx="59055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HGamey  /  nova 16  /  2026.09.24</a:t>
            </a:r>
          </a:p>
        </p:txBody>
      </p:sp>
      <p:sp>
        <p:nvSpPr>
          <p:cNvPr id="404" name="05"/>
          <p:cNvSpPr txBox="1"/>
          <p:nvPr/>
        </p:nvSpPr>
        <p:spPr>
          <a:xfrm>
            <a:off x="11163300" y="6340474"/>
            <a:ext cx="4286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96A76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/>
        </p:nvSpPr>
        <p:spPr>
          <a:xfrm>
            <a:off x="640079" y="475487"/>
            <a:ext cx="1090879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8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在原神里换上我们的放大算子</a:t>
            </a:r>
          </a:p>
        </p:txBody>
      </p:sp>
      <p:sp>
        <p:nvSpPr>
          <p:cNvPr id="235" name="Text 1"/>
          <p:cNvSpPr txBox="1"/>
          <p:nvPr/>
        </p:nvSpPr>
        <p:spPr>
          <a:xfrm>
            <a:off x="640079" y="1097280"/>
            <a:ext cx="10908794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5C64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渲染精度调低，每帧用我们的算子替换游戏自带的放大，</a:t>
            </a:r>
            <a:r>
              <a:t/>
            </a:r>
            <a:r>
              <a:rPr>
                <a:latin typeface="+mn-lt"/>
                <a:ea typeface="+mn-ea"/>
                <a:cs typeface="+mn-cs"/>
                <a:sym typeface="Helvetica"/>
              </a:rPr>
              <a:t>改前改后交替 5 对</a:t>
            </a:r>
          </a:p>
        </p:txBody>
      </p:sp>
      <p:sp>
        <p:nvSpPr>
          <p:cNvPr id="236" name="Shape 2"/>
          <p:cNvSpPr/>
          <p:nvPr/>
        </p:nvSpPr>
        <p:spPr>
          <a:xfrm>
            <a:off x="640080" y="1426463"/>
            <a:ext cx="2011679" cy="5486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3"/>
          <p:cNvSpPr/>
          <p:nvPr/>
        </p:nvSpPr>
        <p:spPr>
          <a:xfrm>
            <a:off x="640080" y="1700784"/>
            <a:ext cx="5317236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4"/>
          <p:cNvSpPr txBox="1"/>
          <p:nvPr/>
        </p:nvSpPr>
        <p:spPr>
          <a:xfrm>
            <a:off x="914399" y="2029967"/>
            <a:ext cx="476859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3–4 倍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914399" y="2944367"/>
            <a:ext cx="4768598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画质更接近原生</a:t>
            </a:r>
          </a:p>
        </p:txBody>
      </p:sp>
      <p:sp>
        <p:nvSpPr>
          <p:cNvPr id="240" name="Text 6"/>
          <p:cNvSpPr txBox="1"/>
          <p:nvPr/>
        </p:nvSpPr>
        <p:spPr>
          <a:xfrm>
            <a:off x="914399" y="3456432"/>
            <a:ext cx="4768598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</a:defRPr>
            </a:lvl1pPr>
          </a:lstStyle>
          <a:p>
            <a:pPr/>
            <a:r>
              <a:t>与原生画面的差距：8–19（游戏自带放大 27–43）</a:t>
            </a:r>
          </a:p>
        </p:txBody>
      </p:sp>
      <p:sp>
        <p:nvSpPr>
          <p:cNvPr id="241" name="Shape 7"/>
          <p:cNvSpPr/>
          <p:nvPr/>
        </p:nvSpPr>
        <p:spPr>
          <a:xfrm>
            <a:off x="6231635" y="1700784"/>
            <a:ext cx="5317237" cy="4471416"/>
          </a:xfrm>
          <a:prstGeom prst="rect">
            <a:avLst/>
          </a:prstGeom>
          <a:solidFill>
            <a:srgbClr val="EEF2F7"/>
          </a:solidFill>
          <a:ln w="12700">
            <a:solidFill>
              <a:srgbClr val="D8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8"/>
          <p:cNvSpPr txBox="1"/>
          <p:nvPr/>
        </p:nvSpPr>
        <p:spPr>
          <a:xfrm>
            <a:off x="6505956" y="2029967"/>
            <a:ext cx="4768597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200">
                <a:solidFill>
                  <a:srgbClr val="1F4E79"/>
                </a:solidFill>
              </a:defRPr>
            </a:lvl1pPr>
          </a:lstStyle>
          <a:p>
            <a:pPr/>
            <a:r>
              <a:t>−0.19%</a:t>
            </a:r>
          </a:p>
        </p:txBody>
      </p:sp>
      <p:sp>
        <p:nvSpPr>
          <p:cNvPr id="243" name="Text 9"/>
          <p:cNvSpPr txBox="1"/>
          <p:nvPr/>
        </p:nvSpPr>
        <p:spPr>
          <a:xfrm>
            <a:off x="6505956" y="2944367"/>
            <a:ext cx="4768597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0F274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卡顿（帧时 p95）</a:t>
            </a:r>
          </a:p>
        </p:txBody>
      </p:sp>
      <p:sp>
        <p:nvSpPr>
          <p:cNvPr id="244" name="Text 10"/>
          <p:cNvSpPr txBox="1"/>
          <p:nvPr/>
        </p:nvSpPr>
        <p:spPr>
          <a:xfrm>
            <a:off x="6505956" y="3456432"/>
            <a:ext cx="4768597" cy="98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5C647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p = 0.57，无额外代价；功耗 +4% 在噪声内</a:t>
            </a:r>
          </a:p>
        </p:txBody>
      </p:sp>
      <p:sp>
        <p:nvSpPr>
          <p:cNvPr id="245" name="Slide Number Placeholder 0"/>
          <p:cNvSpPr txBox="1"/>
          <p:nvPr>
            <p:ph type="sldNum" sz="quarter" idx="4294967295"/>
          </p:nvPr>
        </p:nvSpPr>
        <p:spPr>
          <a:xfrm>
            <a:off x="11380002" y="651052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