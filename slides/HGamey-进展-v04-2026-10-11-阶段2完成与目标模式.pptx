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这一版" id="{01d6cdbb-b18d-99dc-da62-7454f60c1f95}">
          <p14:sldIdLst>
            <p14:sldId id="256"/>
            <p14:sldId id="257"/>
          </p14:sldIdLst>
        </p14:section>
        <p14:section name="阶段 2：开关" id="{316cb1d6-d901-676b-bbdf-22b0f0904f87}">
          <p14:sldIdLst>
            <p14:sldId id="258"/>
            <p14:sldId id="259"/>
          </p14:sldIdLst>
        </p14:section>
        <p14:section name="目标模式" id="{adba1a8e-629f-0fc0-49d0-782168d84694}">
          <p14:sldIdLst>
            <p14:sldId id="260"/>
            <p14:sldId id="261"/>
          </p14:sldIdLst>
        </p14:section>
        <p14:section name="这一版合并的改动" id="{62117572-2686-6773-6f34-09ae2a3cd698}">
          <p14:sldIdLst>
            <p14:sldId id="262"/>
          </p14:sldIdLst>
        </p14:section>
        <p14:section name="下一步" id="{da85ee52-7bdc-a51d-c86c-c2041ff384c3}">
          <p14:sldIdLst>
            <p14:sldId id="263"/>
          </p14:sldIdLst>
        </p14:section>
        <p14:section name="作战室与全局" id="{ed8e157a-9cf7-39fa-8a3d-1ac5b09bba7f}">
          <p14:sldIdLst>
            <p14:sldId id="264"/>
          </p14:sldIdLst>
        </p14:section>
        <p14:section name="回顾：阶段 1" id="{d9f2db0c-0d41-4d40-8f3d-b20c3d940699}">
          <p14:sldIdLst>
            <p14:sldId id="265"/>
          </p14:sldIdLst>
        </p14:section>
        <p14:section name="全局" id="{f5df87d6-4613-7f01-598d-fd4293b104ef}">
          <p14:sldIdLst>
            <p14:sldId id="266"/>
            <p14:sldId id="267"/>
          </p14:sldIdLst>
        </p14:section>
        <p14:section name="已有的真机结果" id="{3f29a1fb-1b88-94d1-958a-01a6c09e47ee}">
          <p14:sldIdLst>
            <p14:sldId id="268"/>
            <p14:sldId id="269"/>
          </p14:sldIdLst>
        </p14:section>
        <p14:section name="同事与协调" id="{855e473a-d89a-9076-b1e5-f8a62667e2a4}">
          <p14:sldIdLst>
            <p14:sldId id="270"/>
          </p14:sldIdLst>
        </p14:section>
        <p14:section name="附录" id="{772db883-3728-0812-d11e-d771da167a6d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这一版的成果：阶段 2 机制验证完成（BH3GEI/phonefarm #110，GENSHIN_FRAME_AUDIT.md §9，证据 knobs/evidence/11_storeop_check）；产品方向定为目标模式（规格 ~/projects/_wt/goal-spec/GOAL_SPEC.md，实现 HGamey/game_opt_loop #66 #67）；以及基础设施改动。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 2：GENSHIN_FRAME_AUDIT.md §9。命中 begins：sig 9d0b4db8… 附件 0、1 各 716，sig 15a51a87… 附件 2 为 748；开关开着时 sig 9d0b4db8… 写回 393→0 KB，sig 15a51a87… pass 写回 8804→6732 KB；crash 日志 0 行。画面比对：全屏 2688×1216 排除 UI 区，任一通道差 &gt;8 算差异像素。目标模式：game_opt_loop #66，真机还没跑过目标运行。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 0：判官真机标定完成、四类考题待跑（BH3GEI/phonefarm #98 判官体检报告初版）。阶段 2：#96 #110。阶段 3：目标模式 GOL #66 #67；开关进 optimize ② 并逐候选画面比对 GOL #59、PF #99；旁路供电 PF #109。阶段 4：PUBG 已装、Megacity 接入中（PF #100 #107 #108）。阶段 5：作战室按目标模式改版 harness-ops #11。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来源：GENSHIN_FRAME_AUDIT.md §9（knobs/evidence/11_storeop_check/storeop_check.json）。三组：同段隔 1 秒 5 对 3.3–12.9%（均 6.4）；相邻段关~开隔约 6 秒 4 对 11.4–20.2%（均 15.0）；隔一段同状态约 12 秒 3 对 15.4–22.0%（均 18.2）。平均每通道绝对差分别 2.5 / 5.3 / 6.0。层用「孪生 pass」现场开关（PF #96）。原始截图留在节点任务目录，比对数字在节点上算完带回。rp112（sig 309ab726665125ef）带查询（PF #94），按形态是遮挡剔除。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规格：~/projects/_wt/goal-spec/GOAL_SPEC.md（v1 + v1.1 修订 12 条）。实现：HGamey/game_opt_loop #66（goal draft / goal run，每代读 human.md，写 state.json / events.jsonl / report.md，自己停）、#67（网页「停止」= SIGINT，phonefarm 走还原）。测试用假 phonefarm 端到端跑了三个场景（人中途掌舵后按 no_gain 停、第一代达标、开跑前叫停）。大模型起草真调过一次（glm-4.7，「原神太费电, 想省点电但别卡」）。真机还没跑过目标运行。网页改版：harness-ops #11。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来源：GOAL_SPEC.md「goal.md 格式」。字段：game、device、objective（metric: power_watt | frame_p95 | fps_mean | gpu_busy_ms；direction；target_pct）、constraints、layers、forbid、budget（wall_minutes、max_generations、min_generations）、stop_when、proposer、守门开关、per_generation（v1.1）。gpu_busy_ms 接收端还不回，选它永远判不出收益。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 collect.py --since "2026-10-11 16:29"（v03 数据截止）统计，见 auto.our_since。PF #109：节点上手机走 USB-C PD，常用的 charging_enabled=0 无效；battery_charging_enabled=0 是旁路（USB 输入降到约 0.13–0.22 A，电池电流约 45 秒衰减到 ~0），功耗取 USB 轨 |V×I|，power_source=usb_bypass；一组 A/B 混了口径，这组功耗不进判定。PF #101/#102：厂商性能服务会把 max_pwrlevel 改回 17，被抢回的臂标 contested 不进统计。GOL #55：③ 候选估时 22m → 14.5m。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来源：lead 10-11 通报与 ROADMAP.md。「计划」= 还没开工；「进行中」= 已有 agent 在做。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10-11 20:18 PDT 用无头浏览器登录 https://phone.liyao.space/dash 截取（浅色主题，裁出上半屏核心区和实验区）。当时节点上的首页还是改版前的样子；按目标模式改版的网页（harness-ops #11）已合并，部署后再截。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数据：phonefarm docs/GENSHIN_FRAME_AUDIT.md §2 表（knobs/evidence/10_frameaudit/analysis.md），第 1 次抓取第 0 帧。「GPU 时间占比」= 每个 pass 打点时间 ÷ 33 个 pass 合计 27.19 ms（打点会串行化 GPU，只用占比）。写回为模型值（宽×高×每像素字节，未压缩上限）。#44 = rp103（sig 15a51a879df99c32）附件 C2；#19 = rp71（sig 9d0b4db80bf552b8）附件 C0、C1；#51 = rp112（sig 309ab726665125ef），颜色 storeOp=NONE、深度只读，很可能是遮挡查询，层没钩 vkCmdBeginQuery，不确定。lead 口头说的「29 步」与报告不同：报告是每次 present 33 个 render pass，表里合并成 27 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参照 diagrams/01-harness-overview。新加：外部进程/对比模式（GOL #39 #40 #44）、云端 pi + Kimi（GOL #47）、上机前守门（GOL #46，用 TypeSafe Jev 估「值不值得花一次真机评测」，缺省不开、可只记不挡）、设备锁（PF #77 #81 #87、GOL #41）、提前停与判官自检（PF #78 #80 #84 #88）、新游戏零人工接入（PF #83 #89、GOL #45）。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来源：HGamey/harness-ops node/node_service.py 与 pf-node。/jobs 给开发机 agent 发真机任务（pf-node 客户端）；/mcp 给云端出方案只读查询手机状态（白名单工具，GOL #47 的 pi + Kimi 用）；/dash 作战室（独立查看密码）。节点只听本机端口，经 Cloudflare Tunnel 出网，要令牌。自更新：harness-ops #3 #4 #5；任务重启修复 #1。 v03 之后：节点程序改由云端编译（BH3GEI/phonefarm #105 #111、harness-ops #10 #13），节点只读 token（harness-ops #9），部署互斥锁（#12）。节点开机自启是系统级的，待 owner 安装。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来源：BH3GEI/phonefarm #78 描述里的回放表（11 组完整 5v5，每组 10 臂；「次测量」= 臂）。规则：每跑完一臂，算剩下的轮次取任何值时各指标「显著改善」的置换检验 p 值下界；全部 ≥ α_win 就必然不保留，当场停。只截「必然不保留」一侧，保留的永远跑满，不是序贯检验，错误率不变。真机没验证。图里「留下」的两组是已知有效的旧开关（loop_v1 DDR boost、refbench 带宽开关）。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图：fig/quality.html，数据 phonefarm knobs/evidence/09_upop/quality_diff.json（逐像素平均绝对差 MAD）。裁图：knobs/evidence/09_upop/{tree,stairs,sign}_a_b_ref.png，每张从上到下：游戏自带放大、我们的算子、原生画面。我们的算子目前是 2×2 双线性，只是占位。来源 BH3GEI/phonefarm #64。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同事 PR 由 collect.py 现查（auto.colleague_prs）。分组是人工归类。草稿 PR 描述里写明没有动手机（No phone… 0 tokens）。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 auto.our_since 生成（作者 BH3GEI，v03 数据截止 2026-10-11 16:29 PDT 之后合并）。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HGamey 进展 v04 · 2026-10-11 · 阶段 2 完成与目标模式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HGamey 进展 v04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阶段 2 完成，harness 进入目标模式：人定目标、harness 自己跑、人随时掌舵</a:t>
            </a:r>
            <a:endParaRPr lang="en-US" sz="2000" dirty="0"/>
          </a:p>
        </p:txBody>
      </p:sp>
      <p:sp>
        <p:nvSpPr>
          <p:cNvPr id="5" name="line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2026-10-11 · BH3GEI · 上一版 v03：原神一帧拆解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去掉多余写回的开关在原神真机上生效，不崩，画面差在噪声内</a:t>
            </a:r>
            <a:endParaRPr lang="en-US" sz="2800" dirty="0"/>
          </a:p>
        </p:txBody>
      </p:sp>
      <p:sp>
        <p:nvSpPr>
          <p:cNvPr id="4" name="stats-bg"/>
          <p:cNvSpPr/>
          <p:nvPr/>
        </p:nvSpPr>
        <p:spPr>
          <a:xfrm>
            <a:off x="548640" y="4480560"/>
            <a:ext cx="11094415" cy="6400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stats-frame"/>
          <p:cNvSpPr/>
          <p:nvPr/>
        </p:nvSpPr>
        <p:spPr>
          <a:xfrm>
            <a:off x="548640" y="4480560"/>
            <a:ext cx="11094415" cy="640080"/>
          </a:xfrm>
          <a:prstGeom prst="rect">
            <a:avLst/>
          </a:prstGeom>
          <a:ln w="12700">
            <a:solidFill>
              <a:srgbClr val="D8DCE2"/>
            </a:solidFill>
            <a:prstDash val="solid"/>
          </a:ln>
        </p:spPr>
      </p:sp>
      <p:sp>
        <p:nvSpPr>
          <p:cNvPr id="6" name="stat0"/>
          <p:cNvSpPr txBox="1"/>
          <p:nvPr/>
        </p:nvSpPr>
        <p:spPr>
          <a:xfrm>
            <a:off x="731520" y="44805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34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个改动 v03 之后合并</a:t>
            </a:r>
            <a:endParaRPr lang="en-US" sz="1400" dirty="0"/>
          </a:p>
        </p:txBody>
      </p:sp>
      <p:sp>
        <p:nvSpPr>
          <p:cNvPr id="7" name="stat1"/>
          <p:cNvSpPr txBox="1"/>
          <p:nvPr/>
        </p:nvSpPr>
        <p:spPr>
          <a:xfrm>
            <a:off x="3505124" y="44805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目标模式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假手机端到端通过</a:t>
            </a:r>
            <a:endParaRPr lang="en-US" sz="1400" dirty="0"/>
          </a:p>
        </p:txBody>
      </p:sp>
      <p:sp>
        <p:nvSpPr>
          <p:cNvPr id="8" name="stat2"/>
          <p:cNvSpPr txBox="1"/>
          <p:nvPr/>
        </p:nvSpPr>
        <p:spPr>
          <a:xfrm>
            <a:off x="6278728" y="44805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旁路供电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功耗口径更稳</a:t>
            </a:r>
            <a:endParaRPr lang="en-US" sz="1400" dirty="0"/>
          </a:p>
        </p:txBody>
      </p:sp>
      <p:sp>
        <p:nvSpPr>
          <p:cNvPr id="9" name="stat3"/>
          <p:cNvSpPr txBox="1"/>
          <p:nvPr/>
        </p:nvSpPr>
        <p:spPr>
          <a:xfrm>
            <a:off x="9052331" y="44805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182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个 PR（09-11 以来）</a:t>
            </a:r>
            <a:endParaRPr lang="en-US" sz="1400" dirty="0"/>
          </a:p>
        </p:txBody>
      </p:sp>
      <p:sp>
        <p:nvSpPr>
          <p:cNvPr id="10" name="card0"/>
          <p:cNvSpPr/>
          <p:nvPr/>
        </p:nvSpPr>
        <p:spPr>
          <a:xfrm>
            <a:off x="548640" y="1325880"/>
            <a:ext cx="2567864" cy="2971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card0-big"/>
          <p:cNvSpPr txBox="1"/>
          <p:nvPr/>
        </p:nvSpPr>
        <p:spPr>
          <a:xfrm>
            <a:off x="777240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3/3</a:t>
            </a:r>
            <a:endParaRPr lang="en-US" sz="3600" dirty="0"/>
          </a:p>
        </p:txBody>
      </p:sp>
      <p:sp>
        <p:nvSpPr>
          <p:cNvPr id="12" name="card0-label"/>
          <p:cNvSpPr txBox="1"/>
          <p:nvPr/>
        </p:nvSpPr>
        <p:spPr>
          <a:xfrm>
            <a:off x="777240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开关在真机上命中</a:t>
            </a:r>
            <a:endParaRPr lang="en-US" sz="1500" dirty="0"/>
          </a:p>
        </p:txBody>
      </p:sp>
      <p:sp>
        <p:nvSpPr>
          <p:cNvPr id="13" name="card0-text"/>
          <p:cNvSpPr txBox="1"/>
          <p:nvPr/>
        </p:nvSpPr>
        <p:spPr>
          <a:xfrm>
            <a:off x="777240" y="3200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三张没人读的图，开关打开后每张都被命中 700 多次</a:t>
            </a:r>
            <a:endParaRPr lang="en-US" sz="1300" dirty="0"/>
          </a:p>
        </p:txBody>
      </p:sp>
      <p:sp>
        <p:nvSpPr>
          <p:cNvPr id="14" name="card1"/>
          <p:cNvSpPr/>
          <p:nvPr/>
        </p:nvSpPr>
        <p:spPr>
          <a:xfrm>
            <a:off x="3390824" y="1325880"/>
            <a:ext cx="2567864" cy="2971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card1-big"/>
          <p:cNvSpPr txBox="1"/>
          <p:nvPr/>
        </p:nvSpPr>
        <p:spPr>
          <a:xfrm>
            <a:off x="3619424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 → 0</a:t>
            </a:r>
            <a:endParaRPr lang="en-US" sz="3600" dirty="0"/>
          </a:p>
        </p:txBody>
      </p:sp>
      <p:sp>
        <p:nvSpPr>
          <p:cNvPr id="16" name="card1-label"/>
          <p:cNvSpPr txBox="1"/>
          <p:nvPr/>
        </p:nvSpPr>
        <p:spPr>
          <a:xfrm>
            <a:off x="3619424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白写回</a:t>
            </a:r>
            <a:endParaRPr lang="en-US" sz="1500" dirty="0"/>
          </a:p>
        </p:txBody>
      </p:sp>
      <p:sp>
        <p:nvSpPr>
          <p:cNvPr id="17" name="card1-text"/>
          <p:cNvSpPr txBox="1"/>
          <p:nvPr/>
        </p:nvSpPr>
        <p:spPr>
          <a:xfrm>
            <a:off x="3619424" y="3200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开关开着时重新拆帧：没人读的写回一处都不剩</a:t>
            </a:r>
            <a:endParaRPr lang="en-US" sz="1300" dirty="0"/>
          </a:p>
        </p:txBody>
      </p:sp>
      <p:sp>
        <p:nvSpPr>
          <p:cNvPr id="18" name="card2"/>
          <p:cNvSpPr/>
          <p:nvPr/>
        </p:nvSpPr>
        <p:spPr>
          <a:xfrm>
            <a:off x="6233008" y="1325880"/>
            <a:ext cx="2567864" cy="2971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2-big"/>
          <p:cNvSpPr txBox="1"/>
          <p:nvPr/>
        </p:nvSpPr>
        <p:spPr>
          <a:xfrm>
            <a:off x="6461608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</a:t>
            </a:r>
            <a:endParaRPr lang="en-US" sz="3600" dirty="0"/>
          </a:p>
        </p:txBody>
      </p:sp>
      <p:sp>
        <p:nvSpPr>
          <p:cNvPr id="20" name="card2-label"/>
          <p:cNvSpPr txBox="1"/>
          <p:nvPr/>
        </p:nvSpPr>
        <p:spPr>
          <a:xfrm>
            <a:off x="6461608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崩溃</a:t>
            </a:r>
            <a:endParaRPr lang="en-US" sz="1500" dirty="0"/>
          </a:p>
        </p:txBody>
      </p:sp>
      <p:sp>
        <p:nvSpPr>
          <p:cNvPr id="21" name="card2-text"/>
          <p:cNvSpPr txBox="1"/>
          <p:nvPr/>
        </p:nvSpPr>
        <p:spPr>
          <a:xfrm>
            <a:off x="6461608" y="3200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全程游戏活着，没有报错，结束自动摘掉、关游戏</a:t>
            </a:r>
            <a:endParaRPr lang="en-US" sz="1300" dirty="0"/>
          </a:p>
        </p:txBody>
      </p:sp>
      <p:sp>
        <p:nvSpPr>
          <p:cNvPr id="22" name="card3"/>
          <p:cNvSpPr/>
          <p:nvPr/>
        </p:nvSpPr>
        <p:spPr>
          <a:xfrm>
            <a:off x="9075191" y="1325880"/>
            <a:ext cx="2567864" cy="2971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card3-big"/>
          <p:cNvSpPr txBox="1"/>
          <p:nvPr/>
        </p:nvSpPr>
        <p:spPr>
          <a:xfrm>
            <a:off x="9303791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噪声内</a:t>
            </a:r>
            <a:endParaRPr lang="en-US" sz="3200" dirty="0"/>
          </a:p>
        </p:txBody>
      </p:sp>
      <p:sp>
        <p:nvSpPr>
          <p:cNvPr id="24" name="card3-label"/>
          <p:cNvSpPr txBox="1"/>
          <p:nvPr/>
        </p:nvSpPr>
        <p:spPr>
          <a:xfrm>
            <a:off x="9303791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画面差别</a:t>
            </a:r>
            <a:endParaRPr lang="en-US" sz="1500" dirty="0"/>
          </a:p>
        </p:txBody>
      </p:sp>
      <p:sp>
        <p:nvSpPr>
          <p:cNvPr id="25" name="card3-text"/>
          <p:cNvSpPr txBox="1"/>
          <p:nvPr/>
        </p:nvSpPr>
        <p:spPr>
          <a:xfrm>
            <a:off x="9303791" y="3200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开关前后的差别不比画面自己动的差别大；严格逐像素证明要在静止场景补做</a:t>
            </a:r>
            <a:endParaRPr lang="en-US" sz="1300" dirty="0"/>
          </a:p>
        </p:txBody>
      </p:sp>
      <p:sp>
        <p:nvSpPr>
          <p:cNvPr id="26" name="bottom-bg"/>
          <p:cNvSpPr/>
          <p:nvPr/>
        </p:nvSpPr>
        <p:spPr>
          <a:xfrm>
            <a:off x="548640" y="5257800"/>
            <a:ext cx="11094415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bottom"/>
          <p:cNvSpPr txBox="1"/>
          <p:nvPr/>
        </p:nvSpPr>
        <p:spPr>
          <a:xfrm>
            <a:off x="822960" y="5257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产品方向（owner 今天定）：人一句话定目标，harness 一代一代自己跑，人随时掌舵，自己判断何时停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总蓝图：阶段 1、2 完成，阶段 3 的部件已经齐了</a:t>
            </a:r>
            <a:endParaRPr lang="en-US" sz="2800" dirty="0"/>
          </a:p>
        </p:txBody>
      </p:sp>
      <p:pic>
        <p:nvPicPr>
          <p:cNvPr id="4" name="fig" descr="/Users/yao/projects/_wt/ppt/docs/slides/src/progress/fig/out/blueprint-v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09610"/>
            <a:ext cx="11094415" cy="4530220"/>
          </a:xfrm>
          <a:prstGeom prst="rect">
            <a:avLst/>
          </a:prstGeom>
        </p:spPr>
      </p:pic>
      <p:sp>
        <p:nvSpPr>
          <p:cNvPr id="5" name="cap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✓ 完成　◐ 进行中　◔ 部件就位：代码已合并、还没在这一步真用　○ 未开始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开关前后的画面差别，没有超过画面自己动的差别</a:t>
            </a:r>
            <a:endParaRPr lang="en-US" sz="2800" dirty="0"/>
          </a:p>
        </p:txBody>
      </p:sp>
      <p:pic>
        <p:nvPicPr>
          <p:cNvPr id="4" name="fig" descr="/Users/yao/projects/_wt/ppt/docs/slides/src/progress/fig/out/store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949440" cy="3474720"/>
          </a:xfrm>
          <a:prstGeom prst="rect">
            <a:avLst/>
          </a:prstGeom>
        </p:spPr>
      </p:pic>
      <p:sp>
        <p:nvSpPr>
          <p:cNvPr id="5" name="side-bg"/>
          <p:cNvSpPr/>
          <p:nvPr/>
        </p:nvSpPr>
        <p:spPr>
          <a:xfrm>
            <a:off x="7818120" y="1188720"/>
            <a:ext cx="3824935" cy="4983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ide-h"/>
          <p:cNvSpPr txBox="1"/>
          <p:nvPr/>
        </p:nvSpPr>
        <p:spPr>
          <a:xfrm>
            <a:off x="8046720" y="1325880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阶段 2 验收</a:t>
            </a:r>
            <a:endParaRPr lang="en-US" sz="1600" dirty="0"/>
          </a:p>
        </p:txBody>
      </p:sp>
      <p:sp>
        <p:nvSpPr>
          <p:cNvPr id="7" name="side-b"/>
          <p:cNvSpPr txBox="1"/>
          <p:nvPr/>
        </p:nvSpPr>
        <p:spPr>
          <a:xfrm>
            <a:off x="8046720" y="1828800"/>
            <a:ext cx="336773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命中：3 个目标附件各被命中 716 / 716 / 748 次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生效：开关开着重新拆帧，白写回 3 处 → 0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稳定：全程不崩、不报错，结束自动还原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画面：原神夜景一直在动，只能说「没看到改坏」；逐像素相同要换 Megacity 的静止场景补证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顺带查清：#51 那一步确实是遮挡检测，整步跳过的两个候选作废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目标模式：人定目标，harness 一代一代自己跑，人随时掌舵</a:t>
            </a:r>
            <a:endParaRPr lang="en-US" sz="2800" dirty="0"/>
          </a:p>
        </p:txBody>
      </p:sp>
      <p:pic>
        <p:nvPicPr>
          <p:cNvPr id="4" name="fig" descr="/Users/yao/projects/_wt/ppt/docs/slides/src/progress/fig/out/goalm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419" y="1188720"/>
            <a:ext cx="10776857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目标书写什么：一句话变成一份能冻结、能核对的约定</a:t>
            </a:r>
            <a:endParaRPr lang="en-US" sz="2800" dirty="0"/>
          </a:p>
        </p:txBody>
      </p:sp>
      <p:graphicFrame>
        <p:nvGraphicFramePr>
          <p:cNvPr id="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  <a:gridCol w="414223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项目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例子（大白话）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用来做什么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主要目标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整机耗电降 5%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达到就提前收工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不能变差的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帧率、卡顿不能变差；画面和原来的相似度要过门槛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任何一项显著变差就淘汰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能动哪几层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系统参数、渲染流程开关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不在里面的一律不碰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明确不许动的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例如 GPU 最高档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人也可以运行中再加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预算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最多 3 小时、6 代，至少 3 代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用完就停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何时停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达标 / 预算用完 / 连续 2 代没收益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没收益就写明「这条路没收益」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谁出方案、要不要守门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大模型 / 本地 / 云端；守门关、只记或开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可换，不影响判定规则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起草后人可以直接改；确认后冻结（记下指纹），运行中只改「掌舵」，不改目标书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v03 之后合并 34 个改动：开关上真机、目标模式、测得更准、云端编译</a:t>
            </a:r>
            <a:endParaRPr lang="en-US" sz="2800" dirty="0"/>
          </a:p>
        </p:txBody>
      </p:sp>
      <p:graphicFrame>
        <p:nvGraphicFramePr>
          <p:cNvPr id="8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  <a:gridCol w="286207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方向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做了什么（大白话）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开关上真机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现场开关、画面验证；自动优化里按白写回下刀并逐个比画面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PF #96 #99 #106 #110 · GOL #59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目标模式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一句话定目标、每代读掌舵、自己停；网页停止键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#66 #67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作战室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按目标模式改版：手机槽位、进度、时间线、掌舵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harness-ops #11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功耗口径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停充改认「旁路供电」，功耗取 USB 线上的读数并标明口径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PF #109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测得更准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厂商服务会偷偷改回 GPU 档位：施加后回读，被抢回的那次不计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PF #101 #102 #103 #104 · GOL #61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新游戏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拆帧支持别的游戏；PUBG、Megacity 进门问题修好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PF #100 #107 #108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出方案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离线评测出方案的一方；多账号轮换；云端只读查手机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#56 #58 #60 #65 · HO #9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提速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候选估时按实测（一个系统参数候选 22 分钟 → 14.5 分钟）；多台同型号并行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#55 #57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云端编译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节点程序改在云端编译，节点只下载；部署加锁、断流续传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PF #105 #111 · HO #10 #12 #13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其他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判官体检报告初版；守门回放修正；采集时钟；证据目录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PF #97 #98 · GOL #54 #64 · docs #9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PF = BH3GEI/phonefarm，GOL = HGamey/game_opt_loop，HO = HGamey/harness-ops。节点开机自启是系统级改动，待 owner 安装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下一步：让目标模式在真手机上跑第一次，再到别的游戏上找收益</a:t>
            </a:r>
            <a:endParaRPr lang="en-US" sz="2800" dirty="0"/>
          </a:p>
        </p:txBody>
      </p:sp>
      <p:sp>
        <p:nvSpPr>
          <p:cNvPr id="4" name="lead-bg"/>
          <p:cNvSpPr/>
          <p:nvPr/>
        </p:nvSpPr>
        <p:spPr>
          <a:xfrm>
            <a:off x="548640" y="1188720"/>
            <a:ext cx="11094415" cy="5943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lead"/>
          <p:cNvSpPr txBox="1"/>
          <p:nvPr/>
        </p:nvSpPr>
        <p:spPr>
          <a:xfrm>
            <a:off x="822960" y="11887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阶段 3：用目标模式在原神上跑一轮完整的 AI 自动优化（开关 + 系统参数，≥3 代）</a:t>
            </a:r>
            <a:endParaRPr lang="en-US" sz="1600" dirty="0"/>
          </a:p>
        </p:txBody>
      </p:sp>
      <p:sp>
        <p:nvSpPr>
          <p:cNvPr id="6" name="st0-bg"/>
          <p:cNvSpPr/>
          <p:nvPr/>
        </p:nvSpPr>
        <p:spPr>
          <a:xfrm>
            <a:off x="548640" y="1965960"/>
            <a:ext cx="1109441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t0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0-n"/>
          <p:cNvSpPr txBox="1"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t0-h"/>
          <p:cNvSpPr txBox="1"/>
          <p:nvPr/>
        </p:nvSpPr>
        <p:spPr>
          <a:xfrm>
            <a:off x="1463040" y="1965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目标模式真机首跑</a:t>
            </a:r>
            <a:endParaRPr lang="en-US" sz="1700" dirty="0"/>
          </a:p>
        </p:txBody>
      </p:sp>
      <p:sp>
        <p:nvSpPr>
          <p:cNvPr id="10" name="st0-b"/>
          <p:cNvSpPr txBox="1"/>
          <p:nvPr/>
        </p:nvSpPr>
        <p:spPr>
          <a:xfrm>
            <a:off x="4663440" y="196596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原神，一句话定目标，跑满 3 代以上，人中途掌舵一次</a:t>
            </a:r>
            <a:endParaRPr lang="en-US" sz="1350" dirty="0"/>
          </a:p>
        </p:txBody>
      </p:sp>
      <p:sp>
        <p:nvSpPr>
          <p:cNvPr id="11" name="st0-s-bg"/>
          <p:cNvSpPr/>
          <p:nvPr/>
        </p:nvSpPr>
        <p:spPr>
          <a:xfrm>
            <a:off x="10271455" y="214884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2" name="st0-s"/>
          <p:cNvSpPr txBox="1"/>
          <p:nvPr/>
        </p:nvSpPr>
        <p:spPr>
          <a:xfrm>
            <a:off x="10271455" y="2148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计划</a:t>
            </a:r>
            <a:endParaRPr lang="en-US" sz="1200" dirty="0"/>
          </a:p>
        </p:txBody>
      </p:sp>
      <p:sp>
        <p:nvSpPr>
          <p:cNvPr id="13" name="st1-bg"/>
          <p:cNvSpPr/>
          <p:nvPr/>
        </p:nvSpPr>
        <p:spPr>
          <a:xfrm>
            <a:off x="548640" y="2834640"/>
            <a:ext cx="11094415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4" name="st1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1-n"/>
          <p:cNvSpPr txBox="1"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t1-h"/>
          <p:cNvSpPr txBox="1"/>
          <p:nvPr/>
        </p:nvSpPr>
        <p:spPr>
          <a:xfrm>
            <a:off x="1463040" y="2834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判官准确率</a:t>
            </a:r>
            <a:endParaRPr lang="en-US" sz="1700" dirty="0"/>
          </a:p>
        </p:txBody>
      </p:sp>
      <p:sp>
        <p:nvSpPr>
          <p:cNvPr id="17" name="st1-b"/>
          <p:cNvSpPr txBox="1"/>
          <p:nvPr/>
        </p:nvSpPr>
        <p:spPr>
          <a:xfrm>
            <a:off x="4663440" y="283464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真机标定已完成，四类考题在排队，跑完给出准确率</a:t>
            </a:r>
            <a:endParaRPr lang="en-US" sz="1350" dirty="0"/>
          </a:p>
        </p:txBody>
      </p:sp>
      <p:sp>
        <p:nvSpPr>
          <p:cNvPr id="18" name="st1-s-bg"/>
          <p:cNvSpPr/>
          <p:nvPr/>
        </p:nvSpPr>
        <p:spPr>
          <a:xfrm>
            <a:off x="10271455" y="301752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9" name="st1-s"/>
          <p:cNvSpPr txBox="1"/>
          <p:nvPr/>
        </p:nvSpPr>
        <p:spPr>
          <a:xfrm>
            <a:off x="10271455" y="3017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进行中</a:t>
            </a:r>
            <a:endParaRPr lang="en-US" sz="1200" dirty="0"/>
          </a:p>
        </p:txBody>
      </p:sp>
      <p:sp>
        <p:nvSpPr>
          <p:cNvPr id="20" name="st2-bg"/>
          <p:cNvSpPr/>
          <p:nvPr/>
        </p:nvSpPr>
        <p:spPr>
          <a:xfrm>
            <a:off x="548640" y="3703320"/>
            <a:ext cx="1109441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t2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2-n"/>
          <p:cNvSpPr txBox="1"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st2-h"/>
          <p:cNvSpPr txBox="1"/>
          <p:nvPr/>
        </p:nvSpPr>
        <p:spPr>
          <a:xfrm>
            <a:off x="1463040" y="3703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Megacity 静止场景</a:t>
            </a:r>
            <a:endParaRPr lang="en-US" sz="1700" dirty="0"/>
          </a:p>
        </p:txBody>
      </p:sp>
      <p:sp>
        <p:nvSpPr>
          <p:cNvPr id="24" name="st2-b"/>
          <p:cNvSpPr txBox="1"/>
          <p:nvPr/>
        </p:nvSpPr>
        <p:spPr>
          <a:xfrm>
            <a:off x="4663440" y="370332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补做开关的逐像素证明；同时拆帧，看有没有更大的白写回</a:t>
            </a:r>
            <a:endParaRPr lang="en-US" sz="1350" dirty="0"/>
          </a:p>
        </p:txBody>
      </p:sp>
      <p:sp>
        <p:nvSpPr>
          <p:cNvPr id="25" name="st2-s-bg"/>
          <p:cNvSpPr/>
          <p:nvPr/>
        </p:nvSpPr>
        <p:spPr>
          <a:xfrm>
            <a:off x="10271455" y="38862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6" name="st2-s"/>
          <p:cNvSpPr txBox="1"/>
          <p:nvPr/>
        </p:nvSpPr>
        <p:spPr>
          <a:xfrm>
            <a:off x="10271455" y="38862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进行中</a:t>
            </a:r>
            <a:endParaRPr lang="en-US" sz="1200" dirty="0"/>
          </a:p>
        </p:txBody>
      </p:sp>
      <p:sp>
        <p:nvSpPr>
          <p:cNvPr id="27" name="st3-bg"/>
          <p:cNvSpPr/>
          <p:nvPr/>
        </p:nvSpPr>
        <p:spPr>
          <a:xfrm>
            <a:off x="548640" y="4572000"/>
            <a:ext cx="11094415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8" name="st3"/>
          <p:cNvSpPr/>
          <p:nvPr/>
        </p:nvSpPr>
        <p:spPr>
          <a:xfrm>
            <a:off x="777240" y="4709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st3-n"/>
          <p:cNvSpPr txBox="1"/>
          <p:nvPr/>
        </p:nvSpPr>
        <p:spPr>
          <a:xfrm>
            <a:off x="7772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st3-h"/>
          <p:cNvSpPr txBox="1"/>
          <p:nvPr/>
        </p:nvSpPr>
        <p:spPr>
          <a:xfrm>
            <a:off x="1463040" y="4572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PUBG 拆帧</a:t>
            </a:r>
            <a:endParaRPr lang="en-US" sz="1700" dirty="0"/>
          </a:p>
        </p:txBody>
      </p:sp>
      <p:sp>
        <p:nvSpPr>
          <p:cNvPr id="31" name="st3-b"/>
          <p:cNvSpPr txBox="1"/>
          <p:nvPr/>
        </p:nvSpPr>
        <p:spPr>
          <a:xfrm>
            <a:off x="4663440" y="457200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第二个商业游戏已装好，进门修好后拆帧找多余步骤</a:t>
            </a:r>
            <a:endParaRPr lang="en-US" sz="1350" dirty="0"/>
          </a:p>
        </p:txBody>
      </p:sp>
      <p:sp>
        <p:nvSpPr>
          <p:cNvPr id="32" name="st3-s-bg"/>
          <p:cNvSpPr/>
          <p:nvPr/>
        </p:nvSpPr>
        <p:spPr>
          <a:xfrm>
            <a:off x="10271455" y="475488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3" name="st3-s"/>
          <p:cNvSpPr txBox="1"/>
          <p:nvPr/>
        </p:nvSpPr>
        <p:spPr>
          <a:xfrm>
            <a:off x="10271455" y="4754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计划</a:t>
            </a:r>
            <a:endParaRPr lang="en-US" sz="1200" dirty="0"/>
          </a:p>
        </p:txBody>
      </p:sp>
      <p:sp>
        <p:nvSpPr>
          <p:cNvPr id="34" name="st4-bg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5" name="st4"/>
          <p:cNvSpPr/>
          <p:nvPr/>
        </p:nvSpPr>
        <p:spPr>
          <a:xfrm>
            <a:off x="777240" y="5577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st4-n"/>
          <p:cNvSpPr txBox="1"/>
          <p:nvPr/>
        </p:nvSpPr>
        <p:spPr>
          <a:xfrm>
            <a:off x="77724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st4-h"/>
          <p:cNvSpPr txBox="1"/>
          <p:nvPr/>
        </p:nvSpPr>
        <p:spPr>
          <a:xfrm>
            <a:off x="1463040" y="5440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节点开机自启</a:t>
            </a:r>
            <a:endParaRPr lang="en-US" sz="1700" dirty="0"/>
          </a:p>
        </p:txBody>
      </p:sp>
      <p:sp>
        <p:nvSpPr>
          <p:cNvPr id="38" name="st4-b"/>
          <p:cNvSpPr txBox="1"/>
          <p:nvPr/>
        </p:nvSpPr>
        <p:spPr>
          <a:xfrm>
            <a:off x="4663440" y="544068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系统级改动，需要 owner 在 Mac mini 上装一次</a:t>
            </a:r>
            <a:endParaRPr lang="en-US" sz="1350" dirty="0"/>
          </a:p>
        </p:txBody>
      </p:sp>
      <p:sp>
        <p:nvSpPr>
          <p:cNvPr id="39" name="st4-s-bg"/>
          <p:cNvSpPr/>
          <p:nvPr/>
        </p:nvSpPr>
        <p:spPr>
          <a:xfrm>
            <a:off x="10271455" y="562356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40" name="st4-s"/>
          <p:cNvSpPr txBox="1"/>
          <p:nvPr/>
        </p:nvSpPr>
        <p:spPr>
          <a:xfrm>
            <a:off x="10271455" y="5623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计划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作战室：浅色主题，手机状态、设备锁排队、实验进度一页看完</a:t>
            </a:r>
            <a:endParaRPr lang="en-US" sz="2800" dirty="0"/>
          </a:p>
        </p:txBody>
      </p:sp>
      <p:pic>
        <p:nvPicPr>
          <p:cNvPr id="4" name="shot0" descr="/Users/yao/projects/_wt/ppt/docs/slides/src/progress/img/warroom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054" y="1188720"/>
            <a:ext cx="8665587" cy="4572000"/>
          </a:xfrm>
          <a:prstGeom prst="rect">
            <a:avLst/>
          </a:prstGeom>
        </p:spPr>
      </p:pic>
      <p:sp>
        <p:nvSpPr>
          <p:cNvPr id="5" name="shot0-frame"/>
          <p:cNvSpPr/>
          <p:nvPr/>
        </p:nvSpPr>
        <p:spPr>
          <a:xfrm>
            <a:off x="1763054" y="1188720"/>
            <a:ext cx="8665587" cy="4572000"/>
          </a:xfrm>
          <a:prstGeom prst="rect">
            <a:avLst/>
          </a:prstGeom>
          <a:ln w="9525">
            <a:solidFill>
              <a:srgbClr val="D8DCE2"/>
            </a:solidFill>
            <a:prstDash val="solid"/>
          </a:ln>
        </p:spPr>
      </p:sp>
      <p:sp>
        <p:nvSpPr>
          <p:cNvPr id="6" name="shot0-l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作战室核心区（10-11 20:18 截图）：手机状态、设备锁与排队、正在跑的实验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一帧 33 步：画场景和打光占了六成 GPU 时间，白写回只有 3 张图</a:t>
            </a:r>
            <a:endParaRPr lang="en-US" sz="2800" dirty="0"/>
          </a:p>
        </p:txBody>
      </p:sp>
      <p:pic>
        <p:nvPicPr>
          <p:cNvPr id="4" name="fig" descr="/Users/yao/projects/_wt/ppt/docs/slides/src/progress/fig/out/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973" y="1188720"/>
            <a:ext cx="9429750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harness 全貌：出方案的、被测的都能插拔</a:t>
            </a:r>
            <a:endParaRPr lang="en-US" sz="2800" dirty="0"/>
          </a:p>
        </p:txBody>
      </p:sp>
      <p:pic>
        <p:nvPicPr>
          <p:cNvPr id="4" name="fig" descr="/Users/yao/projects/_wt/ppt/docs/slides/src/progress/fig/out/har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848" y="1188720"/>
            <a:ext cx="9144000" cy="4572000"/>
          </a:xfrm>
          <a:prstGeom prst="rect">
            <a:avLst/>
          </a:prstGeom>
        </p:spPr>
      </p:pic>
      <p:sp>
        <p:nvSpPr>
          <p:cNvPr id="5" name="cap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黄色「新」= v02 新加的部分；好坏始终由 harness 判定，出方案的一方改不了规则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手机节点：所有人经一个加密入口，排队用同一台手机</a:t>
            </a:r>
            <a:endParaRPr lang="en-US" sz="2800" dirty="0"/>
          </a:p>
        </p:txBody>
      </p:sp>
      <p:pic>
        <p:nvPicPr>
          <p:cNvPr id="4" name="fig" descr="/Users/yao/projects/_wt/ppt/docs/slides/src/progress/fig/out/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11" y="1188720"/>
            <a:ext cx="9975273" cy="4572000"/>
          </a:xfrm>
          <a:prstGeom prst="rect">
            <a:avLst/>
          </a:prstGeom>
        </p:spPr>
      </p:pic>
      <p:sp>
        <p:nvSpPr>
          <p:cNvPr id="5" name="cap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开发机和手机不必在一起；节点合并代码后自己编译更新，不再从开发机传文件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提前停：注定留不下的候选当场停，省下三成测量，结论不变</a:t>
            </a:r>
            <a:endParaRPr lang="en-US" sz="2800" dirty="0"/>
          </a:p>
        </p:txBody>
      </p:sp>
      <p:pic>
        <p:nvPicPr>
          <p:cNvPr id="4" name="fig" descr="/Users/yao/projects/_wt/ppt/docs/slides/src/progress/fig/out/cur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48" y="1188720"/>
            <a:ext cx="10058400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我们的放大算子比游戏自带的更接近原生画面，最多接近 5 倍</a:t>
            </a:r>
            <a:endParaRPr lang="en-US" sz="2800" dirty="0"/>
          </a:p>
        </p:txBody>
      </p:sp>
      <p:pic>
        <p:nvPicPr>
          <p:cNvPr id="4" name="fig" descr="/Users/yao/projects/_wt/ppt/docs/slides/src/progress/fig/out/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356" y="1188720"/>
            <a:ext cx="9298983" cy="4572000"/>
          </a:xfrm>
          <a:prstGeom prst="rect">
            <a:avLst/>
          </a:prstGeom>
        </p:spPr>
      </p:pic>
      <p:sp>
        <p:nvSpPr>
          <p:cNvPr id="5" name="cap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原神大世界，同一位置、同一视角、同一时辰；渲染精度调低后，分别用游戏自带放大和我们的算子放大，再和原生最高画质比。条越短越接近原生。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同事那边和需要协调的事</a:t>
            </a:r>
            <a:endParaRPr lang="en-US" sz="2800" dirty="0"/>
          </a:p>
        </p:txBody>
      </p:sp>
      <p:sp>
        <p:nvSpPr>
          <p:cNvPr id="4" name="l-h"/>
          <p:cNvSpPr txBox="1"/>
          <p:nvPr/>
        </p:nvSpPr>
        <p:spPr>
          <a:xfrm>
            <a:off x="548640" y="11887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anantheparty：33 个草稿 PR，都还没合并、没上真机</a:t>
            </a:r>
            <a:endParaRPr lang="en-US" sz="1600" dirty="0"/>
          </a:p>
        </p:txBody>
      </p:sp>
      <p:sp>
        <p:nvSpPr>
          <p:cNvPr id="5" name="l-sum"/>
          <p:cNvSpPr txBox="1"/>
          <p:nvPr/>
        </p:nvSpPr>
        <p:spPr>
          <a:xfrm>
            <a:off x="548640" y="16459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方向是让结论更站得住：先定标准再测、探索和确认分开、每份证据都能追溯；在等一加 Ace5 到位后上真机。</a:t>
            </a:r>
            <a:endParaRPr lang="en-US" sz="1300" dirty="0"/>
          </a:p>
        </p:txBody>
      </p:sp>
      <p:graphicFrame>
        <p:nvGraphicFramePr>
          <p:cNvPr id="16" name="l-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5852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方向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草稿 PR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模型/算子工件流水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#30 #31 #34 #35 · PF #20 #21 #23 #24 #26 · refbench #2 #3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独立确认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#29 #37 #38 · PF #22 #25 #27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实验资格与证据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PF #18 · GOL #27 #32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专家筛选/连续画质/租约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#28 · PF #17 #19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交接文档与展示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docs #5 · GOL #26 #33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l-foot"/>
          <p:cNvSpPr txBox="1"/>
          <p:nvPr/>
        </p:nvSpPr>
        <p:spPr>
          <a:xfrm>
            <a:off x="548640" y="54406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这里 PF/GOL 指 HGamey/phonefarm、HGamey/game_opt_loop。会议诉求（0917/0924 纪要，YanPENG-2026）见 v01 第 12 页</a:t>
            </a:r>
            <a:endParaRPr lang="en-US" sz="1150" dirty="0"/>
          </a:p>
        </p:txBody>
      </p:sp>
      <p:sp>
        <p:nvSpPr>
          <p:cNvPr id="8" name="r-h"/>
          <p:cNvSpPr txBox="1"/>
          <p:nvPr/>
        </p:nvSpPr>
        <p:spPr>
          <a:xfrm>
            <a:off x="6766560" y="1188720"/>
            <a:ext cx="4876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需要 owner 定的</a:t>
            </a:r>
            <a:endParaRPr lang="en-US" sz="1600" dirty="0"/>
          </a:p>
        </p:txBody>
      </p:sp>
      <p:sp>
        <p:nvSpPr>
          <p:cNvPr id="9" name="r0-bg"/>
          <p:cNvSpPr/>
          <p:nvPr/>
        </p:nvSpPr>
        <p:spPr>
          <a:xfrm>
            <a:off x="6766560" y="1691640"/>
            <a:ext cx="487649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r0-h"/>
          <p:cNvSpPr txBox="1"/>
          <p:nvPr/>
        </p:nvSpPr>
        <p:spPr>
          <a:xfrm>
            <a:off x="6949440" y="1764792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分工</a:t>
            </a:r>
            <a:endParaRPr lang="en-US" sz="1400" dirty="0"/>
          </a:p>
        </p:txBody>
      </p:sp>
      <p:sp>
        <p:nvSpPr>
          <p:cNvPr id="11" name="r0-b"/>
          <p:cNvSpPr txBox="1"/>
          <p:nvPr/>
        </p:nvSpPr>
        <p:spPr>
          <a:xfrm>
            <a:off x="6949440" y="2084832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实验资格、设备租约、独立确认两边都在做，请定谁主谁辅</a:t>
            </a:r>
            <a:endParaRPr lang="en-US" sz="1200" dirty="0"/>
          </a:p>
        </p:txBody>
      </p:sp>
      <p:sp>
        <p:nvSpPr>
          <p:cNvPr id="12" name="r1-bg"/>
          <p:cNvSpPr/>
          <p:nvPr/>
        </p:nvSpPr>
        <p:spPr>
          <a:xfrm>
            <a:off x="6766560" y="2807208"/>
            <a:ext cx="487649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r1-h"/>
          <p:cNvSpPr txBox="1"/>
          <p:nvPr/>
        </p:nvSpPr>
        <p:spPr>
          <a:xfrm>
            <a:off x="6949440" y="2880360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提交路径</a:t>
            </a:r>
            <a:endParaRPr lang="en-US" sz="1400" dirty="0"/>
          </a:p>
        </p:txBody>
      </p:sp>
      <p:sp>
        <p:nvSpPr>
          <p:cNvPr id="14" name="r1-b"/>
          <p:cNvSpPr txBox="1"/>
          <p:nvPr/>
        </p:nvSpPr>
        <p:spPr>
          <a:xfrm>
            <a:off x="6949440" y="3200400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我们走 BH3GEI/phonefarm 再同步，对方直接提 HGamey/phonefarm，建议约定唯一上游</a:t>
            </a:r>
            <a:endParaRPr lang="en-US" sz="1200" dirty="0"/>
          </a:p>
        </p:txBody>
      </p:sp>
      <p:sp>
        <p:nvSpPr>
          <p:cNvPr id="15" name="r2-bg"/>
          <p:cNvSpPr/>
          <p:nvPr/>
        </p:nvSpPr>
        <p:spPr>
          <a:xfrm>
            <a:off x="6766560" y="3922776"/>
            <a:ext cx="487649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r2-h"/>
          <p:cNvSpPr txBox="1"/>
          <p:nvPr/>
        </p:nvSpPr>
        <p:spPr>
          <a:xfrm>
            <a:off x="6949440" y="3995928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对外怎么说</a:t>
            </a:r>
            <a:endParaRPr lang="en-US" sz="1400" dirty="0"/>
          </a:p>
        </p:txBody>
      </p:sp>
      <p:sp>
        <p:nvSpPr>
          <p:cNvPr id="17" name="r2-b"/>
          <p:cNvSpPr txBox="1"/>
          <p:nvPr/>
        </p:nvSpPr>
        <p:spPr>
          <a:xfrm>
            <a:off x="6949440" y="4315968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画质和「没测出变差」的结论，建议统一按更严的标准重测后再报</a:t>
            </a:r>
            <a:endParaRPr lang="en-US" sz="1200" dirty="0"/>
          </a:p>
        </p:txBody>
      </p:sp>
      <p:sp>
        <p:nvSpPr>
          <p:cNvPr id="18" name="r3-bg"/>
          <p:cNvSpPr/>
          <p:nvPr/>
        </p:nvSpPr>
        <p:spPr>
          <a:xfrm>
            <a:off x="6766560" y="5038344"/>
            <a:ext cx="487649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r3-h"/>
          <p:cNvSpPr txBox="1"/>
          <p:nvPr/>
        </p:nvSpPr>
        <p:spPr>
          <a:xfrm>
            <a:off x="6949440" y="5111496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设备</a:t>
            </a:r>
            <a:endParaRPr lang="en-US" sz="1400" dirty="0"/>
          </a:p>
        </p:txBody>
      </p:sp>
      <p:sp>
        <p:nvSpPr>
          <p:cNvPr id="20" name="r3-b"/>
          <p:cNvSpPr txBox="1"/>
          <p:nvPr/>
        </p:nvSpPr>
        <p:spPr>
          <a:xfrm>
            <a:off x="6949440" y="5431536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只有 1 台手机，agent 排队；0924 待办①的采购进展待确认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附录：v03 之后合并的 PR</a:t>
            </a:r>
            <a:endParaRPr lang="en-US" sz="2800" dirty="0"/>
          </a:p>
        </p:txBody>
      </p:sp>
      <p:graphicFrame>
        <p:nvGraphicFramePr>
          <p:cNvPr id="17" name="col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10048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55568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PR</a:t>
                      </a:r>
                      <a:endParaRPr lang="en-US" sz="10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标题</a:t>
                      </a:r>
                      <a:endParaRPr lang="en-US" sz="10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#96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feat(storeop): 孪生 pass 现场开关 + 修 b…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#97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fix(ftrace_capture): 私有实例的时钟跟全局一致…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#98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docs(selftest): 判官体检报告初版 —— 真机标定完…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#99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feat(eval gray): 按改写施加 storeop_do…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#100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feat(frame-audit): 支持原神以外的游戏（--pk…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#101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feat(sample_env): 逐样本记 GPU 上限档与当前…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#102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feat(eval sysparam): 施加后回读, 被厂商服务…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#103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feat(selftest): 每臂记 GPU 档位，采集中被改的…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#104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fix(eval sysparam/gray): 每臂开跑前按请求…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#105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ci: 云端编译节点产物，发到 release node-build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#106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fix(devlock): frame-audit storeop…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#107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fix(onboard): 对话框小按钮整屏 OCR 会漏 —— 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#108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fix(onboard): PUBG 下载进度误判为确认提示、登录…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#109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feat(power): 停充认旁路供电（手机节点 USB-C P…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#110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docs(frame-audit): 阶段 2 机制验证（原神 s…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#111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ci(node-build): 资产加带提交号的不覆盖副本，节点下…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docs #9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PPT：进展 v03「原神一帧拆解」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col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188720"/>
          <a:ext cx="5410048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55568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PR</a:t>
                      </a:r>
                      <a:endParaRPr lang="en-US" sz="10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标题</a:t>
                      </a:r>
                      <a:endParaRPr lang="en-US" sz="10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#54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fix(守门): ABORT 不进守门看的历史 + 修正后回放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#55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fix(plan): 候选估时按归档实测 —— 去掉不存在的「每臂…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#56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feat(tools): 出方案离线评测 proposer_eva…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#57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feat(optimize): 多台同型号设备并行评测 ③ 的同一…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#58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feat(proposers): Kimi 多账号轮换（403 额…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#59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feat(optimize ②): 旋钮来自 frame-audi…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#60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feat(proposers): pi_kimi 日志记下每次工具…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#61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feat(report): 单列被厂商性能服务抢回的臂数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#64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fix(optimize): eval 证据目录放进输出目录, 远…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#65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fix(proposers): 云端只开 phonefarm_de…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#66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feat(goal): 目标模式 —— goal draft / 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#67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feat(goal): 网页「停止」= SIGINT, goal 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harness-ops #9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节点只读 token：云端只能读手机状态，碰不了手机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harness-ops #10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update_node --git：phonefarm 改为下载 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harness-ops #11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feat(dash): 作战室按目标模式重做（首页产品视角 + 掌…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harness-ops #12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节点部署加互斥锁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harness-ops #13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fix(node): 下载 CI 产物遇到 404/断流时重试续传…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foot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2026-10-11 16:29 之后 合并 34 个（太平洋时间）；09-11 以来合计 182 个。数据截至 2026-10-11 20:21 PDT。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Gamey Monthly">
  <a:themeElements>
    <a:clrScheme name="HGamey Monthly">
      <a:dk1>
        <a:srgbClr val="0F2744"/>
      </a:dk1>
      <a:lt1>
        <a:srgbClr val="FFFFFF"/>
      </a:lt1>
      <a:dk2>
        <a:srgbClr val="5C6470"/>
      </a:dk2>
      <a:lt2>
        <a:srgbClr val="EEF2F7"/>
      </a:lt2>
      <a:accent1>
        <a:srgbClr val="1F4E79"/>
      </a:accent1>
      <a:accent2>
        <a:srgbClr val="0A806F"/>
      </a:accent2>
      <a:accent3>
        <a:srgbClr val="C2602E"/>
      </a:accent3>
      <a:accent4>
        <a:srgbClr val="B23A3A"/>
      </a:accent4>
      <a:accent5>
        <a:srgbClr val="D8DCE2"/>
      </a:accent5>
      <a:accent6>
        <a:srgbClr val="8A94A6"/>
      </a:accent6>
      <a:hlink>
        <a:srgbClr val="1F4E79"/>
      </a:hlink>
      <a:folHlink>
        <a:srgbClr val="5C6470"/>
      </a:folHlink>
    </a:clrScheme>
    <a:fontScheme name="HGamey Monthly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HGamey 进展 v04</dc:title>
  <dc:subject>PptxGenJS Presentation</dc:subject>
  <dc:creator>BH3GEI</dc:creator>
  <cp:lastModifiedBy>BH3GEI</cp:lastModifiedBy>
  <cp:revision>1</cp:revision>
  <dcterms:created xsi:type="dcterms:W3CDTF">2026-10-12T03:21:48Z</dcterms:created>
  <dcterms:modified xsi:type="dcterms:W3CDTF">2026-10-12T03:21:48Z</dcterms:modified>
</cp:coreProperties>
</file>