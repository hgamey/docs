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7afad7f9-552c-c397-739a-b4d3c4887fe5}">
          <p14:sldIdLst>
            <p14:sldId id="256"/>
            <p14:sldId id="257"/>
          </p14:sldIdLst>
        </p14:section>
        <p14:section name="我们这边" id="{8bf1c291-4a01-d2ba-3b5d-e8ff060a784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正在做与下一步" id="{21522976-693f-94fe-2f38-fb68ec1d8e7a}">
          <p14:sldIdLst>
            <p14:sldId id="265"/>
            <p14:sldId id="266"/>
          </p14:sldIdLst>
        </p14:section>
        <p14:section name="同事与协调" id="{bf36047f-c2c4-0c36-0ac7-80788c5d8b68}">
          <p14:sldIdLst>
            <p14:sldId id="267"/>
            <p14:sldId id="268"/>
          </p14:sldIdLst>
        </p14:section>
        <p14:section name="附录" id="{cccaefbb-0cef-5480-cbc3-6a19c43f80e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范围：2026-09-11 到 2026-10-11（太平洋时间），以我们（BH3GEI）的工作为主线，同事部分压缩在第 12、13 页。数字来源都写在每页备注里：game_opt_loop STATUS.md / GOAL.md、phonefarm loop_v1/README.md 与 knobs/DESIGN.md、sr_loop README、09-24 版 PPT、各 PR 描述。人名只写 GitHub 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数来自 collect.py（gh pr list，作者 BH3GEI、状态 merged、09-11 以来；HGamey/phonefarm 上的镜像同步 PR 16 个不计）。5/5：phonefarm 提交 835db54（09-16）。3 层：STATUS.md「已验证的数字」。−30%：BH3GEI/phonefarm #78 的离线回放表，真机还没验证。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来源：game_opt_loop GOAL.md「目标」与「硬约束」第 3 条；STATUS.md「口径」。harness 本身就是产品，交付的是这条流水线，不是某一个算子。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①：STATUS.md「画面算子画质闭环（M2）」——gen0_baseline 0.264 ms / 34.521 dB → gen1_loc3 0.479 ms / 37.796 dB；帧时在 refbench 上测、画质用 19 张原神静态实拍帧，不是原神里连续运行的结果。sr_loop 数字来自其 README（已结项的前序实验，最优个体 gen10-6 内核 2.967 ms，端到端约 10 ms）。②：STATUS.md copyprobe 与 upop 两节。③：phonefarm knobs/DESIGN.md「3.1 现状」。PF = BH3GEI/phonefarm，GOL = HGamey/game_opt_loop。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来源：STATUS.md「灰档真超分算子 upop A/B」，BH3GEI/phonefarm #64。判定口径：5v5 精确置换 252 枚举，α_win = 0.0167（Bonferroni/3），α_lose = 0.05。a5 臂误采加载画面已作废并补跑。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系统参数：STATUS.md「系统参数自动调参」，BH3GEI/phonefarm #52。已知答案：BH3GEI/phonefarm #44（09-24 版 PPT 第 13 页）。LoadOp：STATUS.md「灰档 LoadOp 改写」，PF #31。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五条判据：phonefarm 提交 835db54「feat(loop_v1): 端到端性能优化闭环, 五条判据全部实测通过」。当时的旋钮结论（DDR 下限 p95 −1.61%）后来因 30 帧时代、没量功耗而作废，见下一页；闭环本身的五条判据不受影响。判定口径：STATUS.md 系统参数一节、phonefarm loop_v1/README.md。Megacity 离散度 0.987%。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左栏：STATUS.md「已撤回 / 作废的结论」。右栏：HGamey/.github issue #11「交接审计基线」。0924 纪要第 2 条引用了「每帧增加 0.2ms 但画质提升 3.3dB」。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 = BH3GEI/phonefarm，GOL = HGamey/game_opt_loop。cargo test 516 项来自 #78 描述（main 510 + 6）。#76：修复前 Rust 路径上 eval/autoloop 的判定没有把功耗比较和温度上限算进去。#78 只截「必然不保留」一侧，保留的永远跑满；真机没验证。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状态是 10-11 下午的快照，以各自 PR 为准。PF = BH3GEI/phonefarm（定时同步到 HGamey/phonefarm）。 10-11 新合并：BH3GEI/phonefarm #79（设备接口 platform::Backend）、HGamey/game_opt_loop #39（proposer@1）、HGamey/refbench #4（已知答案负载算子）。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来源：~/projects/_wt/ROADMAP.md 第二波计划（本地文件）与 lead 10-11 的路线调整。「3.5 小时」来自 09-24 版 PPT 第 28 页。状态：进行中 = 已有 agent 在做；计划 = 还没开工。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清单由 collect.py 刷新（auto.colleague_prs），分组是人工归类，新增 PR 要在 themes 里补进对应分组。PF = HGamey/phonefarm，GOL = HGamey/game_opt_loop。issue：.github #11–#19、GOL #25 #36。「0 次真机操作」依据对方 PR 描述（No phone… 0 tokens）。会议纪要：HGamey/.github 讨论 #1（0917）、#10（0924）。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都是需要 owner 决定的事，本页只列选项和建议。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auto.our_pr_counts 生成；编号连续的合并成区间。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HGamey 近一个月进展 · 2026-10-11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HGamey 近一个月进展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一句话任务到一份报告：真机闭环在原神上跑通了</a:t>
            </a:r>
            <a:endParaRPr lang="en-US" sz="2000" dirty="0"/>
          </a:p>
        </p:txBody>
      </p:sp>
      <p:sp>
        <p:nvSpPr>
          <p:cNvPr id="5" name="line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2026-09-11 → 2026-10-11 · BH3GEI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结论：真机闭环跑通了，下一步是提速和交案例</a:t>
            </a:r>
            <a:endParaRPr lang="en-US" sz="2800" dirty="0"/>
          </a:p>
        </p:txBody>
      </p:sp>
      <p:sp>
        <p:nvSpPr>
          <p:cNvPr id="4" name="card0"/>
          <p:cNvSpPr/>
          <p:nvPr/>
        </p:nvSpPr>
        <p:spPr>
          <a:xfrm>
            <a:off x="548640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ard0-big"/>
          <p:cNvSpPr txBox="1"/>
          <p:nvPr/>
        </p:nvSpPr>
        <p:spPr>
          <a:xfrm>
            <a:off x="777240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108</a:t>
            </a:r>
            <a:endParaRPr lang="en-US" sz="4400" dirty="0"/>
          </a:p>
        </p:txBody>
      </p:sp>
      <p:sp>
        <p:nvSpPr>
          <p:cNvPr id="6" name="card0-label"/>
          <p:cNvSpPr txBox="1"/>
          <p:nvPr/>
        </p:nvSpPr>
        <p:spPr>
          <a:xfrm>
            <a:off x="777240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个 PR 合并</a:t>
            </a:r>
            <a:endParaRPr lang="en-US" sz="1500" dirty="0"/>
          </a:p>
        </p:txBody>
      </p:sp>
      <p:sp>
        <p:nvSpPr>
          <p:cNvPr id="7" name="card0-text"/>
          <p:cNvSpPr txBox="1"/>
          <p:nvPr/>
        </p:nvSpPr>
        <p:spPr>
          <a:xfrm>
            <a:off x="777240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7 个仓库，主体是 phonefarm（67）和 game_opt_loop（25）；其中 42 个是文档/状态同步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3390824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rd1-big"/>
          <p:cNvSpPr txBox="1"/>
          <p:nvPr/>
        </p:nvSpPr>
        <p:spPr>
          <a:xfrm>
            <a:off x="3619424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5/5</a:t>
            </a:r>
            <a:endParaRPr lang="en-US" sz="4400" dirty="0"/>
          </a:p>
        </p:txBody>
      </p:sp>
      <p:sp>
        <p:nvSpPr>
          <p:cNvPr id="10" name="card1-label"/>
          <p:cNvSpPr txBox="1"/>
          <p:nvPr/>
        </p:nvSpPr>
        <p:spPr>
          <a:xfrm>
            <a:off x="3619424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最小可信闭环判据全过</a:t>
            </a:r>
            <a:endParaRPr lang="en-US" sz="1500" dirty="0"/>
          </a:p>
        </p:txBody>
      </p:sp>
      <p:sp>
        <p:nvSpPr>
          <p:cNvPr id="11" name="card1-text"/>
          <p:cNvSpPr txBox="1"/>
          <p:nvPr/>
        </p:nvSpPr>
        <p:spPr>
          <a:xfrm>
            <a:off x="3619424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09-16 在原神上实测：可重复、归因成立、统计显著、不留痕、可离线回放</a:t>
            </a:r>
            <a:endParaRPr lang="en-US" sz="1300" dirty="0"/>
          </a:p>
        </p:txBody>
      </p:sp>
      <p:sp>
        <p:nvSpPr>
          <p:cNvPr id="12" name="card2"/>
          <p:cNvSpPr/>
          <p:nvPr/>
        </p:nvSpPr>
        <p:spPr>
          <a:xfrm>
            <a:off x="6233008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2-big"/>
          <p:cNvSpPr txBox="1"/>
          <p:nvPr/>
        </p:nvSpPr>
        <p:spPr>
          <a:xfrm>
            <a:off x="6461608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 层</a:t>
            </a:r>
            <a:endParaRPr lang="en-US" sz="4400" dirty="0"/>
          </a:p>
        </p:txBody>
      </p:sp>
      <p:sp>
        <p:nvSpPr>
          <p:cNvPr id="14" name="card2-label"/>
          <p:cNvSpPr txBox="1"/>
          <p:nvPr/>
        </p:nvSpPr>
        <p:spPr>
          <a:xfrm>
            <a:off x="6461608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改动面都上了原神真机</a:t>
            </a:r>
            <a:endParaRPr lang="en-US" sz="1500" dirty="0"/>
          </a:p>
        </p:txBody>
      </p:sp>
      <p:sp>
        <p:nvSpPr>
          <p:cNvPr id="15" name="card2-text"/>
          <p:cNvSpPr txBox="1"/>
          <p:nvPr/>
        </p:nvSpPr>
        <p:spPr>
          <a:xfrm>
            <a:off x="6461608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超分算子替换游戏自带放大，画质接近原生 3–4 倍、无指标显著变差；系统参数两组候选被统计判定淘汰</a:t>
            </a:r>
            <a:endParaRPr lang="en-US" sz="1300" dirty="0"/>
          </a:p>
        </p:txBody>
      </p:sp>
      <p:sp>
        <p:nvSpPr>
          <p:cNvPr id="16" name="card3"/>
          <p:cNvSpPr/>
          <p:nvPr/>
        </p:nvSpPr>
        <p:spPr>
          <a:xfrm>
            <a:off x="9075191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card3-big"/>
          <p:cNvSpPr txBox="1"/>
          <p:nvPr/>
        </p:nvSpPr>
        <p:spPr>
          <a:xfrm>
            <a:off x="9303791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−30%</a:t>
            </a:r>
            <a:endParaRPr lang="en-US" sz="4400" dirty="0"/>
          </a:p>
        </p:txBody>
      </p:sp>
      <p:sp>
        <p:nvSpPr>
          <p:cNvPr id="18" name="card3-label"/>
          <p:cNvSpPr txBox="1"/>
          <p:nvPr/>
        </p:nvSpPr>
        <p:spPr>
          <a:xfrm>
            <a:off x="9303791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测量臂数（截断，离线回放）</a:t>
            </a:r>
            <a:endParaRPr lang="en-US" sz="1500" dirty="0"/>
          </a:p>
        </p:txBody>
      </p:sp>
      <p:sp>
        <p:nvSpPr>
          <p:cNvPr id="19" name="card3-text"/>
          <p:cNvSpPr txBox="1"/>
          <p:nvPr/>
        </p:nvSpPr>
        <p:spPr>
          <a:xfrm>
            <a:off x="9303791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判定内核全部收进 Rust；设备锁进代码；必然不保留的候选提前停，110 臂省 33 臂</a:t>
            </a:r>
            <a:endParaRPr lang="en-US" sz="1300" dirty="0"/>
          </a:p>
        </p:txBody>
      </p:sp>
      <p:sp>
        <p:nvSpPr>
          <p:cNvPr id="20" name="bottom-bg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bottom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下一步：新游戏一小时出报告、看板、出方案上云而判定留在本地；交出 0924 待办②的 1–2 个案例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harness 是什么：一句话任务 → 一份能核对的报告</a:t>
            </a:r>
            <a:endParaRPr lang="en-US" sz="2800" dirty="0"/>
          </a:p>
        </p:txBody>
      </p:sp>
      <p:sp>
        <p:nvSpPr>
          <p:cNvPr id="4" name="ask-bg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ask"/>
          <p:cNvSpPr txBox="1"/>
          <p:nvPr/>
        </p:nvSpPr>
        <p:spPr>
          <a:xfrm>
            <a:off x="822960" y="12344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用户只说一句：「把原神在这台手机上优化一下，跑 1 小时」</a:t>
            </a:r>
            <a:endParaRPr lang="en-US" sz="1800" dirty="0"/>
          </a:p>
        </p:txBody>
      </p:sp>
      <p:sp>
        <p:nvSpPr>
          <p:cNvPr id="6" name="step0"/>
          <p:cNvSpPr/>
          <p:nvPr/>
        </p:nvSpPr>
        <p:spPr>
          <a:xfrm>
            <a:off x="548640" y="2148840"/>
            <a:ext cx="1490864" cy="64008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7" name="step0-h"/>
          <p:cNvSpPr txBox="1"/>
          <p:nvPr/>
        </p:nvSpPr>
        <p:spPr>
          <a:xfrm>
            <a:off x="685800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摸底</a:t>
            </a:r>
            <a:endParaRPr lang="en-US" sz="1500" dirty="0"/>
          </a:p>
        </p:txBody>
      </p:sp>
      <p:sp>
        <p:nvSpPr>
          <p:cNvPr id="8" name="step0-b"/>
          <p:cNvSpPr txBox="1"/>
          <p:nvPr/>
        </p:nvSpPr>
        <p:spPr>
          <a:xfrm>
            <a:off x="594360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芯片、root、停充、能不能挂层、基线</a:t>
            </a:r>
            <a:endParaRPr lang="en-US" sz="1200" dirty="0"/>
          </a:p>
        </p:txBody>
      </p:sp>
      <p:sp>
        <p:nvSpPr>
          <p:cNvPr id="9" name="step1"/>
          <p:cNvSpPr/>
          <p:nvPr/>
        </p:nvSpPr>
        <p:spPr>
          <a:xfrm>
            <a:off x="2149232" y="2148840"/>
            <a:ext cx="1490864" cy="6400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step1-h"/>
          <p:cNvSpPr txBox="1"/>
          <p:nvPr/>
        </p:nvSpPr>
        <p:spPr>
          <a:xfrm>
            <a:off x="2286392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开路</a:t>
            </a:r>
            <a:endParaRPr lang="en-US" sz="1500" dirty="0"/>
          </a:p>
        </p:txBody>
      </p:sp>
      <p:sp>
        <p:nvSpPr>
          <p:cNvPr id="11" name="step1-b"/>
          <p:cNvSpPr txBox="1"/>
          <p:nvPr/>
        </p:nvSpPr>
        <p:spPr>
          <a:xfrm>
            <a:off x="2194952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三层里哪几层在这台机器上真能改</a:t>
            </a:r>
            <a:endParaRPr lang="en-US" sz="1200" dirty="0"/>
          </a:p>
        </p:txBody>
      </p:sp>
      <p:sp>
        <p:nvSpPr>
          <p:cNvPr id="12" name="step2"/>
          <p:cNvSpPr/>
          <p:nvPr/>
        </p:nvSpPr>
        <p:spPr>
          <a:xfrm>
            <a:off x="3749824" y="2148840"/>
            <a:ext cx="1490864" cy="6400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3" name="step2-h"/>
          <p:cNvSpPr txBox="1"/>
          <p:nvPr/>
        </p:nvSpPr>
        <p:spPr>
          <a:xfrm>
            <a:off x="3886984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出方案</a:t>
            </a:r>
            <a:endParaRPr lang="en-US" sz="1500" dirty="0"/>
          </a:p>
        </p:txBody>
      </p:sp>
      <p:sp>
        <p:nvSpPr>
          <p:cNvPr id="14" name="step2-b"/>
          <p:cNvSpPr txBox="1"/>
          <p:nvPr/>
        </p:nvSpPr>
        <p:spPr>
          <a:xfrm>
            <a:off x="3795544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大模型提候选：算子、参数、流程改写</a:t>
            </a:r>
            <a:endParaRPr lang="en-US" sz="1200" dirty="0"/>
          </a:p>
        </p:txBody>
      </p:sp>
      <p:sp>
        <p:nvSpPr>
          <p:cNvPr id="15" name="step3"/>
          <p:cNvSpPr/>
          <p:nvPr/>
        </p:nvSpPr>
        <p:spPr>
          <a:xfrm>
            <a:off x="5350416" y="2148840"/>
            <a:ext cx="1490864" cy="6400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6" name="step3-h"/>
          <p:cNvSpPr txBox="1"/>
          <p:nvPr/>
        </p:nvSpPr>
        <p:spPr>
          <a:xfrm>
            <a:off x="5487576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本地筛</a:t>
            </a:r>
            <a:endParaRPr lang="en-US" sz="1500" dirty="0"/>
          </a:p>
        </p:txBody>
      </p:sp>
      <p:sp>
        <p:nvSpPr>
          <p:cNvPr id="17" name="step3-b"/>
          <p:cNvSpPr txBox="1"/>
          <p:nvPr/>
        </p:nvSpPr>
        <p:spPr>
          <a:xfrm>
            <a:off x="5396136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编不过、死循环、越界的先打回</a:t>
            </a:r>
            <a:endParaRPr lang="en-US" sz="1200" dirty="0"/>
          </a:p>
        </p:txBody>
      </p:sp>
      <p:sp>
        <p:nvSpPr>
          <p:cNvPr id="18" name="step4"/>
          <p:cNvSpPr/>
          <p:nvPr/>
        </p:nvSpPr>
        <p:spPr>
          <a:xfrm>
            <a:off x="6951008" y="2148840"/>
            <a:ext cx="1490864" cy="6400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tep4-h"/>
          <p:cNvSpPr txBox="1"/>
          <p:nvPr/>
        </p:nvSpPr>
        <p:spPr>
          <a:xfrm>
            <a:off x="7088168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真机对照</a:t>
            </a:r>
            <a:endParaRPr lang="en-US" sz="1500" dirty="0"/>
          </a:p>
        </p:txBody>
      </p:sp>
      <p:sp>
        <p:nvSpPr>
          <p:cNvPr id="20" name="step4-b"/>
          <p:cNvSpPr txBox="1"/>
          <p:nvPr/>
        </p:nvSpPr>
        <p:spPr>
          <a:xfrm>
            <a:off x="6996728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等冷、停充、A/B 交替、统计判定、还原</a:t>
            </a:r>
            <a:endParaRPr lang="en-US" sz="1200" dirty="0"/>
          </a:p>
        </p:txBody>
      </p:sp>
      <p:sp>
        <p:nvSpPr>
          <p:cNvPr id="21" name="step5"/>
          <p:cNvSpPr/>
          <p:nvPr/>
        </p:nvSpPr>
        <p:spPr>
          <a:xfrm>
            <a:off x="8551599" y="2148840"/>
            <a:ext cx="1490864" cy="6400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2" name="step5-h"/>
          <p:cNvSpPr txBox="1"/>
          <p:nvPr/>
        </p:nvSpPr>
        <p:spPr>
          <a:xfrm>
            <a:off x="8688759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归档</a:t>
            </a:r>
            <a:endParaRPr lang="en-US" sz="1500" dirty="0"/>
          </a:p>
        </p:txBody>
      </p:sp>
      <p:sp>
        <p:nvSpPr>
          <p:cNvPr id="23" name="step5-b"/>
          <p:cNvSpPr txBox="1"/>
          <p:nvPr/>
        </p:nvSpPr>
        <p:spPr>
          <a:xfrm>
            <a:off x="8597319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全部入档；好的喂回去出下一代</a:t>
            </a:r>
            <a:endParaRPr lang="en-US" sz="1200" dirty="0"/>
          </a:p>
        </p:txBody>
      </p:sp>
      <p:sp>
        <p:nvSpPr>
          <p:cNvPr id="24" name="step6"/>
          <p:cNvSpPr/>
          <p:nvPr/>
        </p:nvSpPr>
        <p:spPr>
          <a:xfrm>
            <a:off x="10152191" y="2148840"/>
            <a:ext cx="1490864" cy="6400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5" name="step6-h"/>
          <p:cNvSpPr txBox="1"/>
          <p:nvPr/>
        </p:nvSpPr>
        <p:spPr>
          <a:xfrm>
            <a:off x="10289351" y="2148840"/>
            <a:ext cx="121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报告</a:t>
            </a:r>
            <a:endParaRPr lang="en-US" sz="1500" dirty="0"/>
          </a:p>
        </p:txBody>
      </p:sp>
      <p:sp>
        <p:nvSpPr>
          <p:cNvPr id="26" name="step6-b"/>
          <p:cNvSpPr txBox="1"/>
          <p:nvPr/>
        </p:nvSpPr>
        <p:spPr>
          <a:xfrm>
            <a:off x="10197911" y="2926080"/>
            <a:ext cx="139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留下、淘汰、无效，附条件和证据</a:t>
            </a:r>
            <a:endParaRPr lang="en-US" sz="1200" dirty="0"/>
          </a:p>
        </p:txBody>
      </p:sp>
      <p:sp>
        <p:nvSpPr>
          <p:cNvPr id="27" name="repo0"/>
          <p:cNvSpPr/>
          <p:nvPr/>
        </p:nvSpPr>
        <p:spPr>
          <a:xfrm>
            <a:off x="548640" y="4069080"/>
            <a:ext cx="351525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repo0-h"/>
          <p:cNvSpPr txBox="1"/>
          <p:nvPr/>
        </p:nvSpPr>
        <p:spPr>
          <a:xfrm>
            <a:off x="777240" y="4160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game_opt_loop</a:t>
            </a:r>
            <a:endParaRPr lang="en-US" sz="1500" dirty="0"/>
          </a:p>
        </p:txBody>
      </p:sp>
      <p:sp>
        <p:nvSpPr>
          <p:cNvPr id="29" name="repo0-b"/>
          <p:cNvSpPr txBox="1"/>
          <p:nvPr/>
        </p:nvSpPr>
        <p:spPr>
          <a:xfrm>
            <a:off x="777240" y="455371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入口与决策：摸底、开路、出方案、档案、报告、看板</a:t>
            </a:r>
            <a:endParaRPr lang="en-US" sz="1200" dirty="0"/>
          </a:p>
        </p:txBody>
      </p:sp>
      <p:sp>
        <p:nvSpPr>
          <p:cNvPr id="30" name="repo1"/>
          <p:cNvSpPr/>
          <p:nvPr/>
        </p:nvSpPr>
        <p:spPr>
          <a:xfrm>
            <a:off x="4338218" y="4069080"/>
            <a:ext cx="351525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repo1-h"/>
          <p:cNvSpPr txBox="1"/>
          <p:nvPr/>
        </p:nvSpPr>
        <p:spPr>
          <a:xfrm>
            <a:off x="4566818" y="4160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phonefarm</a:t>
            </a:r>
            <a:endParaRPr lang="en-US" sz="1500" dirty="0"/>
          </a:p>
        </p:txBody>
      </p:sp>
      <p:sp>
        <p:nvSpPr>
          <p:cNvPr id="32" name="repo1-b"/>
          <p:cNvSpPr txBox="1"/>
          <p:nvPr/>
        </p:nvSpPr>
        <p:spPr>
          <a:xfrm>
            <a:off x="4566818" y="455371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底座：设备、施加改动、测量、统计判定、还原</a:t>
            </a:r>
            <a:endParaRPr lang="en-US" sz="1200" dirty="0"/>
          </a:p>
        </p:txBody>
      </p:sp>
      <p:sp>
        <p:nvSpPr>
          <p:cNvPr id="33" name="repo2"/>
          <p:cNvSpPr/>
          <p:nvPr/>
        </p:nvSpPr>
        <p:spPr>
          <a:xfrm>
            <a:off x="8127797" y="4069080"/>
            <a:ext cx="351525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repo2-h"/>
          <p:cNvSpPr txBox="1"/>
          <p:nvPr/>
        </p:nvSpPr>
        <p:spPr>
          <a:xfrm>
            <a:off x="8356397" y="4160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refbench</a:t>
            </a:r>
            <a:endParaRPr lang="en-US" sz="1500" dirty="0"/>
          </a:p>
        </p:txBody>
      </p:sp>
      <p:sp>
        <p:nvSpPr>
          <p:cNvPr id="35" name="repo2-b"/>
          <p:cNvSpPr txBox="1"/>
          <p:nvPr/>
        </p:nvSpPr>
        <p:spPr>
          <a:xfrm>
            <a:off x="8356397" y="455371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白盒靶子：已知答案的确定性 Vulkan 负载</a:t>
            </a:r>
            <a:endParaRPr lang="en-US" sz="1200" dirty="0"/>
          </a:p>
        </p:txBody>
      </p:sp>
      <p:sp>
        <p:nvSpPr>
          <p:cNvPr id="36" name="rule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出方案的一方改不了判定：统计检验在 phonefarm 一侧算，采样协议在看到候选数据之前冻结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三层改动面：在原神真机上各做到哪一步</a:t>
            </a:r>
            <a:endParaRPr lang="en-US" sz="2800" dirty="0"/>
          </a:p>
        </p:txBody>
      </p:sp>
      <p:sp>
        <p:nvSpPr>
          <p:cNvPr id="4" name="l0-h-bg"/>
          <p:cNvSpPr/>
          <p:nvPr/>
        </p:nvSpPr>
        <p:spPr>
          <a:xfrm>
            <a:off x="548640" y="1234440"/>
            <a:ext cx="351525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l0-h"/>
          <p:cNvSpPr txBox="1"/>
          <p:nvPr/>
        </p:nvSpPr>
        <p:spPr>
          <a:xfrm>
            <a:off x="777240" y="1234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① 画面算子</a:t>
            </a:r>
            <a:endParaRPr lang="en-US" sz="1800" dirty="0"/>
          </a:p>
        </p:txBody>
      </p:sp>
      <p:sp>
        <p:nvSpPr>
          <p:cNvPr id="6" name="l0-bg"/>
          <p:cNvSpPr/>
          <p:nvPr/>
        </p:nvSpPr>
        <p:spPr>
          <a:xfrm>
            <a:off x="548640" y="1783080"/>
            <a:ext cx="3515258" cy="4389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l0-how"/>
          <p:cNvSpPr txBox="1"/>
          <p:nvPr/>
        </p:nvSpPr>
        <p:spPr>
          <a:xfrm>
            <a:off x="777240" y="19202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大模型写 shader 算子，替换游戏里的一步（目前是放大）</a:t>
            </a:r>
            <a:endParaRPr lang="en-US" sz="1200" dirty="0"/>
          </a:p>
        </p:txBody>
      </p:sp>
      <p:sp>
        <p:nvSpPr>
          <p:cNvPr id="8" name="l0-big"/>
          <p:cNvSpPr txBox="1"/>
          <p:nvPr/>
        </p:nvSpPr>
        <p:spPr>
          <a:xfrm>
            <a:off x="777240" y="25146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+3.3 dB</a:t>
            </a:r>
            <a:endParaRPr lang="en-US" sz="3200" dirty="0"/>
          </a:p>
        </p:txBody>
      </p:sp>
      <p:sp>
        <p:nvSpPr>
          <p:cNvPr id="9" name="l0-bigl"/>
          <p:cNvSpPr txBox="1"/>
          <p:nvPr/>
        </p:nvSpPr>
        <p:spPr>
          <a:xfrm>
            <a:off x="777240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画质，每帧多 0.22 ms（refbench + 静态帧）</a:t>
            </a:r>
            <a:endParaRPr lang="en-US" sz="1200" dirty="0"/>
          </a:p>
        </p:txBody>
      </p:sp>
      <p:sp>
        <p:nvSpPr>
          <p:cNvPr id="10" name="l0-done"/>
          <p:cNvSpPr txBox="1"/>
          <p:nvPr/>
        </p:nvSpPr>
        <p:spPr>
          <a:xfrm>
            <a:off x="777240" y="3611880"/>
            <a:ext cx="30580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19 张原神实拍帧当画质真值；帧时在 refbench 上测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本地静态检查：红队 16/16 拦下，合规 48/48 放行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前序 sr_loop：神经网络超分 13 代自主进化，比 Bicubic +2.576 dB；端到端约 10 ms 太贵，转向算子直通</a:t>
            </a:r>
            <a:endParaRPr lang="en-US" sz="1400" dirty="0"/>
          </a:p>
        </p:txBody>
      </p:sp>
      <p:sp>
        <p:nvSpPr>
          <p:cNvPr id="11" name="l0-r"/>
          <p:cNvSpPr txBox="1"/>
          <p:nvPr/>
        </p:nvSpPr>
        <p:spPr>
          <a:xfrm>
            <a:off x="777240" y="57607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GOL #1 #2 #3 · sr_loop</a:t>
            </a:r>
            <a:endParaRPr lang="en-US" sz="1100" dirty="0"/>
          </a:p>
        </p:txBody>
      </p:sp>
      <p:sp>
        <p:nvSpPr>
          <p:cNvPr id="12" name="l1-h-bg"/>
          <p:cNvSpPr/>
          <p:nvPr/>
        </p:nvSpPr>
        <p:spPr>
          <a:xfrm>
            <a:off x="4338218" y="1234440"/>
            <a:ext cx="351525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l1-h"/>
          <p:cNvSpPr txBox="1"/>
          <p:nvPr/>
        </p:nvSpPr>
        <p:spPr>
          <a:xfrm>
            <a:off x="4566818" y="1234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② 画面流程改写</a:t>
            </a:r>
            <a:endParaRPr lang="en-US" sz="1800" dirty="0"/>
          </a:p>
        </p:txBody>
      </p:sp>
      <p:sp>
        <p:nvSpPr>
          <p:cNvPr id="14" name="l1-bg"/>
          <p:cNvSpPr/>
          <p:nvPr/>
        </p:nvSpPr>
        <p:spPr>
          <a:xfrm>
            <a:off x="4338218" y="1783080"/>
            <a:ext cx="3515258" cy="4389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l1-how"/>
          <p:cNvSpPr txBox="1"/>
          <p:nvPr/>
        </p:nvSpPr>
        <p:spPr>
          <a:xfrm>
            <a:off x="4566818" y="19202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不要源码：Vulkan 层挂进游戏改渲染流程（要 root）</a:t>
            </a:r>
            <a:endParaRPr lang="en-US" sz="1200" dirty="0"/>
          </a:p>
        </p:txBody>
      </p:sp>
      <p:sp>
        <p:nvSpPr>
          <p:cNvPr id="16" name="l1-big"/>
          <p:cNvSpPr txBox="1"/>
          <p:nvPr/>
        </p:nvSpPr>
        <p:spPr>
          <a:xfrm>
            <a:off x="4566818" y="25146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3–4 倍</a:t>
            </a:r>
            <a:endParaRPr lang="en-US" sz="3200" dirty="0"/>
          </a:p>
        </p:txBody>
      </p:sp>
      <p:sp>
        <p:nvSpPr>
          <p:cNvPr id="17" name="l1-bigl"/>
          <p:cNvSpPr txBox="1"/>
          <p:nvPr/>
        </p:nvSpPr>
        <p:spPr>
          <a:xfrm>
            <a:off x="4566818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画质更接近原生（vs 游戏自带放大）</a:t>
            </a:r>
            <a:endParaRPr lang="en-US" sz="1200" dirty="0"/>
          </a:p>
        </p:txBody>
      </p:sp>
      <p:sp>
        <p:nvSpPr>
          <p:cNvPr id="18" name="l1-done"/>
          <p:cNvSpPr txBox="1"/>
          <p:nvPr/>
        </p:nvSpPr>
        <p:spPr>
          <a:xfrm>
            <a:off x="4566818" y="3611880"/>
            <a:ext cx="30580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挂层进原神大世界，没被反作弊拦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1:1 拷贝探针：帧时差 &lt; 0.05 ms，画面逐位不变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超分算子替换游戏放大：5 对 A/B 无指标显著变差</a:t>
            </a:r>
            <a:endParaRPr lang="en-US" sz="1400" dirty="0"/>
          </a:p>
        </p:txBody>
      </p:sp>
      <p:sp>
        <p:nvSpPr>
          <p:cNvPr id="19" name="l1-r"/>
          <p:cNvSpPr txBox="1"/>
          <p:nvPr/>
        </p:nvSpPr>
        <p:spPr>
          <a:xfrm>
            <a:off x="4566818" y="57607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knobs #1 · PF #31 #47 #51 #64</a:t>
            </a:r>
            <a:endParaRPr lang="en-US" sz="1100" dirty="0"/>
          </a:p>
        </p:txBody>
      </p:sp>
      <p:sp>
        <p:nvSpPr>
          <p:cNvPr id="20" name="l2-h-bg"/>
          <p:cNvSpPr/>
          <p:nvPr/>
        </p:nvSpPr>
        <p:spPr>
          <a:xfrm>
            <a:off x="8127797" y="1234440"/>
            <a:ext cx="351525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l2-h"/>
          <p:cNvSpPr txBox="1"/>
          <p:nvPr/>
        </p:nvSpPr>
        <p:spPr>
          <a:xfrm>
            <a:off x="8356397" y="12344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③ 系统参数</a:t>
            </a:r>
            <a:endParaRPr lang="en-US" sz="1800" dirty="0"/>
          </a:p>
        </p:txBody>
      </p:sp>
      <p:sp>
        <p:nvSpPr>
          <p:cNvPr id="22" name="l2-bg"/>
          <p:cNvSpPr/>
          <p:nvPr/>
        </p:nvSpPr>
        <p:spPr>
          <a:xfrm>
            <a:off x="8127797" y="1783080"/>
            <a:ext cx="3515258" cy="4389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l2-how"/>
          <p:cNvSpPr txBox="1"/>
          <p:nvPr/>
        </p:nvSpPr>
        <p:spPr>
          <a:xfrm>
            <a:off x="8356397" y="19202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CPU/GPU/总线频率、刷新率等，root 写 sysfs</a:t>
            </a:r>
            <a:endParaRPr lang="en-US" sz="1200" dirty="0"/>
          </a:p>
        </p:txBody>
      </p:sp>
      <p:sp>
        <p:nvSpPr>
          <p:cNvPr id="24" name="l2-big"/>
          <p:cNvSpPr txBox="1"/>
          <p:nvPr/>
        </p:nvSpPr>
        <p:spPr>
          <a:xfrm>
            <a:off x="8356397" y="251460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11 项</a:t>
            </a:r>
            <a:endParaRPr lang="en-US" sz="3200" dirty="0"/>
          </a:p>
        </p:txBody>
      </p:sp>
      <p:sp>
        <p:nvSpPr>
          <p:cNvPr id="25" name="l2-bigl"/>
          <p:cNvSpPr txBox="1"/>
          <p:nvPr/>
        </p:nvSpPr>
        <p:spPr>
          <a:xfrm>
            <a:off x="8356397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「存在 + 可写 + 真生效」的白名单</a:t>
            </a:r>
            <a:endParaRPr lang="en-US" sz="1200" dirty="0"/>
          </a:p>
        </p:txBody>
      </p:sp>
      <p:sp>
        <p:nvSpPr>
          <p:cNvPr id="26" name="l2-done"/>
          <p:cNvSpPr txBox="1"/>
          <p:nvPr/>
        </p:nvSpPr>
        <p:spPr>
          <a:xfrm>
            <a:off x="8356397" y="3611880"/>
            <a:ext cx="30580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大模型挑参数 → A/B → 判定 → 还原，全自动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原神 60 帧两组候选都被淘汰，理由成立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温控保护节点永远不进白名单</a:t>
            </a:r>
            <a:endParaRPr lang="en-US" sz="1400" dirty="0"/>
          </a:p>
        </p:txBody>
      </p:sp>
      <p:sp>
        <p:nvSpPr>
          <p:cNvPr id="27" name="l2-r"/>
          <p:cNvSpPr txBox="1"/>
          <p:nvPr/>
        </p:nvSpPr>
        <p:spPr>
          <a:xfrm>
            <a:off x="8356397" y="57607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#17 #24 #52 #66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真机成果：超分算子换掉原神自带的放大</a:t>
            </a:r>
            <a:endParaRPr lang="en-US" sz="2800" dirty="0"/>
          </a:p>
        </p:txBody>
      </p:sp>
      <p:sp>
        <p:nvSpPr>
          <p:cNvPr id="4" name="u-head"/>
          <p:cNvSpPr txBox="1"/>
          <p:nvPr/>
        </p:nvSpPr>
        <p:spPr>
          <a:xfrm>
            <a:off x="548640" y="1234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原神大世界，5 对交替 A/B，测量期间停充</a:t>
            </a:r>
            <a:endParaRPr lang="en-US" sz="1700" dirty="0"/>
          </a:p>
        </p:txBody>
      </p:sp>
      <p:sp>
        <p:nvSpPr>
          <p:cNvPr id="5" name="u-cond"/>
          <p:cNvSpPr txBox="1"/>
          <p:nvPr/>
        </p:nvSpPr>
        <p:spPr>
          <a:xfrm>
            <a:off x="54864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渲染精度「低」（1134×514 渲染，2141×969 送显）；A = 游戏自带放大，B = 我们的 2×2 双线性算子</a:t>
            </a:r>
            <a:endParaRPr lang="en-US" sz="1200" dirty="0"/>
          </a:p>
        </p:txBody>
      </p:sp>
      <p:graphicFrame>
        <p:nvGraphicFramePr>
          <p:cNvPr id="6" name="u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554480"/>
                <a:gridCol w="10972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 游戏放大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 我们的算子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变化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p（变差）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帧时 p95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19.661 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19.624 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−0.19%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0.571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平均帧率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59.178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59.269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+0.15%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整机功耗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2.789 W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2.903 W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+4.07%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u-v-bg"/>
          <p:cNvSpPr/>
          <p:nvPr/>
        </p:nvSpPr>
        <p:spPr>
          <a:xfrm>
            <a:off x="548640" y="4297680"/>
            <a:ext cx="6949440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u-v"/>
          <p:cNvSpPr txBox="1"/>
          <p:nvPr/>
        </p:nvSpPr>
        <p:spPr>
          <a:xfrm>
            <a:off x="777240" y="4297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没有指标显著变差 → 按我们的判定规则「零成本通过」</a:t>
            </a:r>
            <a:endParaRPr lang="en-US" sz="1500" dirty="0"/>
          </a:p>
        </p:txBody>
      </p:sp>
      <p:sp>
        <p:nvSpPr>
          <p:cNvPr id="9" name="u-cav"/>
          <p:cNvSpPr txBox="1"/>
          <p:nvPr/>
        </p:nvSpPr>
        <p:spPr>
          <a:xfrm>
            <a:off x="548640" y="5120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2×2 双线性只是占位，下一步换更强的算子；「零成本」是没测出变差，不是证明了没变差（见第 8 页）</a:t>
            </a:r>
            <a:endParaRPr lang="en-US" sz="1200" dirty="0"/>
          </a:p>
        </p:txBody>
      </p:sp>
      <p:sp>
        <p:nvSpPr>
          <p:cNvPr id="10" name="q-bg"/>
          <p:cNvSpPr/>
          <p:nvPr/>
        </p:nvSpPr>
        <p:spPr>
          <a:xfrm>
            <a:off x="7863840" y="1234440"/>
            <a:ext cx="3779215" cy="4617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q-t"/>
          <p:cNvSpPr txBox="1"/>
          <p:nvPr/>
        </p:nvSpPr>
        <p:spPr>
          <a:xfrm>
            <a:off x="8138160" y="141732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画质</a:t>
            </a:r>
            <a:endParaRPr lang="en-US" sz="1600" dirty="0"/>
          </a:p>
        </p:txBody>
      </p:sp>
      <p:sp>
        <p:nvSpPr>
          <p:cNvPr id="12" name="q-big"/>
          <p:cNvSpPr txBox="1"/>
          <p:nvPr/>
        </p:nvSpPr>
        <p:spPr>
          <a:xfrm>
            <a:off x="8138160" y="192024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8.3–18.7</a:t>
            </a:r>
            <a:endParaRPr lang="en-US" sz="4000" dirty="0"/>
          </a:p>
        </p:txBody>
      </p:sp>
      <p:sp>
        <p:nvSpPr>
          <p:cNvPr id="13" name="q-l"/>
          <p:cNvSpPr txBox="1"/>
          <p:nvPr/>
        </p:nvSpPr>
        <p:spPr>
          <a:xfrm>
            <a:off x="8138160" y="278892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我们的算子和原生画面的逐像素差距</a:t>
            </a:r>
            <a:endParaRPr lang="en-US" sz="1300" dirty="0"/>
          </a:p>
        </p:txBody>
      </p:sp>
      <p:sp>
        <p:nvSpPr>
          <p:cNvPr id="14" name="q-cmp"/>
          <p:cNvSpPr txBox="1"/>
          <p:nvPr/>
        </p:nvSpPr>
        <p:spPr>
          <a:xfrm>
            <a:off x="8138160" y="338328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游戏自带放大：26.9–42.8</a:t>
            </a:r>
            <a:endParaRPr lang="en-US" sz="1800" dirty="0"/>
          </a:p>
        </p:txBody>
      </p:sp>
      <p:sp>
        <p:nvSpPr>
          <p:cNvPr id="15" name="q-c"/>
          <p:cNvSpPr txBox="1"/>
          <p:nvPr/>
        </p:nvSpPr>
        <p:spPr>
          <a:xfrm>
            <a:off x="8138160" y="397764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同位置、同视角、同一时辰（正午璃月港）</a:t>
            </a:r>
            <a:endParaRPr lang="en-US" sz="1200" dirty="0"/>
          </a:p>
        </p:txBody>
      </p:sp>
      <p:sp>
        <p:nvSpPr>
          <p:cNvPr id="16" name="q-note"/>
          <p:cNvSpPr txBox="1"/>
          <p:nvPr/>
        </p:nvSpPr>
        <p:spPr>
          <a:xfrm>
            <a:off x="8138160" y="484632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数值越小越接近原生；我们的算子比游戏自带放大接近 3–4 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真机成果：判定会说「不」</a:t>
            </a:r>
            <a:endParaRPr lang="en-US" sz="2800" dirty="0"/>
          </a:p>
        </p:txBody>
      </p:sp>
      <p:sp>
        <p:nvSpPr>
          <p:cNvPr id="4" name="sp-h"/>
          <p:cNvSpPr txBox="1"/>
          <p:nvPr/>
        </p:nvSpPr>
        <p:spPr>
          <a:xfrm>
            <a:off x="548640" y="1234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系统参数（原神 60 帧，大模型挑参数）</a:t>
            </a:r>
            <a:endParaRPr lang="en-US" sz="1700" dirty="0"/>
          </a:p>
        </p:txBody>
      </p:sp>
      <p:graphicFrame>
        <p:nvGraphicFramePr>
          <p:cNvPr id="7" name="s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候选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结果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判定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DDR + LLCC 提频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功耗 +16.5%（p = 0.0079）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淘汰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GPU 最低档 17→12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帧率 −0.571%（p = 0.0159）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淘汰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p-foot"/>
          <p:cNvSpPr txBox="1"/>
          <p:nvPr/>
        </p:nvSpPr>
        <p:spPr>
          <a:xfrm>
            <a:off x="548640" y="3291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基线 59.1–59.4 fps、帧时 p95 19.3–19.6 ms、4.76 W；温度上限 70 °C，实测峰值 63.7 °C</a:t>
            </a:r>
            <a:endParaRPr lang="en-US" sz="1200" dirty="0"/>
          </a:p>
        </p:txBody>
      </p:sp>
      <p:sp>
        <p:nvSpPr>
          <p:cNvPr id="7" name="lo-bg"/>
          <p:cNvSpPr/>
          <p:nvPr/>
        </p:nvSpPr>
        <p:spPr>
          <a:xfrm>
            <a:off x="548640" y="4069080"/>
            <a:ext cx="58521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lo-h"/>
          <p:cNvSpPr txBox="1"/>
          <p:nvPr/>
        </p:nvSpPr>
        <p:spPr>
          <a:xfrm>
            <a:off x="777240" y="4206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生效了但没收益，就撤回</a:t>
            </a:r>
            <a:endParaRPr lang="en-US" sz="1600" dirty="0"/>
          </a:p>
        </p:txBody>
      </p:sp>
      <p:sp>
        <p:nvSpPr>
          <p:cNvPr id="9" name="lo-b"/>
          <p:cNvSpPr txBox="1"/>
          <p:nvPr/>
        </p:nvSpPr>
        <p:spPr>
          <a:xfrm>
            <a:off x="77724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原神里 LoadOp 改写每轮命中 4.4–5.2 万次（确实改到了），帧时 p95 −0.51%，p = 0.325 → 判无效、自动撤回</a:t>
            </a:r>
            <a:endParaRPr lang="en-US" sz="1300" dirty="0"/>
          </a:p>
        </p:txBody>
      </p:sp>
      <p:sp>
        <p:nvSpPr>
          <p:cNvPr id="10" name="k-h"/>
          <p:cNvSpPr txBox="1"/>
          <p:nvPr/>
        </p:nvSpPr>
        <p:spPr>
          <a:xfrm>
            <a:off x="6766560" y="123444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已知答案的开关测得出来</a:t>
            </a:r>
            <a:endParaRPr lang="en-US" sz="1700" dirty="0"/>
          </a:p>
        </p:txBody>
      </p:sp>
      <p:sp>
        <p:nvSpPr>
          <p:cNvPr id="11" name="k0-bg"/>
          <p:cNvSpPr/>
          <p:nvPr/>
        </p:nvSpPr>
        <p:spPr>
          <a:xfrm>
            <a:off x="6766560" y="1783080"/>
            <a:ext cx="4876495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k0-big"/>
          <p:cNvSpPr txBox="1"/>
          <p:nvPr/>
        </p:nvSpPr>
        <p:spPr>
          <a:xfrm>
            <a:off x="7040880" y="1965960"/>
            <a:ext cx="4327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−58.6%</a:t>
            </a:r>
            <a:endParaRPr lang="en-US" sz="4000" dirty="0"/>
          </a:p>
        </p:txBody>
      </p:sp>
      <p:sp>
        <p:nvSpPr>
          <p:cNvPr id="13" name="k0-h"/>
          <p:cNvSpPr txBox="1"/>
          <p:nvPr/>
        </p:nvSpPr>
        <p:spPr>
          <a:xfrm>
            <a:off x="7040880" y="278892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Vulkan-Samples：去掉多余的读回</a:t>
            </a:r>
            <a:endParaRPr lang="en-US" sz="1500" dirty="0"/>
          </a:p>
        </p:txBody>
      </p:sp>
      <p:sp>
        <p:nvSpPr>
          <p:cNvPr id="14" name="k0-b"/>
          <p:cNvSpPr txBox="1"/>
          <p:nvPr/>
        </p:nvSpPr>
        <p:spPr>
          <a:xfrm>
            <a:off x="7040880" y="315468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内存带宽 2680 → 1110，p = 0.0159</a:t>
            </a:r>
            <a:endParaRPr lang="en-US" sz="1300" dirty="0"/>
          </a:p>
        </p:txBody>
      </p:sp>
      <p:sp>
        <p:nvSpPr>
          <p:cNvPr id="15" name="k1-bg"/>
          <p:cNvSpPr/>
          <p:nvPr/>
        </p:nvSpPr>
        <p:spPr>
          <a:xfrm>
            <a:off x="6766560" y="3886200"/>
            <a:ext cx="4876495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k1-big"/>
          <p:cNvSpPr txBox="1"/>
          <p:nvPr/>
        </p:nvSpPr>
        <p:spPr>
          <a:xfrm>
            <a:off x="7040880" y="4069080"/>
            <a:ext cx="4327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+155.6%</a:t>
            </a:r>
            <a:endParaRPr lang="en-US" sz="4000" dirty="0"/>
          </a:p>
        </p:txBody>
      </p:sp>
      <p:sp>
        <p:nvSpPr>
          <p:cNvPr id="17" name="k1-h"/>
          <p:cNvSpPr txBox="1"/>
          <p:nvPr/>
        </p:nvSpPr>
        <p:spPr>
          <a:xfrm>
            <a:off x="7040880" y="489204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Vulkan-Samples：拆开合并的步骤（反向）</a:t>
            </a:r>
            <a:endParaRPr lang="en-US" sz="1500" dirty="0"/>
          </a:p>
        </p:txBody>
      </p:sp>
      <p:sp>
        <p:nvSpPr>
          <p:cNvPr id="18" name="k1-b"/>
          <p:cNvSpPr txBox="1"/>
          <p:nvPr/>
        </p:nvSpPr>
        <p:spPr>
          <a:xfrm>
            <a:off x="7040880" y="525780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内存带宽 900 → 2300，p = 0.0079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闭环与统计判定：怎么保证结论可信</a:t>
            </a:r>
            <a:endParaRPr lang="en-US" sz="2800" dirty="0"/>
          </a:p>
        </p:txBody>
      </p:sp>
      <p:sp>
        <p:nvSpPr>
          <p:cNvPr id="4" name="lp-h"/>
          <p:cNvSpPr txBox="1"/>
          <p:nvPr/>
        </p:nvSpPr>
        <p:spPr>
          <a:xfrm>
            <a:off x="5486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最小可信闭环：五条判据（09-16，原神实测）</a:t>
            </a:r>
            <a:endParaRPr lang="en-US" sz="1700" dirty="0"/>
          </a:p>
        </p:txBody>
      </p:sp>
      <p:graphicFrame>
        <p:nvGraphicFramePr>
          <p:cNvPr id="8" name="l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判据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09-16 实测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 负载可重复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帧时 p95 离散度 1.63%（门槛 5%），无漂移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 归因成立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轮结论一致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 统计显著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精确置换检验 p = 0.0079，95% CI 不含 0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 不留痕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进出快照 38 行逐行相等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 可离线回放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 轮 trace + 报告重算逐字节一致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r-h-bg"/>
          <p:cNvSpPr/>
          <p:nvPr/>
        </p:nvSpPr>
        <p:spPr>
          <a:xfrm>
            <a:off x="7223760" y="1234440"/>
            <a:ext cx="4419295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r-h"/>
          <p:cNvSpPr txBox="1"/>
          <p:nvPr/>
        </p:nvSpPr>
        <p:spPr>
          <a:xfrm>
            <a:off x="7452360" y="1234440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现在的判定口径</a:t>
            </a:r>
            <a:endParaRPr lang="en-US" sz="1600" dirty="0"/>
          </a:p>
        </p:txBody>
      </p:sp>
      <p:sp>
        <p:nvSpPr>
          <p:cNvPr id="8" name="r-bg"/>
          <p:cNvSpPr/>
          <p:nvPr/>
        </p:nvSpPr>
        <p:spPr>
          <a:xfrm>
            <a:off x="7223760" y="1737360"/>
            <a:ext cx="4419295" cy="39502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r-b"/>
          <p:cNvSpPr txBox="1"/>
          <p:nvPr/>
        </p:nvSpPr>
        <p:spPr>
          <a:xfrm>
            <a:off x="7452360" y="1920240"/>
            <a:ext cx="39620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改前改后交替 5 对，精确置换检验全枚举 252 种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帧时、帧率、功耗都看，任一项显著变差就淘汰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测功耗时 root 停充，只认放电态；和华为 HiSmartPerf 对照差 2.3%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每轮先确认画面真在动；温度到上限就停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原神帧时 p95 轮间离散度 1.37%（refbench 0.45%）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不自欺：撤回和收紧的说法</a:t>
            </a:r>
            <a:endParaRPr lang="en-US" sz="2800" dirty="0"/>
          </a:p>
        </p:txBody>
      </p:sp>
      <p:sp>
        <p:nvSpPr>
          <p:cNvPr id="4" name="col0-h-bg"/>
          <p:cNvSpPr/>
          <p:nvPr/>
        </p:nvSpPr>
        <p:spPr>
          <a:xfrm>
            <a:off x="548640" y="1280160"/>
            <a:ext cx="536432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col0-h"/>
          <p:cNvSpPr txBox="1"/>
          <p:nvPr/>
        </p:nvSpPr>
        <p:spPr>
          <a:xfrm>
            <a:off x="777240" y="128016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我们自己撤回或加注的</a:t>
            </a:r>
            <a:endParaRPr lang="en-US" sz="1600" dirty="0"/>
          </a:p>
        </p:txBody>
      </p:sp>
      <p:sp>
        <p:nvSpPr>
          <p:cNvPr id="6" name="col0-bg"/>
          <p:cNvSpPr/>
          <p:nvPr/>
        </p:nvSpPr>
        <p:spPr>
          <a:xfrm>
            <a:off x="548640" y="1828800"/>
            <a:ext cx="536432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ol0-b"/>
          <p:cNvSpPr txBox="1"/>
          <p:nvPr/>
        </p:nvSpPr>
        <p:spPr>
          <a:xfrm>
            <a:off x="777240" y="2057400"/>
            <a:ext cx="49071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功耗「6.26 W → 5.94 W」撤回：当时插着 USB 充电，量到的是输入轨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DDR 下限结论（p95 −1.61%）作废：30 帧时代测的、没量功耗；60 帧重测是净亏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「原神被限帧 30」加注：7.1.0、游戏内 60 帧设置下实测就是 60</a:t>
            </a:r>
            <a:endParaRPr lang="en-US" sz="1400" dirty="0"/>
          </a:p>
        </p:txBody>
      </p:sp>
      <p:sp>
        <p:nvSpPr>
          <p:cNvPr id="8" name="col1-h-bg"/>
          <p:cNvSpPr/>
          <p:nvPr/>
        </p:nvSpPr>
        <p:spPr>
          <a:xfrm>
            <a:off x="6278728" y="1280160"/>
            <a:ext cx="5364328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col1-h"/>
          <p:cNvSpPr txBox="1"/>
          <p:nvPr/>
        </p:nvSpPr>
        <p:spPr>
          <a:xfrm>
            <a:off x="6507328" y="128016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要收紧的说法（anantheparty 在 .github #11 指出）</a:t>
            </a:r>
            <a:endParaRPr lang="en-US" sz="1600" dirty="0"/>
          </a:p>
        </p:txBody>
      </p:sp>
      <p:sp>
        <p:nvSpPr>
          <p:cNvPr id="10" name="col1-bg"/>
          <p:cNvSpPr/>
          <p:nvPr/>
        </p:nvSpPr>
        <p:spPr>
          <a:xfrm>
            <a:off x="6278728" y="1828800"/>
            <a:ext cx="536432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ol1-b"/>
          <p:cNvSpPr txBox="1"/>
          <p:nvPr/>
        </p:nvSpPr>
        <p:spPr>
          <a:xfrm>
            <a:off x="6507328" y="2057400"/>
            <a:ext cx="49071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「+3.3 dB / +0.22 ms」= refbench 帧时 + 19 张原神静态帧画质，不是原神里连续运行的结果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upop「零成本通过」是没测出变差；按预先冻结的非劣效界看属于证据不足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自动出算子和原神 upop 实测还不是同一个自动闭环</a:t>
            </a:r>
            <a:endParaRPr lang="en-US" sz="1400" dirty="0"/>
          </a:p>
        </p:txBody>
      </p:sp>
      <p:sp>
        <p:nvSpPr>
          <p:cNvPr id="12" name="bottom"/>
          <p:cNvSpPr txBox="1"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这几点都成立。对外案例按更严的口径（预冻结非劣效界 + 独立确认）重跑后再报——建议，待 owner 定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本月工程推进</a:t>
            </a:r>
            <a:endParaRPr lang="en-US" sz="2800" dirty="0"/>
          </a:p>
        </p:txBody>
      </p:sp>
      <p:sp>
        <p:nvSpPr>
          <p:cNvPr id="4" name="t0"/>
          <p:cNvSpPr/>
          <p:nvPr/>
        </p:nvSpPr>
        <p:spPr>
          <a:xfrm>
            <a:off x="548640" y="128016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0-c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0-c-n"/>
          <p:cNvSpPr txBox="1"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0-h"/>
          <p:cNvSpPr txBox="1"/>
          <p:nvPr/>
        </p:nvSpPr>
        <p:spPr>
          <a:xfrm>
            <a:off x="1325880" y="15087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判定内核搬进 Rust</a:t>
            </a:r>
            <a:endParaRPr lang="en-US" sz="1700" dirty="0"/>
          </a:p>
        </p:txBody>
      </p:sp>
      <p:sp>
        <p:nvSpPr>
          <p:cNvPr id="8" name="t0-b"/>
          <p:cNvSpPr txBox="1"/>
          <p:nvPr/>
        </p:nvSpPr>
        <p:spPr>
          <a:xfrm>
            <a:off x="777240" y="20848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解析、统计、判据、白名单、autoloop 编排、灰档编排都收进 Rust，输出逐字节不变；cargo test 516 项</a:t>
            </a:r>
            <a:endParaRPr lang="en-US" sz="1300" dirty="0"/>
          </a:p>
        </p:txBody>
      </p:sp>
      <p:sp>
        <p:nvSpPr>
          <p:cNvPr id="9" name="t0-r"/>
          <p:cNvSpPr txBox="1"/>
          <p:nvPr/>
        </p:nvSpPr>
        <p:spPr>
          <a:xfrm>
            <a:off x="777240" y="31546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#39 – #75</a:t>
            </a:r>
            <a:endParaRPr lang="en-US" sz="1100" dirty="0"/>
          </a:p>
        </p:txBody>
      </p:sp>
      <p:sp>
        <p:nvSpPr>
          <p:cNvPr id="10" name="t1"/>
          <p:cNvSpPr/>
          <p:nvPr/>
        </p:nvSpPr>
        <p:spPr>
          <a:xfrm>
            <a:off x="4338218" y="128016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1-c"/>
          <p:cNvSpPr/>
          <p:nvPr/>
        </p:nvSpPr>
        <p:spPr>
          <a:xfrm>
            <a:off x="4566818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1-c-n"/>
          <p:cNvSpPr txBox="1"/>
          <p:nvPr/>
        </p:nvSpPr>
        <p:spPr>
          <a:xfrm>
            <a:off x="456681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1-h"/>
          <p:cNvSpPr txBox="1"/>
          <p:nvPr/>
        </p:nvSpPr>
        <p:spPr>
          <a:xfrm>
            <a:off x="5115458" y="15087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评测统一入口</a:t>
            </a:r>
            <a:endParaRPr lang="en-US" sz="1700" dirty="0"/>
          </a:p>
        </p:txBody>
      </p:sp>
      <p:sp>
        <p:nvSpPr>
          <p:cNvPr id="14" name="t1-b"/>
          <p:cNvSpPr txBox="1"/>
          <p:nvPr/>
        </p:nvSpPr>
        <p:spPr>
          <a:xfrm>
            <a:off x="4566818" y="20848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phonefarm eval --request 一个口收请求，按改动类型路由；停充按契约执行，原神真机验证</a:t>
            </a:r>
            <a:endParaRPr lang="en-US" sz="1300" dirty="0"/>
          </a:p>
        </p:txBody>
      </p:sp>
      <p:sp>
        <p:nvSpPr>
          <p:cNvPr id="15" name="t1-r"/>
          <p:cNvSpPr txBox="1"/>
          <p:nvPr/>
        </p:nvSpPr>
        <p:spPr>
          <a:xfrm>
            <a:off x="4566818" y="31546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#61 #66 #69</a:t>
            </a:r>
            <a:endParaRPr lang="en-US" sz="1100" dirty="0"/>
          </a:p>
        </p:txBody>
      </p:sp>
      <p:sp>
        <p:nvSpPr>
          <p:cNvPr id="16" name="t2"/>
          <p:cNvSpPr/>
          <p:nvPr/>
        </p:nvSpPr>
        <p:spPr>
          <a:xfrm>
            <a:off x="8127797" y="128016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2-c"/>
          <p:cNvSpPr/>
          <p:nvPr/>
        </p:nvSpPr>
        <p:spPr>
          <a:xfrm>
            <a:off x="8356397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2-c-n"/>
          <p:cNvSpPr txBox="1"/>
          <p:nvPr/>
        </p:nvSpPr>
        <p:spPr>
          <a:xfrm>
            <a:off x="8356397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2-h"/>
          <p:cNvSpPr txBox="1"/>
          <p:nvPr/>
        </p:nvSpPr>
        <p:spPr>
          <a:xfrm>
            <a:off x="8905037" y="15087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optimize 与看板</a:t>
            </a:r>
            <a:endParaRPr lang="en-US" sz="1700" dirty="0"/>
          </a:p>
        </p:txBody>
      </p:sp>
      <p:sp>
        <p:nvSpPr>
          <p:cNvPr id="20" name="t2-b"/>
          <p:cNvSpPr txBox="1"/>
          <p:nvPr/>
        </p:nvSpPr>
        <p:spPr>
          <a:xfrm>
            <a:off x="8356397" y="20848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摸底 → 按能力开路 → 统一档案和总报告；本地只读看板四页（总览/轮次/图/手机）</a:t>
            </a:r>
            <a:endParaRPr lang="en-US" sz="1300" dirty="0"/>
          </a:p>
        </p:txBody>
      </p:sp>
      <p:sp>
        <p:nvSpPr>
          <p:cNvPr id="21" name="t2-r"/>
          <p:cNvSpPr txBox="1"/>
          <p:nvPr/>
        </p:nvSpPr>
        <p:spPr>
          <a:xfrm>
            <a:off x="8356397" y="31546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GOL #6 #8 #10 – #14</a:t>
            </a:r>
            <a:endParaRPr lang="en-US" sz="1100" dirty="0"/>
          </a:p>
        </p:txBody>
      </p:sp>
      <p:sp>
        <p:nvSpPr>
          <p:cNvPr id="22" name="t3"/>
          <p:cNvSpPr/>
          <p:nvPr/>
        </p:nvSpPr>
        <p:spPr>
          <a:xfrm>
            <a:off x="548640" y="384048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3-c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3-c-n"/>
          <p:cNvSpPr txBox="1"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3-h"/>
          <p:cNvSpPr txBox="1"/>
          <p:nvPr/>
        </p:nvSpPr>
        <p:spPr>
          <a:xfrm>
            <a:off x="1325880" y="406908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设备锁进代码（10-11）</a:t>
            </a:r>
            <a:endParaRPr lang="en-US" sz="1700" dirty="0"/>
          </a:p>
        </p:txBody>
      </p:sp>
      <p:sp>
        <p:nvSpPr>
          <p:cNvPr id="26" name="t3-b"/>
          <p:cNvSpPr txBox="1"/>
          <p:nvPr/>
        </p:nvSpPr>
        <p:spPr>
          <a:xfrm>
            <a:off x="777240" y="464515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碰设备的子命令自己拿锁、心跳、释放，不再靠手工包一层</a:t>
            </a:r>
            <a:endParaRPr lang="en-US" sz="1300" dirty="0"/>
          </a:p>
        </p:txBody>
      </p:sp>
      <p:sp>
        <p:nvSpPr>
          <p:cNvPr id="27" name="t3-r"/>
          <p:cNvSpPr txBox="1"/>
          <p:nvPr/>
        </p:nvSpPr>
        <p:spPr>
          <a:xfrm>
            <a:off x="777240" y="57150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#77</a:t>
            </a:r>
            <a:endParaRPr lang="en-US" sz="1100" dirty="0"/>
          </a:p>
        </p:txBody>
      </p:sp>
      <p:sp>
        <p:nvSpPr>
          <p:cNvPr id="28" name="t4"/>
          <p:cNvSpPr/>
          <p:nvPr/>
        </p:nvSpPr>
        <p:spPr>
          <a:xfrm>
            <a:off x="4338218" y="384048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4-c"/>
          <p:cNvSpPr/>
          <p:nvPr/>
        </p:nvSpPr>
        <p:spPr>
          <a:xfrm>
            <a:off x="4566818" y="406908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t4-c-n"/>
          <p:cNvSpPr txBox="1"/>
          <p:nvPr/>
        </p:nvSpPr>
        <p:spPr>
          <a:xfrm>
            <a:off x="4566818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4-h"/>
          <p:cNvSpPr txBox="1"/>
          <p:nvPr/>
        </p:nvSpPr>
        <p:spPr>
          <a:xfrm>
            <a:off x="5115458" y="406908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判定视图修复（10-11）</a:t>
            </a:r>
            <a:endParaRPr lang="en-US" sz="1700" dirty="0"/>
          </a:p>
        </p:txBody>
      </p:sp>
      <p:sp>
        <p:nvSpPr>
          <p:cNvPr id="32" name="t4-b"/>
          <p:cNvSpPr txBox="1"/>
          <p:nvPr/>
        </p:nvSpPr>
        <p:spPr>
          <a:xfrm>
            <a:off x="4566818" y="464515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功耗比较和温度上限在 Rust 路径上此前没生效，已修好</a:t>
            </a:r>
            <a:endParaRPr lang="en-US" sz="1300" dirty="0"/>
          </a:p>
        </p:txBody>
      </p:sp>
      <p:sp>
        <p:nvSpPr>
          <p:cNvPr id="33" name="t4-r"/>
          <p:cNvSpPr txBox="1"/>
          <p:nvPr/>
        </p:nvSpPr>
        <p:spPr>
          <a:xfrm>
            <a:off x="4566818" y="57150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#76</a:t>
            </a:r>
            <a:endParaRPr lang="en-US" sz="1100" dirty="0"/>
          </a:p>
        </p:txBody>
      </p:sp>
      <p:sp>
        <p:nvSpPr>
          <p:cNvPr id="34" name="t5"/>
          <p:cNvSpPr/>
          <p:nvPr/>
        </p:nvSpPr>
        <p:spPr>
          <a:xfrm>
            <a:off x="8127797" y="3840480"/>
            <a:ext cx="351525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t5-c"/>
          <p:cNvSpPr/>
          <p:nvPr/>
        </p:nvSpPr>
        <p:spPr>
          <a:xfrm>
            <a:off x="8356397" y="406908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t5-c-n"/>
          <p:cNvSpPr txBox="1"/>
          <p:nvPr/>
        </p:nvSpPr>
        <p:spPr>
          <a:xfrm>
            <a:off x="8356397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5-h"/>
          <p:cNvSpPr txBox="1"/>
          <p:nvPr/>
        </p:nvSpPr>
        <p:spPr>
          <a:xfrm>
            <a:off x="8905037" y="406908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截断（10-11）</a:t>
            </a:r>
            <a:endParaRPr lang="en-US" sz="1700" dirty="0"/>
          </a:p>
        </p:txBody>
      </p:sp>
      <p:sp>
        <p:nvSpPr>
          <p:cNvPr id="38" name="t5-b"/>
          <p:cNvSpPr txBox="1"/>
          <p:nvPr/>
        </p:nvSpPr>
        <p:spPr>
          <a:xfrm>
            <a:off x="8356397" y="464515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跑满也必然不保留的候选当场停，判定不变；离线回放 110 臂省 33 臂，真机待验</a:t>
            </a:r>
            <a:endParaRPr lang="en-US" sz="1300" dirty="0"/>
          </a:p>
        </p:txBody>
      </p:sp>
      <p:sp>
        <p:nvSpPr>
          <p:cNvPr id="39" name="t5-r"/>
          <p:cNvSpPr txBox="1"/>
          <p:nvPr/>
        </p:nvSpPr>
        <p:spPr>
          <a:xfrm>
            <a:off x="8356397" y="571500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PF #78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正在做（10-11）</a:t>
            </a:r>
            <a:endParaRPr lang="en-US" sz="2800" dirty="0"/>
          </a:p>
        </p:txBody>
      </p:sp>
      <p:sp>
        <p:nvSpPr>
          <p:cNvPr id="4" name="a0"/>
          <p:cNvSpPr/>
          <p:nvPr/>
        </p:nvSpPr>
        <p:spPr>
          <a:xfrm>
            <a:off x="548640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a0-n"/>
          <p:cNvSpPr txBox="1"/>
          <p:nvPr/>
        </p:nvSpPr>
        <p:spPr>
          <a:xfrm>
            <a:off x="731520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core</a:t>
            </a:r>
            <a:endParaRPr lang="en-US" sz="2000" dirty="0"/>
          </a:p>
        </p:txBody>
      </p:sp>
      <p:sp>
        <p:nvSpPr>
          <p:cNvPr id="6" name="a0-t"/>
          <p:cNvSpPr txBox="1"/>
          <p:nvPr/>
        </p:nvSpPr>
        <p:spPr>
          <a:xfrm>
            <a:off x="731520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体检 + 设备锁 + 整链路</a:t>
            </a:r>
            <a:endParaRPr lang="en-US" sz="1300" dirty="0"/>
          </a:p>
        </p:txBody>
      </p:sp>
      <p:sp>
        <p:nvSpPr>
          <p:cNvPr id="7" name="a0-s"/>
          <p:cNvSpPr txBox="1"/>
          <p:nvPr/>
        </p:nvSpPr>
        <p:spPr>
          <a:xfrm>
            <a:off x="731520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设备锁已合并（PF #77）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428189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a1-n"/>
          <p:cNvSpPr txBox="1"/>
          <p:nvPr/>
        </p:nvSpPr>
        <p:spPr>
          <a:xfrm>
            <a:off x="2611069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judge</a:t>
            </a:r>
            <a:endParaRPr lang="en-US" sz="2000" dirty="0"/>
          </a:p>
        </p:txBody>
      </p:sp>
      <p:sp>
        <p:nvSpPr>
          <p:cNvPr id="10" name="a1-t"/>
          <p:cNvSpPr txBox="1"/>
          <p:nvPr/>
        </p:nvSpPr>
        <p:spPr>
          <a:xfrm>
            <a:off x="2611069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已知答案自测、噪声底</a:t>
            </a:r>
            <a:endParaRPr lang="en-US" sz="1300" dirty="0"/>
          </a:p>
        </p:txBody>
      </p:sp>
      <p:sp>
        <p:nvSpPr>
          <p:cNvPr id="11" name="a1-s"/>
          <p:cNvSpPr txBox="1"/>
          <p:nvPr/>
        </p:nvSpPr>
        <p:spPr>
          <a:xfrm>
            <a:off x="2611069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已知答案负载算子已合并（refbench #4），自测进行中</a:t>
            </a:r>
            <a:endParaRPr lang="en-US" sz="1200" dirty="0"/>
          </a:p>
        </p:txBody>
      </p:sp>
      <p:sp>
        <p:nvSpPr>
          <p:cNvPr id="12" name="a2"/>
          <p:cNvSpPr/>
          <p:nvPr/>
        </p:nvSpPr>
        <p:spPr>
          <a:xfrm>
            <a:off x="4307738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a2-n"/>
          <p:cNvSpPr txBox="1"/>
          <p:nvPr/>
        </p:nvSpPr>
        <p:spPr>
          <a:xfrm>
            <a:off x="4490618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speed</a:t>
            </a:r>
            <a:endParaRPr lang="en-US" sz="2000" dirty="0"/>
          </a:p>
        </p:txBody>
      </p:sp>
      <p:sp>
        <p:nvSpPr>
          <p:cNvPr id="14" name="a2-t"/>
          <p:cNvSpPr txBox="1"/>
          <p:nvPr/>
        </p:nvSpPr>
        <p:spPr>
          <a:xfrm>
            <a:off x="4490618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一代 &lt; 1 小时</a:t>
            </a:r>
            <a:endParaRPr lang="en-US" sz="1300" dirty="0"/>
          </a:p>
        </p:txBody>
      </p:sp>
      <p:sp>
        <p:nvSpPr>
          <p:cNvPr id="15" name="a2-s"/>
          <p:cNvSpPr txBox="1"/>
          <p:nvPr/>
        </p:nvSpPr>
        <p:spPr>
          <a:xfrm>
            <a:off x="4490618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判定视图修复（#76）、截断（#78）已合并</a:t>
            </a:r>
            <a:endParaRPr lang="en-US" sz="1200" dirty="0"/>
          </a:p>
        </p:txBody>
      </p:sp>
      <p:sp>
        <p:nvSpPr>
          <p:cNvPr id="16" name="a3"/>
          <p:cNvSpPr/>
          <p:nvPr/>
        </p:nvSpPr>
        <p:spPr>
          <a:xfrm>
            <a:off x="6187288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a3-n"/>
          <p:cNvSpPr txBox="1"/>
          <p:nvPr/>
        </p:nvSpPr>
        <p:spPr>
          <a:xfrm>
            <a:off x="6370168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onboard</a:t>
            </a:r>
            <a:endParaRPr lang="en-US" sz="2000" dirty="0"/>
          </a:p>
        </p:txBody>
      </p:sp>
      <p:sp>
        <p:nvSpPr>
          <p:cNvPr id="18" name="a3-t"/>
          <p:cNvSpPr txBox="1"/>
          <p:nvPr/>
        </p:nvSpPr>
        <p:spPr>
          <a:xfrm>
            <a:off x="6370168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零人工接入新游戏</a:t>
            </a:r>
            <a:endParaRPr lang="en-US" sz="1300" dirty="0"/>
          </a:p>
        </p:txBody>
      </p:sp>
      <p:sp>
        <p:nvSpPr>
          <p:cNvPr id="19" name="a3-s"/>
          <p:cNvSpPr txBox="1"/>
          <p:nvPr/>
        </p:nvSpPr>
        <p:spPr>
          <a:xfrm>
            <a:off x="6370168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游戏档案接进请求，进行中</a:t>
            </a:r>
            <a:endParaRPr lang="en-US" sz="1200" dirty="0"/>
          </a:p>
        </p:txBody>
      </p:sp>
      <p:sp>
        <p:nvSpPr>
          <p:cNvPr id="20" name="a4"/>
          <p:cNvSpPr/>
          <p:nvPr/>
        </p:nvSpPr>
        <p:spPr>
          <a:xfrm>
            <a:off x="8066837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a4-n"/>
          <p:cNvSpPr txBox="1"/>
          <p:nvPr/>
        </p:nvSpPr>
        <p:spPr>
          <a:xfrm>
            <a:off x="8249717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open</a:t>
            </a:r>
            <a:endParaRPr lang="en-US" sz="2000" dirty="0"/>
          </a:p>
        </p:txBody>
      </p:sp>
      <p:sp>
        <p:nvSpPr>
          <p:cNvPr id="22" name="a4-t"/>
          <p:cNvSpPr txBox="1"/>
          <p:nvPr/>
        </p:nvSpPr>
        <p:spPr>
          <a:xfrm>
            <a:off x="8249717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可插拔出方案者</a:t>
            </a:r>
            <a:endParaRPr lang="en-US" sz="1300" dirty="0"/>
          </a:p>
        </p:txBody>
      </p:sp>
      <p:sp>
        <p:nvSpPr>
          <p:cNvPr id="23" name="a4-s"/>
          <p:cNvSpPr txBox="1"/>
          <p:nvPr/>
        </p:nvSpPr>
        <p:spPr>
          <a:xfrm>
            <a:off x="8249717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出方案接口 proposer@1（GOL #39）、设备接口抽象（PF #79）已合并</a:t>
            </a:r>
            <a:endParaRPr lang="en-US" sz="1200" dirty="0"/>
          </a:p>
        </p:txBody>
      </p:sp>
      <p:sp>
        <p:nvSpPr>
          <p:cNvPr id="24" name="a5"/>
          <p:cNvSpPr/>
          <p:nvPr/>
        </p:nvSpPr>
        <p:spPr>
          <a:xfrm>
            <a:off x="9946386" y="1234440"/>
            <a:ext cx="1696669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5-n"/>
          <p:cNvSpPr txBox="1"/>
          <p:nvPr/>
        </p:nvSpPr>
        <p:spPr>
          <a:xfrm>
            <a:off x="10129266" y="14173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cloud</a:t>
            </a:r>
            <a:endParaRPr lang="en-US" sz="2000" dirty="0"/>
          </a:p>
        </p:txBody>
      </p:sp>
      <p:sp>
        <p:nvSpPr>
          <p:cNvPr id="26" name="a5-t"/>
          <p:cNvSpPr txBox="1"/>
          <p:nvPr/>
        </p:nvSpPr>
        <p:spPr>
          <a:xfrm>
            <a:off x="10129266" y="192024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出方案上云</a:t>
            </a:r>
            <a:endParaRPr lang="en-US" sz="1300" dirty="0"/>
          </a:p>
        </p:txBody>
      </p:sp>
      <p:sp>
        <p:nvSpPr>
          <p:cNvPr id="27" name="a5-s"/>
          <p:cNvSpPr txBox="1"/>
          <p:nvPr/>
        </p:nvSpPr>
        <p:spPr>
          <a:xfrm>
            <a:off x="10129266" y="2834640"/>
            <a:ext cx="133090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把 phonefarm 开成远端可调的服务，进行中</a:t>
            </a:r>
            <a:endParaRPr lang="en-US" sz="1200" dirty="0"/>
          </a:p>
        </p:txBody>
      </p:sp>
      <p:sp>
        <p:nvSpPr>
          <p:cNvPr id="28" name="inc-bg"/>
          <p:cNvSpPr/>
          <p:nvPr/>
        </p:nvSpPr>
        <p:spPr>
          <a:xfrm>
            <a:off x="548640" y="4526280"/>
            <a:ext cx="11094415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inc-h"/>
          <p:cNvSpPr txBox="1"/>
          <p:nvPr/>
        </p:nvSpPr>
        <p:spPr>
          <a:xfrm>
            <a:off x="777240" y="452628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10-11 插曲</a:t>
            </a:r>
            <a:endParaRPr lang="en-US" sz="1500" dirty="0"/>
          </a:p>
        </p:txBody>
      </p:sp>
      <p:sp>
        <p:nvSpPr>
          <p:cNvPr id="30" name="inc"/>
          <p:cNvSpPr txBox="1"/>
          <p:nvPr/>
        </p:nvSpPr>
        <p:spPr>
          <a:xfrm>
            <a:off x="2194560" y="4526280"/>
            <a:ext cx="92198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09:03 Mac mini 断电，换机从断点恢复：工作区原样拷回，phonefarm 同步改为每 30 分钟一次，手机现插在另一台 Mac mini、经隧道使用。顺带发现：中断的测试把 GPU 最高档锁在 17（已恢复）；几个 agent 共用编译目录、测试结果不可信，已改为各用各的并重跑。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下一步</a:t>
            </a:r>
            <a:endParaRPr lang="en-US" sz="2800" dirty="0"/>
          </a:p>
        </p:txBody>
      </p:sp>
      <p:sp>
        <p:nvSpPr>
          <p:cNvPr id="4" name="n0"/>
          <p:cNvSpPr/>
          <p:nvPr/>
        </p:nvSpPr>
        <p:spPr>
          <a:xfrm>
            <a:off x="548640" y="1280160"/>
            <a:ext cx="541004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n0-c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0-c-n"/>
          <p:cNvSpPr txBox="1"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n0-h"/>
          <p:cNvSpPr txBox="1"/>
          <p:nvPr/>
        </p:nvSpPr>
        <p:spPr>
          <a:xfrm>
            <a:off x="1463040" y="1554480"/>
            <a:ext cx="303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新游戏一小时出报告</a:t>
            </a:r>
            <a:endParaRPr lang="en-US" sz="1900" dirty="0"/>
          </a:p>
        </p:txBody>
      </p:sp>
      <p:sp>
        <p:nvSpPr>
          <p:cNvPr id="8" name="n0-st-bg"/>
          <p:cNvSpPr/>
          <p:nvPr/>
        </p:nvSpPr>
        <p:spPr>
          <a:xfrm>
            <a:off x="4632808" y="160020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n0-st"/>
          <p:cNvSpPr txBox="1"/>
          <p:nvPr/>
        </p:nvSpPr>
        <p:spPr>
          <a:xfrm>
            <a:off x="4632808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10" name="n0-b"/>
          <p:cNvSpPr txBox="1"/>
          <p:nvPr/>
        </p:nvSpPr>
        <p:spPr>
          <a:xfrm>
            <a:off x="822960" y="219456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onboard 零人工接入 + speed 提速；09-24 时 1 台手机跑一代约 3.5 小时，截断已省约三成测量臂</a:t>
            </a:r>
            <a:endParaRPr lang="en-US" sz="1400" dirty="0"/>
          </a:p>
        </p:txBody>
      </p:sp>
      <p:sp>
        <p:nvSpPr>
          <p:cNvPr id="11" name="n1"/>
          <p:cNvSpPr/>
          <p:nvPr/>
        </p:nvSpPr>
        <p:spPr>
          <a:xfrm>
            <a:off x="6233008" y="1280160"/>
            <a:ext cx="541004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n1-c"/>
          <p:cNvSpPr/>
          <p:nvPr/>
        </p:nvSpPr>
        <p:spPr>
          <a:xfrm>
            <a:off x="6507328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1-c-n"/>
          <p:cNvSpPr txBox="1"/>
          <p:nvPr/>
        </p:nvSpPr>
        <p:spPr>
          <a:xfrm>
            <a:off x="6507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n1-h"/>
          <p:cNvSpPr txBox="1"/>
          <p:nvPr/>
        </p:nvSpPr>
        <p:spPr>
          <a:xfrm>
            <a:off x="7147408" y="1554480"/>
            <a:ext cx="303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看板 / 案例网页</a:t>
            </a:r>
            <a:endParaRPr lang="en-US" sz="1900" dirty="0"/>
          </a:p>
        </p:txBody>
      </p:sp>
      <p:sp>
        <p:nvSpPr>
          <p:cNvPr id="15" name="n1-st-bg"/>
          <p:cNvSpPr/>
          <p:nvPr/>
        </p:nvSpPr>
        <p:spPr>
          <a:xfrm>
            <a:off x="10317175" y="160020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n1-st"/>
          <p:cNvSpPr txBox="1"/>
          <p:nvPr/>
        </p:nvSpPr>
        <p:spPr>
          <a:xfrm>
            <a:off x="10317175" y="1600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17" name="n1-b"/>
          <p:cNvSpPr txBox="1"/>
          <p:nvPr/>
        </p:nvSpPr>
        <p:spPr>
          <a:xfrm>
            <a:off x="6507328" y="219456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把本地看板做成内网可访问的案例页：原始数据、条件、留下和淘汰的都能看（0924 待办②）</a:t>
            </a:r>
            <a:endParaRPr lang="en-US" sz="1400" dirty="0"/>
          </a:p>
        </p:txBody>
      </p:sp>
      <p:sp>
        <p:nvSpPr>
          <p:cNvPr id="18" name="n2"/>
          <p:cNvSpPr/>
          <p:nvPr/>
        </p:nvSpPr>
        <p:spPr>
          <a:xfrm>
            <a:off x="548640" y="3794760"/>
            <a:ext cx="541004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n2-c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2-c-n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n2-h"/>
          <p:cNvSpPr txBox="1"/>
          <p:nvPr/>
        </p:nvSpPr>
        <p:spPr>
          <a:xfrm>
            <a:off x="1463040" y="4069080"/>
            <a:ext cx="303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出方案上云，判定留本地</a:t>
            </a:r>
            <a:endParaRPr lang="en-US" sz="1900" dirty="0"/>
          </a:p>
        </p:txBody>
      </p:sp>
      <p:sp>
        <p:nvSpPr>
          <p:cNvPr id="22" name="n2-st-bg"/>
          <p:cNvSpPr/>
          <p:nvPr/>
        </p:nvSpPr>
        <p:spPr>
          <a:xfrm>
            <a:off x="4632808" y="411480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n2-st"/>
          <p:cNvSpPr txBox="1"/>
          <p:nvPr/>
        </p:nvSpPr>
        <p:spPr>
          <a:xfrm>
            <a:off x="4632808" y="4114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4" name="n2-b"/>
          <p:cNvSpPr txBox="1"/>
          <p:nvPr/>
        </p:nvSpPr>
        <p:spPr>
          <a:xfrm>
            <a:off x="822960" y="470916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大模型出方案放到云端，可换国产模型；统计判定和还原留在真机一侧守门，出方案的一方改不了判定</a:t>
            </a:r>
            <a:endParaRPr lang="en-US" sz="1400" dirty="0"/>
          </a:p>
        </p:txBody>
      </p:sp>
      <p:sp>
        <p:nvSpPr>
          <p:cNvPr id="25" name="n3"/>
          <p:cNvSpPr/>
          <p:nvPr/>
        </p:nvSpPr>
        <p:spPr>
          <a:xfrm>
            <a:off x="6233008" y="3794760"/>
            <a:ext cx="541004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n3-c"/>
          <p:cNvSpPr/>
          <p:nvPr/>
        </p:nvSpPr>
        <p:spPr>
          <a:xfrm>
            <a:off x="6507328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n3-c-n"/>
          <p:cNvSpPr txBox="1"/>
          <p:nvPr/>
        </p:nvSpPr>
        <p:spPr>
          <a:xfrm>
            <a:off x="650732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n3-h"/>
          <p:cNvSpPr txBox="1"/>
          <p:nvPr/>
        </p:nvSpPr>
        <p:spPr>
          <a:xfrm>
            <a:off x="7147408" y="4069080"/>
            <a:ext cx="303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原神「完全体」案例</a:t>
            </a:r>
            <a:endParaRPr lang="en-US" sz="1900" dirty="0"/>
          </a:p>
        </p:txBody>
      </p:sp>
      <p:sp>
        <p:nvSpPr>
          <p:cNvPr id="29" name="n3-st-bg"/>
          <p:cNvSpPr/>
          <p:nvPr/>
        </p:nvSpPr>
        <p:spPr>
          <a:xfrm>
            <a:off x="10317175" y="411480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n3-st"/>
          <p:cNvSpPr txBox="1"/>
          <p:nvPr/>
        </p:nvSpPr>
        <p:spPr>
          <a:xfrm>
            <a:off x="10317175" y="4114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31" name="n3-b"/>
          <p:cNvSpPr txBox="1"/>
          <p:nvPr/>
        </p:nvSpPr>
        <p:spPr>
          <a:xfrm>
            <a:off x="6507328" y="470916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大模型出方案 + 三层 + ≥ 3 代，按预冻结非劣效 + 独立确认的口径重测，作为 1–2 个对外案例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同事那边：anantheparty 的草稿 PR 与两次会议</a:t>
            </a:r>
            <a:endParaRPr lang="en-US" sz="2800" dirty="0"/>
          </a:p>
        </p:txBody>
      </p:sp>
      <p:sp>
        <p:nvSpPr>
          <p:cNvPr id="4" name="cs0"/>
          <p:cNvSpPr/>
          <p:nvPr/>
        </p:nvSpPr>
        <p:spPr>
          <a:xfrm>
            <a:off x="548640" y="1234440"/>
            <a:ext cx="146304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s0-big"/>
          <p:cNvSpPr txBox="1"/>
          <p:nvPr/>
        </p:nvSpPr>
        <p:spPr>
          <a:xfrm>
            <a:off x="68580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26</a:t>
            </a:r>
            <a:endParaRPr lang="en-US" sz="2800" dirty="0"/>
          </a:p>
        </p:txBody>
      </p:sp>
      <p:sp>
        <p:nvSpPr>
          <p:cNvPr id="6" name="cs0-l"/>
          <p:cNvSpPr txBox="1"/>
          <p:nvPr/>
        </p:nvSpPr>
        <p:spPr>
          <a:xfrm>
            <a:off x="68580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个草稿 PR</a:t>
            </a:r>
            <a:endParaRPr lang="en-US" sz="1200" dirty="0"/>
          </a:p>
        </p:txBody>
      </p:sp>
      <p:sp>
        <p:nvSpPr>
          <p:cNvPr id="7" name="cs1"/>
          <p:cNvSpPr/>
          <p:nvPr/>
        </p:nvSpPr>
        <p:spPr>
          <a:xfrm>
            <a:off x="2194560" y="1234440"/>
            <a:ext cx="146304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s1-big"/>
          <p:cNvSpPr txBox="1"/>
          <p:nvPr/>
        </p:nvSpPr>
        <p:spPr>
          <a:xfrm>
            <a:off x="233172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</a:t>
            </a:r>
            <a:endParaRPr lang="en-US" sz="2800" dirty="0"/>
          </a:p>
        </p:txBody>
      </p:sp>
      <p:sp>
        <p:nvSpPr>
          <p:cNvPr id="9" name="cs1-l"/>
          <p:cNvSpPr txBox="1"/>
          <p:nvPr/>
        </p:nvSpPr>
        <p:spPr>
          <a:xfrm>
            <a:off x="233172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个已合并</a:t>
            </a:r>
            <a:endParaRPr lang="en-US" sz="1200" dirty="0"/>
          </a:p>
        </p:txBody>
      </p:sp>
      <p:sp>
        <p:nvSpPr>
          <p:cNvPr id="10" name="cs2"/>
          <p:cNvSpPr/>
          <p:nvPr/>
        </p:nvSpPr>
        <p:spPr>
          <a:xfrm>
            <a:off x="3840480" y="1234440"/>
            <a:ext cx="146304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s2-big"/>
          <p:cNvSpPr txBox="1"/>
          <p:nvPr/>
        </p:nvSpPr>
        <p:spPr>
          <a:xfrm>
            <a:off x="397764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cs2-l"/>
          <p:cNvSpPr txBox="1"/>
          <p:nvPr/>
        </p:nvSpPr>
        <p:spPr>
          <a:xfrm>
            <a:off x="397764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次真机操作</a:t>
            </a:r>
            <a:endParaRPr lang="en-US" sz="1200" dirty="0"/>
          </a:p>
        </p:txBody>
      </p:sp>
      <p:sp>
        <p:nvSpPr>
          <p:cNvPr id="13" name="cs3"/>
          <p:cNvSpPr/>
          <p:nvPr/>
        </p:nvSpPr>
        <p:spPr>
          <a:xfrm>
            <a:off x="5486400" y="1234440"/>
            <a:ext cx="146304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s3-big"/>
          <p:cNvSpPr txBox="1"/>
          <p:nvPr/>
        </p:nvSpPr>
        <p:spPr>
          <a:xfrm>
            <a:off x="562356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cs3-l"/>
          <p:cNvSpPr txBox="1"/>
          <p:nvPr/>
        </p:nvSpPr>
        <p:spPr>
          <a:xfrm>
            <a:off x="562356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 issue</a:t>
            </a:r>
            <a:endParaRPr lang="en-US" sz="1200" dirty="0"/>
          </a:p>
        </p:txBody>
      </p:sp>
      <p:graphicFrame>
        <p:nvGraphicFramePr>
          <p:cNvPr id="13" name="the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模型/算子工件流水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#30 #31 #34 #35 · PF #20 #21 #23 #24 #26 · refbench #2 #3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独立确认与非劣效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#29 #37 #38 · PF #22 #25 #27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实验资格与证据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#18 · GOL #27 #32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专家筛选 / 连续画质 / 租约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#28 · PF #17 · PF #19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交接文档与只读展示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docs #5 · GOL #26 #33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7" name="foot"/>
          <p:cNvSpPr txBox="1"/>
          <p:nvPr/>
        </p:nvSpPr>
        <p:spPr>
          <a:xfrm>
            <a:off x="548640" y="5532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草稿都在等一加 Ace5 到位后做真机验收；对方 issue #11 写明离线代码与 draft PR 不代表真机验收完成</a:t>
            </a:r>
            <a:endParaRPr lang="en-US" sz="1150" dirty="0"/>
          </a:p>
        </p:txBody>
      </p:sp>
      <p:sp>
        <p:nvSpPr>
          <p:cNvPr id="18" name="m-bg"/>
          <p:cNvSpPr/>
          <p:nvPr/>
        </p:nvSpPr>
        <p:spPr>
          <a:xfrm>
            <a:off x="7315200" y="1234440"/>
            <a:ext cx="4327855" cy="4937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m-h"/>
          <p:cNvSpPr txBox="1"/>
          <p:nvPr/>
        </p:nvSpPr>
        <p:spPr>
          <a:xfrm>
            <a:off x="7543800" y="137160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会议诉求（纪要 YanPENG-2026）</a:t>
            </a:r>
            <a:endParaRPr lang="en-US" sz="1500" dirty="0"/>
          </a:p>
        </p:txBody>
      </p:sp>
      <p:sp>
        <p:nvSpPr>
          <p:cNvPr id="20" name="m-b"/>
          <p:cNvSpPr txBox="1"/>
          <p:nvPr/>
        </p:nvSpPr>
        <p:spPr>
          <a:xfrm>
            <a:off x="7543800" y="1920240"/>
            <a:ext cx="3870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0917：聚焦已 root 安卓、黑盒游戏；低/高分辨率真实配对数据是难点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0924：连续帧色调/鬼影检测；国产模型；训练-量化-部署自动化；专家每代筛方向；设备池不足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0924 待办②（BH3GEI）：1–2 个自动跑出的案例 + 数据截图，最好是内网网页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需要协调的事</a:t>
            </a:r>
            <a:endParaRPr lang="en-US" sz="2800" dirty="0"/>
          </a:p>
        </p:txBody>
      </p:sp>
      <p:sp>
        <p:nvSpPr>
          <p:cNvPr id="4" name="k0-bg"/>
          <p:cNvSpPr/>
          <p:nvPr/>
        </p:nvSpPr>
        <p:spPr>
          <a:xfrm>
            <a:off x="548640" y="1325880"/>
            <a:ext cx="1109441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k0"/>
          <p:cNvSpPr/>
          <p:nvPr/>
        </p:nvSpPr>
        <p:spPr>
          <a:xfrm>
            <a:off x="777240" y="158191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k0-n"/>
          <p:cNvSpPr txBox="1"/>
          <p:nvPr/>
        </p:nvSpPr>
        <p:spPr>
          <a:xfrm>
            <a:off x="7772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k0-h"/>
          <p:cNvSpPr txBox="1"/>
          <p:nvPr/>
        </p:nvSpPr>
        <p:spPr>
          <a:xfrm>
            <a:off x="1508760" y="1325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分工</a:t>
            </a:r>
            <a:endParaRPr lang="en-US" sz="1800" dirty="0"/>
          </a:p>
        </p:txBody>
      </p:sp>
      <p:sp>
        <p:nvSpPr>
          <p:cNvPr id="8" name="k0-b"/>
          <p:cNvSpPr txBox="1"/>
          <p:nvPr/>
        </p:nvSpPr>
        <p:spPr>
          <a:xfrm>
            <a:off x="3291840" y="132588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实验资格、设备租约、独立确认两边都在做（我们 core ↔ PF #18 #19，judge ↔ GOL #29）。请 owner 定谁主谁辅</a:t>
            </a:r>
            <a:endParaRPr lang="en-US" sz="1400" dirty="0"/>
          </a:p>
        </p:txBody>
      </p:sp>
      <p:sp>
        <p:nvSpPr>
          <p:cNvPr id="9" name="k1-bg"/>
          <p:cNvSpPr/>
          <p:nvPr/>
        </p:nvSpPr>
        <p:spPr>
          <a:xfrm>
            <a:off x="548640" y="2514600"/>
            <a:ext cx="11094415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k1"/>
          <p:cNvSpPr/>
          <p:nvPr/>
        </p:nvSpPr>
        <p:spPr>
          <a:xfrm>
            <a:off x="777240" y="277063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k1-n"/>
          <p:cNvSpPr txBox="1"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k1-h"/>
          <p:cNvSpPr txBox="1"/>
          <p:nvPr/>
        </p:nvSpPr>
        <p:spPr>
          <a:xfrm>
            <a:off x="150876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提交路径</a:t>
            </a:r>
            <a:endParaRPr lang="en-US" sz="1800" dirty="0"/>
          </a:p>
        </p:txBody>
      </p:sp>
      <p:sp>
        <p:nvSpPr>
          <p:cNvPr id="13" name="k1-b"/>
          <p:cNvSpPr txBox="1"/>
          <p:nvPr/>
        </p:nvSpPr>
        <p:spPr>
          <a:xfrm>
            <a:off x="3291840" y="251460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我们走 BH3GEI/phonefarm 再同步；anantheparty 直接提到 HGamey/phonefarm，合并时要变基。建议约定唯一上游</a:t>
            </a:r>
            <a:endParaRPr lang="en-US" sz="1400" dirty="0"/>
          </a:p>
        </p:txBody>
      </p:sp>
      <p:sp>
        <p:nvSpPr>
          <p:cNvPr id="14" name="k2-bg"/>
          <p:cNvSpPr/>
          <p:nvPr/>
        </p:nvSpPr>
        <p:spPr>
          <a:xfrm>
            <a:off x="548640" y="3703320"/>
            <a:ext cx="1109441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k2"/>
          <p:cNvSpPr/>
          <p:nvPr/>
        </p:nvSpPr>
        <p:spPr>
          <a:xfrm>
            <a:off x="777240" y="39593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k2-n"/>
          <p:cNvSpPr txBox="1"/>
          <p:nvPr/>
        </p:nvSpPr>
        <p:spPr>
          <a:xfrm>
            <a:off x="7772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k2-h"/>
          <p:cNvSpPr txBox="1"/>
          <p:nvPr/>
        </p:nvSpPr>
        <p:spPr>
          <a:xfrm>
            <a:off x="1508760" y="37033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对外口径</a:t>
            </a:r>
            <a:endParaRPr lang="en-US" sz="1800" dirty="0"/>
          </a:p>
        </p:txBody>
      </p:sp>
      <p:sp>
        <p:nvSpPr>
          <p:cNvPr id="18" name="k2-b"/>
          <p:cNvSpPr txBox="1"/>
          <p:nvPr/>
        </p:nvSpPr>
        <p:spPr>
          <a:xfrm>
            <a:off x="3291840" y="370332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「0.2 ms 换 3.3 dB」和 upop「零成本通过」：建议统一按预冻结非劣效 + 独立确认来说</a:t>
            </a:r>
            <a:endParaRPr lang="en-US" sz="1400" dirty="0"/>
          </a:p>
        </p:txBody>
      </p:sp>
      <p:sp>
        <p:nvSpPr>
          <p:cNvPr id="19" name="k3-bg"/>
          <p:cNvSpPr/>
          <p:nvPr/>
        </p:nvSpPr>
        <p:spPr>
          <a:xfrm>
            <a:off x="548640" y="4892040"/>
            <a:ext cx="11094415" cy="10058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k3"/>
          <p:cNvSpPr/>
          <p:nvPr/>
        </p:nvSpPr>
        <p:spPr>
          <a:xfrm>
            <a:off x="777240" y="514807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k3-n"/>
          <p:cNvSpPr txBox="1"/>
          <p:nvPr/>
        </p:nvSpPr>
        <p:spPr>
          <a:xfrm>
            <a:off x="7772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k3-h"/>
          <p:cNvSpPr txBox="1"/>
          <p:nvPr/>
        </p:nvSpPr>
        <p:spPr>
          <a:xfrm>
            <a:off x="1508760" y="4892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设备</a:t>
            </a:r>
            <a:endParaRPr lang="en-US" sz="1800" dirty="0"/>
          </a:p>
        </p:txBody>
      </p:sp>
      <p:sp>
        <p:nvSpPr>
          <p:cNvPr id="23" name="k3-b"/>
          <p:cNvSpPr txBox="1"/>
          <p:nvPr/>
        </p:nvSpPr>
        <p:spPr>
          <a:xfrm>
            <a:off x="3291840" y="489204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0924 待办①（节后三天到位）进展待确认；同事在等一加 Ace5；我们只有 1 台 NX809J，agent 要排队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附录：我们合并的 PR（09-11 → 今天）</a:t>
            </a:r>
            <a:endParaRPr lang="en-US" sz="2800" dirty="0"/>
          </a:p>
        </p:txBody>
      </p:sp>
      <p:graphicFrame>
        <p:nvGraphicFramePr>
          <p:cNvPr id="15" name="ou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1005840"/>
                <a:gridCol w="670529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仓库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合并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其中文档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编号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BH3GEI/phonefarm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#12–#34, #36–#79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HGamey/game_opt_loop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#1–#24, #39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HGamey/.github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#2–#9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HGamey/docs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#1–#4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HGamey/refbench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#1, #4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HGamey/sr_loop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HGamey/knobs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#1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um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合计 108 个（其中文档 42 个）；HGamey/phonefarm 上另有 16 个镜像同步 PR 不计。按合并日期：09-14 1 个、09-21 1 个、09-23 100 个、10-11 6 个（太平洋时间；09-25 至 10-10 国庆无合并）。数据截至 2026-10-11 13:34 PDT。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amey Monthly">
  <a:themeElements>
    <a:clrScheme name="HGamey Monthly">
      <a:dk1>
        <a:srgbClr val="0F2744"/>
      </a:dk1>
      <a:lt1>
        <a:srgbClr val="FFFFFF"/>
      </a:lt1>
      <a:dk2>
        <a:srgbClr val="5C6470"/>
      </a:dk2>
      <a:lt2>
        <a:srgbClr val="EEF2F7"/>
      </a:lt2>
      <a:accent1>
        <a:srgbClr val="1F4E79"/>
      </a:accent1>
      <a:accent2>
        <a:srgbClr val="0A806F"/>
      </a:accent2>
      <a:accent3>
        <a:srgbClr val="C2602E"/>
      </a:accent3>
      <a:accent4>
        <a:srgbClr val="B23A3A"/>
      </a:accent4>
      <a:accent5>
        <a:srgbClr val="D8DCE2"/>
      </a:accent5>
      <a:accent6>
        <a:srgbClr val="8A94A6"/>
      </a:accent6>
      <a:hlink>
        <a:srgbClr val="1F4E79"/>
      </a:hlink>
      <a:folHlink>
        <a:srgbClr val="5C6470"/>
      </a:folHlink>
    </a:clrScheme>
    <a:fontScheme name="HGamey Monthly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HGamey 近一个月进展</dc:title>
  <dc:subject>PptxGenJS Presentation</dc:subject>
  <dc:creator>BH3GEI</dc:creator>
  <cp:lastModifiedBy>BH3GEI</cp:lastModifiedBy>
  <cp:revision>1</cp:revision>
  <dcterms:created xsi:type="dcterms:W3CDTF">2026-10-11T20:35:49Z</dcterms:created>
  <dcterms:modified xsi:type="dcterms:W3CDTF">2026-10-11T20:35:49Z</dcterms:modified>
</cp:coreProperties>
</file>